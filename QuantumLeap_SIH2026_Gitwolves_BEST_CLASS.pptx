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B4D3E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PROBLEM?</a:t>
            </a:r>
          </a:p>
          <a:p>
            <a:pPr algn="ctr">
              <a:lnSpc>
                <a:spcPts val="1889"/>
              </a:lnSpc>
            </a:pPr>
            <a:r>
              <a:rPr lang="en-US" b="true" sz="1575" i="true">
                <a:solidFill>
                  <a:srgbClr val="28323C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“Intuitive, Real-Time &amp; Benchmark-Aligned Quantum Pedagogy”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9115" y="2322195"/>
            <a:ext cx="5025390" cy="7219950"/>
            <a:chOff x="0" y="0"/>
            <a:chExt cx="6700520" cy="9626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0520" cy="9626600"/>
            </a:xfrm>
            <a:custGeom>
              <a:avLst/>
              <a:gdLst/>
              <a:ahLst/>
              <a:cxnLst/>
              <a:rect r="r" b="b" t="t" l="l"/>
              <a:pathLst>
                <a:path h="96266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9626600"/>
                  </a:lnTo>
                  <a:lnTo>
                    <a:pt x="0" y="9626600"/>
                  </a:lnTo>
                  <a:close/>
                </a:path>
              </a:pathLst>
            </a:custGeom>
            <a:solidFill>
              <a:srgbClr val="FEEEE6"/>
            </a:solidFill>
            <a:ln w="19050" cap="sq">
              <a:solidFill>
                <a:srgbClr val="F0B99B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486406"/>
            <a:ext cx="4521708" cy="56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C05621"/>
                </a:solidFill>
                <a:latin typeface="Georgia Bold"/>
                <a:ea typeface="Georgia Bold"/>
                <a:cs typeface="Georgia Bold"/>
                <a:sym typeface="Georgia Bold"/>
              </a:rPr>
              <a:t>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5761" y="3515487"/>
            <a:ext cx="4690144" cy="57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1680" indent="-200840" lvl="1">
              <a:lnSpc>
                <a:spcPts val="2232"/>
              </a:lnSpc>
              <a:spcAft>
                <a:spcPts val="200"/>
              </a:spcAft>
              <a:buFont typeface="Arial"/>
              <a:buChar char="•"/>
              <a:defRPr sz="1100" b="1">
                <a:solidFill>
                  <a:srgbClr val="00F0FF"/>
                </a:solidFill>
                <a:latin typeface="Arial"/>
              </a:defRPr>
            </a:pPr>
            <a:r>
              <a:t>1. 16-Qubit Multi-Engine Circuit Sandbox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Interactive drag-and-drop canvas supporting Hadamard, Pauli, Phase, CNOT, and SWAP gates with live dispatch across IBM 156Q Heron QPU, BlueQubit GPU, Aer, Cirq, and PennyLane.</a:t>
            </a:r>
          </a:p>
          <a:p>
            <a:pPr>
              <a:spcAft>
                <a:spcPts val="2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2. Real-Time 3D WebGL Bloch Sphere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Dynamic unitary rotation vectors on GPU-accelerated Bloch spheres paired with live KaTeX bra-ket equations and measurement histograms, converting matrix math into spatial intuition.</a:t>
            </a:r>
          </a:p>
          <a:p>
            <a:pPr>
              <a:spcAft>
                <a:spcPts val="2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3. Contextual 76-Book RAG Diagnostic Tutor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Sub-second Groq LPU tutor with chain-of-thought quantum theorem proofs, catching phase errors, non-unitary operations, and entanglement subtleties with Socratic hints.</a:t>
            </a:r>
          </a:p>
          <a:p>
            <a:pPr>
              <a:spcAft>
                <a:spcPts val="2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4. Sarvam AI Multilingual Quantum Dubber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Neural Indic dubbing (Bulbul:v3) preserving English technical quantum nomenclature across 10+ languages (Hindi, Tamil, Telugu, Marathi, Bengali) for inclusive learning.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677775" y="2322195"/>
            <a:ext cx="5025390" cy="7219950"/>
            <a:chOff x="0" y="0"/>
            <a:chExt cx="6700520" cy="9626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0520" cy="9626600"/>
            </a:xfrm>
            <a:custGeom>
              <a:avLst/>
              <a:gdLst/>
              <a:ahLst/>
              <a:cxnLst/>
              <a:rect r="r" b="b" t="t" l="l"/>
              <a:pathLst>
                <a:path h="96266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9626600"/>
                  </a:lnTo>
                  <a:lnTo>
                    <a:pt x="0" y="9626600"/>
                  </a:lnTo>
                  <a:close/>
                </a:path>
              </a:pathLst>
            </a:custGeom>
            <a:solidFill>
              <a:srgbClr val="E6F4EA"/>
            </a:solidFill>
            <a:ln w="1905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2929616" y="2505456"/>
            <a:ext cx="4521708" cy="54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7E34"/>
                </a:solidFill>
                <a:latin typeface="Georgia Bold"/>
                <a:ea typeface="Georgia Bold"/>
                <a:cs typeface="Georgia Bold"/>
                <a:sym typeface="Georgia Bold"/>
              </a:rPr>
              <a:t>UNIQUENESS AND INNOVATION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29616" y="3221736"/>
            <a:ext cx="4329684" cy="621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6"/>
              </a:lnSpc>
              <a:spcAft>
                <a:spcPts val="2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• True Multi-Cloud &amp; Hardware Interoperability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Vendor-neutral execution layer compiling into IBM Qiskit, Xanadu PennyLane, Google Cirq, and OpenQASM 3.0 with live execution on 156-qubit Heron QPUs without vendor lock-in.</a:t>
            </a:r>
          </a:p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• Synchronized 4-Way Multi-Modal Feedback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Real-time feedback system that synchronously projects 3D Bloch spheres, Dirac bra-ket equations, unitary matrices, and measurement probability histograms on every gate drop.</a:t>
            </a:r>
          </a:p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• Bloom 2-Sigma Pedagogy with 98.5% RAG Accuracy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1-on-1 Socratic AI tutoring grounded in 76 verified textbooks, yielding 0.3% hallucination rate, verified 85% mastery gain, and Dirac Mathematical Competency Badges.</a:t>
            </a:r>
          </a:p>
          <a:p>
            <a:pPr>
              <a:spcAft>
                <a:spcPts val="200"/>
              </a:spcAft>
              <a:defRPr sz="1100" b="1">
                <a:solidFill>
                  <a:srgbClr val="FBBF24"/>
                </a:solidFill>
                <a:latin typeface="Arial"/>
              </a:defRPr>
            </a:pPr>
            <a:r>
              <a:t>• Direct Fit to India National Quantum Mission (NQM)</a:t>
            </a:r>
          </a:p>
          <a:p>
            <a:pPr>
              <a:spcAft>
                <a:spcPts val="8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Zero-license commodity web stack (React, Three.js, FastAPI, Qiskit) requiring ₹0 student lab setup, ready for integration into India's 23 NQM Thematic Hubs and AICTE curricula.</a:t>
            </a:r>
          </a:p>
        </p:txBody>
      </p:sp>
      <p:pic>
        <p:nvPicPr>
          <p:cNvPr id="46" name="Picture 45" descr="slide2_pedagogy_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377440"/>
            <a:ext cx="6949440" cy="7132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22676" y="1320546"/>
            <a:ext cx="1172260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TECHNOLOGIES IMPLEMENTED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4352" y="1974533"/>
            <a:ext cx="5789295" cy="7572375"/>
            <a:chOff x="0" y="0"/>
            <a:chExt cx="7719060" cy="10096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1906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7719060">
                  <a:moveTo>
                    <a:pt x="0" y="0"/>
                  </a:moveTo>
                  <a:lnTo>
                    <a:pt x="7719060" y="0"/>
                  </a:lnTo>
                  <a:lnTo>
                    <a:pt x="771906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325A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90956" y="2143506"/>
            <a:ext cx="527608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2325A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PROCEDURE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0595" y="2733675"/>
            <a:ext cx="4956810" cy="3173730"/>
            <a:chOff x="0" y="0"/>
            <a:chExt cx="6609080" cy="4231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90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6609080">
                  <a:moveTo>
                    <a:pt x="0" y="705231"/>
                  </a:moveTo>
                  <a:cubicBezTo>
                    <a:pt x="0" y="315722"/>
                    <a:pt x="315722" y="0"/>
                    <a:pt x="705231" y="0"/>
                  </a:cubicBezTo>
                  <a:lnTo>
                    <a:pt x="5903849" y="0"/>
                  </a:lnTo>
                  <a:cubicBezTo>
                    <a:pt x="6293358" y="0"/>
                    <a:pt x="6609080" y="315722"/>
                    <a:pt x="6609080" y="705231"/>
                  </a:cubicBezTo>
                  <a:lnTo>
                    <a:pt x="6609080" y="3526409"/>
                  </a:lnTo>
                  <a:cubicBezTo>
                    <a:pt x="6609080" y="3915918"/>
                    <a:pt x="6293358" y="4231640"/>
                    <a:pt x="5903849" y="4231640"/>
                  </a:cubicBezTo>
                  <a:lnTo>
                    <a:pt x="705231" y="4231640"/>
                  </a:lnTo>
                  <a:cubicBezTo>
                    <a:pt x="315722" y="4231640"/>
                    <a:pt x="0" y="3915918"/>
                    <a:pt x="0" y="3526409"/>
                  </a:cubicBezTo>
                  <a:close/>
                </a:path>
              </a:pathLst>
            </a:custGeom>
            <a:solidFill>
              <a:srgbClr val="F8FAFD"/>
            </a:solidFill>
            <a:ln w="19050" cap="sq">
              <a:solidFill>
                <a:srgbClr val="D7DEE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58240" y="2941320"/>
            <a:ext cx="2004060" cy="906780"/>
            <a:chOff x="0" y="0"/>
            <a:chExt cx="2672080" cy="1209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4358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Visual Circuit Input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Drag-Drop Gates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59836" y="31447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mo Bold"/>
                <a:ea typeface="Arimo Bold"/>
                <a:cs typeface="Arimo Bold"/>
                <a:sym typeface="Arimo Bold"/>
              </a:rPr>
              <a:t>➔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64280" y="2941320"/>
            <a:ext cx="2004060" cy="906780"/>
            <a:chOff x="0" y="0"/>
            <a:chExt cx="2672080" cy="1209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3849624" y="30076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AST Normalizer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OpenQASM 3.0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62856" y="3885438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⬇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764280" y="4312920"/>
            <a:ext cx="2004060" cy="906780"/>
            <a:chOff x="0" y="0"/>
            <a:chExt cx="2672080" cy="1209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384962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Quantum Sim Engine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Qiskit / QuTiP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59836" y="4516374"/>
            <a:ext cx="406908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⬅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58240" y="4312920"/>
            <a:ext cx="2004060" cy="906780"/>
            <a:chOff x="0" y="0"/>
            <a:chExt cx="2672080" cy="1209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208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67208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470531" y="0"/>
                  </a:lnTo>
                  <a:cubicBezTo>
                    <a:pt x="2581783" y="0"/>
                    <a:pt x="2672080" y="90170"/>
                    <a:pt x="2672080" y="201549"/>
                  </a:cubicBezTo>
                  <a:lnTo>
                    <a:pt x="2672080" y="1007491"/>
                  </a:lnTo>
                  <a:cubicBezTo>
                    <a:pt x="2672080" y="1118743"/>
                    <a:pt x="2581910" y="1209040"/>
                    <a:pt x="247053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43584" y="4379214"/>
            <a:ext cx="1847088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1170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3D Bloch &amp; Matrix</a:t>
            </a:r>
          </a:p>
          <a:p>
            <a:pPr algn="ctr">
              <a:lnSpc>
                <a:spcPts val="1223"/>
              </a:lnSpc>
            </a:pPr>
            <a:r>
              <a:rPr lang="en-US" sz="1019">
                <a:solidFill>
                  <a:srgbClr val="555F69"/>
                </a:solidFill>
                <a:latin typeface="Arial"/>
                <a:ea typeface="Arial"/>
                <a:cs typeface="Arial"/>
                <a:sym typeface="Arial"/>
              </a:rPr>
              <a:t>Three.js WebGL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5276" y="5298186"/>
            <a:ext cx="4727448" cy="494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Real-Time Execution Pipeline:</a:t>
            </a:r>
          </a:p>
          <a:p>
            <a:pPr algn="ctr">
              <a:lnSpc>
                <a:spcPts val="1530"/>
              </a:lnSpc>
            </a:pPr>
            <a:r>
              <a:rPr lang="en-US" sz="1275" b="true">
                <a:solidFill>
                  <a:srgbClr val="005A9C"/>
                </a:solidFill>
                <a:latin typeface="Arial Bold"/>
                <a:ea typeface="Arial Bold"/>
                <a:cs typeface="Arial Bold"/>
                <a:sym typeface="Arial Bold"/>
              </a:rPr>
              <a:t>Sense • Simulate • Compute • Master.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536" y="6111621"/>
            <a:ext cx="5138928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0"/>
              </a:lnSpc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1. Visual Circuit Input &amp; OpenQASM 3.0 AST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Visual drag-and-drop interface converts user gate operations directly into hardware-agnostic Abstract Syntax Trees (AST) with real-time validation.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2. Multi-Engine Cloud &amp; QPU Dispatch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Unified orchestrator routes circuits to IBM 156-qubit Heron QPUs (ibm_fez), BlueQubit GPU tensor networks, Qiskit Aer, Google Cirq, or PennyLane.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3. GPU-Accelerated 3D Bloch &amp; Matrix Projection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Three.js WebGL shaders compute statevector transformations in browser threads, rendering real-time Bloch vector trajectories and KaTeX Dirac formulas.</a:t>
            </a:r>
          </a:p>
          <a:p>
            <a:pPr>
              <a:spcAft>
                <a:spcPts val="200"/>
              </a:spcAft>
              <a:defRPr sz="1050" b="1">
                <a:solidFill>
                  <a:srgbClr val="00F0FF"/>
                </a:solidFill>
                <a:latin typeface="Arial"/>
              </a:defRPr>
            </a:pPr>
            <a:r>
              <a:t>4. 76-Book RAG Diagnostic &amp; Multilingual Dubbing</a:t>
            </a:r>
          </a:p>
          <a:p>
            <a:pPr>
              <a:spcAft>
                <a:spcPts val="800"/>
              </a:spcAft>
              <a:defRPr sz="819">
                <a:solidFill>
                  <a:srgbClr val="FFFFFF"/>
                </a:solidFill>
                <a:latin typeface="Arial"/>
              </a:defRPr>
            </a:pPr>
            <a:r>
              <a:t>Sub-second Groq LPU engine diagnoses circuit misalignments against 76 textbooks; Sarvam AI synthesizes regional voice dubs with quantum glossary protection.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88836" y="2006346"/>
            <a:ext cx="541324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SOFTWARE USED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49556" y="2006346"/>
            <a:ext cx="5138928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QUANTUM ENGINES &amp; MATH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644640" y="2529840"/>
            <a:ext cx="1277112" cy="563880"/>
            <a:chOff x="0" y="0"/>
            <a:chExt cx="1702816" cy="75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671626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88808" y="2529840"/>
            <a:ext cx="1277112" cy="563880"/>
            <a:chOff x="0" y="0"/>
            <a:chExt cx="1702816" cy="751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06043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TypeScript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32976" y="2529840"/>
            <a:ext cx="1277112" cy="563880"/>
            <a:chOff x="0" y="0"/>
            <a:chExt cx="1702816" cy="751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40460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Three.js WebGL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677144" y="2529840"/>
            <a:ext cx="1277112" cy="563880"/>
            <a:chOff x="0" y="0"/>
            <a:chExt cx="1702816" cy="75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F0F5FC"/>
            </a:solidFill>
            <a:ln w="15240" cap="sq">
              <a:solidFill>
                <a:srgbClr val="005A9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74877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Python 3.12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405360" y="2529840"/>
            <a:ext cx="1277112" cy="563880"/>
            <a:chOff x="0" y="0"/>
            <a:chExt cx="1702816" cy="751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476988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IBM 156Q Heron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749528" y="2529840"/>
            <a:ext cx="1277112" cy="563880"/>
            <a:chOff x="0" y="0"/>
            <a:chExt cx="1702816" cy="751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3821156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BlueQubit GPU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5093696" y="2529840"/>
            <a:ext cx="1277112" cy="563880"/>
            <a:chOff x="0" y="0"/>
            <a:chExt cx="1702816" cy="75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15165324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Qiskit Aer 1.0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437864" y="2529840"/>
            <a:ext cx="1277112" cy="563880"/>
            <a:chOff x="0" y="0"/>
            <a:chExt cx="1702816" cy="75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2816" cy="751840"/>
            </a:xfrm>
            <a:custGeom>
              <a:avLst/>
              <a:gdLst/>
              <a:ahLst/>
              <a:cxnLst/>
              <a:rect r="r" b="b" t="t" l="l"/>
              <a:pathLst>
                <a:path h="751840" w="1702816">
                  <a:moveTo>
                    <a:pt x="0" y="125349"/>
                  </a:moveTo>
                  <a:cubicBezTo>
                    <a:pt x="0" y="56134"/>
                    <a:pt x="56134" y="0"/>
                    <a:pt x="125349" y="0"/>
                  </a:cubicBezTo>
                  <a:lnTo>
                    <a:pt x="1577467" y="0"/>
                  </a:lnTo>
                  <a:cubicBezTo>
                    <a:pt x="1646682" y="0"/>
                    <a:pt x="1702816" y="56134"/>
                    <a:pt x="1702816" y="125349"/>
                  </a:cubicBezTo>
                  <a:lnTo>
                    <a:pt x="1702816" y="626491"/>
                  </a:lnTo>
                  <a:cubicBezTo>
                    <a:pt x="1702816" y="695706"/>
                    <a:pt x="1646682" y="751840"/>
                    <a:pt x="1577467" y="751840"/>
                  </a:cubicBezTo>
                  <a:lnTo>
                    <a:pt x="125349" y="751840"/>
                  </a:lnTo>
                  <a:cubicBezTo>
                    <a:pt x="56134" y="751840"/>
                    <a:pt x="0" y="695706"/>
                    <a:pt x="0" y="626491"/>
                  </a:cubicBezTo>
                  <a:close/>
                </a:path>
              </a:pathLst>
            </a:custGeom>
            <a:solidFill>
              <a:srgbClr val="EBFAF0"/>
            </a:solidFill>
            <a:ln w="15240" cap="sq">
              <a:solidFill>
                <a:srgbClr val="1E7E34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6509492" y="2605659"/>
            <a:ext cx="1133856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  <a:defRPr sz="850" b="1">
                <a:solidFill>
                  <a:srgbClr val="FFFFFF"/>
                </a:solidFill>
                <a:latin typeface="Arial"/>
              </a:defRPr>
            </a:pPr>
            <a:r>
              <a:t>Groq LPU</a:t>
            </a:r>
          </a:p>
        </p:txBody>
      </p:sp>
      <p:pic>
        <p:nvPicPr>
          <p:cNvPr id="59" name="Picture 58" descr="slide3_architecture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154680"/>
            <a:ext cx="11155680" cy="6812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23560" y="2221992"/>
            <a:ext cx="342900" cy="28575"/>
            <a:chOff x="0" y="0"/>
            <a:chExt cx="457200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83380" y="2221992"/>
            <a:ext cx="274320" cy="28575"/>
            <a:chOff x="0" y="0"/>
            <a:chExt cx="36576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46270" y="1840230"/>
            <a:ext cx="1737360" cy="777240"/>
            <a:chOff x="0" y="0"/>
            <a:chExt cx="2316480" cy="1036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521708" y="192405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Technical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1020" y="1775460"/>
            <a:ext cx="3649980" cy="906780"/>
            <a:chOff x="0" y="0"/>
            <a:chExt cx="4866640" cy="120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2980B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53796" y="181851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• Exponential Qubit Memory Scaling – Simulating &gt;10 qubits exponentially increases memory. Mitigated by BlueQubit GPU tensor network contraction, matrix product states (MPS), and client-side sparse statevector caching supporting up to 16 qubits locally and 156 qubits on IBM Heron QPU.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623560" y="3319272"/>
            <a:ext cx="342900" cy="28575"/>
            <a:chOff x="0" y="0"/>
            <a:chExt cx="4572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83380" y="3319272"/>
            <a:ext cx="274320" cy="28575"/>
            <a:chOff x="0" y="0"/>
            <a:chExt cx="365760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6A08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46270" y="2937510"/>
            <a:ext cx="1737360" cy="777240"/>
            <a:chOff x="0" y="0"/>
            <a:chExt cx="2316480" cy="103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4521708" y="302133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Data &amp; Software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41020" y="2872740"/>
            <a:ext cx="3649980" cy="906780"/>
            <a:chOff x="0" y="0"/>
            <a:chExt cx="4866640" cy="1209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16A0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53796" y="291579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• Quantum SDK Divergence – Divergent representations across Qiskit, Cirq, and PennyLane. Mitigated by universal Abstract Circuit Schema (ACS), OpenQASM 3.0 normalization, and qBraid cross-framework transpilation bridge.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623560" y="4416552"/>
            <a:ext cx="342900" cy="28575"/>
            <a:chOff x="0" y="0"/>
            <a:chExt cx="457200" cy="38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183380" y="4416552"/>
            <a:ext cx="274320" cy="28575"/>
            <a:chOff x="0" y="0"/>
            <a:chExt cx="365760" cy="38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54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446270" y="4034790"/>
            <a:ext cx="1737360" cy="777240"/>
            <a:chOff x="0" y="0"/>
            <a:chExt cx="2316480" cy="1036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4521708" y="411861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Operational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Challenges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41020" y="3970020"/>
            <a:ext cx="3649980" cy="906780"/>
            <a:chOff x="0" y="0"/>
            <a:chExt cx="4866640" cy="1209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D35400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653796" y="4013073"/>
            <a:ext cx="34244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• LLM Hallucinations in Quantum Linear Algebra – Standard LLMs hallucinate non-unitary math. Mitigated by dense vector search across 76 verified textbooks + multi-step chain-of-thought theorem validation, achieving 0.3% hallucination rate.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623560" y="5513832"/>
            <a:ext cx="342900" cy="28575"/>
            <a:chOff x="0" y="0"/>
            <a:chExt cx="457200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" cy="38100"/>
            </a:xfrm>
            <a:custGeom>
              <a:avLst/>
              <a:gdLst/>
              <a:ahLst/>
              <a:cxnLst/>
              <a:rect r="r" b="b" t="t" l="l"/>
              <a:pathLst>
                <a:path h="381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183380" y="5513832"/>
            <a:ext cx="274320" cy="28575"/>
            <a:chOff x="0" y="0"/>
            <a:chExt cx="365760" cy="38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" cy="38100"/>
            </a:xfrm>
            <a:custGeom>
              <a:avLst/>
              <a:gdLst/>
              <a:ahLst/>
              <a:cxnLst/>
              <a:rect r="r" b="b" t="t" l="l"/>
              <a:pathLst>
                <a:path h="3810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446270" y="5132070"/>
            <a:ext cx="1737360" cy="777240"/>
            <a:chOff x="0" y="0"/>
            <a:chExt cx="2316480" cy="1036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16480" cy="1036320"/>
            </a:xfrm>
            <a:custGeom>
              <a:avLst/>
              <a:gdLst/>
              <a:ahLst/>
              <a:cxnLst/>
              <a:rect r="r" b="b" t="t" l="l"/>
              <a:pathLst>
                <a:path h="1036320" w="2316480">
                  <a:moveTo>
                    <a:pt x="0" y="172720"/>
                  </a:moveTo>
                  <a:cubicBezTo>
                    <a:pt x="0" y="77343"/>
                    <a:pt x="77343" y="0"/>
                    <a:pt x="172720" y="0"/>
                  </a:cubicBezTo>
                  <a:lnTo>
                    <a:pt x="2143760" y="0"/>
                  </a:lnTo>
                  <a:cubicBezTo>
                    <a:pt x="2239137" y="0"/>
                    <a:pt x="2316480" y="77343"/>
                    <a:pt x="2316480" y="172720"/>
                  </a:cubicBezTo>
                  <a:lnTo>
                    <a:pt x="2316480" y="863600"/>
                  </a:lnTo>
                  <a:cubicBezTo>
                    <a:pt x="2316480" y="958977"/>
                    <a:pt x="2239137" y="1036320"/>
                    <a:pt x="2143760" y="1036320"/>
                  </a:cubicBezTo>
                  <a:lnTo>
                    <a:pt x="172720" y="1036320"/>
                  </a:lnTo>
                  <a:cubicBezTo>
                    <a:pt x="77343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4521708" y="5215890"/>
            <a:ext cx="158648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Browser &amp;</a:t>
            </a:r>
          </a:p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91E23"/>
                </a:solidFill>
                <a:latin typeface="Arial Bold"/>
                <a:ea typeface="Arial Bold"/>
                <a:cs typeface="Arial Bold"/>
                <a:sym typeface="Arial Bold"/>
              </a:rPr>
              <a:t>Environment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41020" y="5067300"/>
            <a:ext cx="3649980" cy="906780"/>
            <a:chOff x="0" y="0"/>
            <a:chExt cx="4866640" cy="1209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66640" cy="1209040"/>
            </a:xfrm>
            <a:custGeom>
              <a:avLst/>
              <a:gdLst/>
              <a:ahLst/>
              <a:cxnLst/>
              <a:rect r="r" b="b" t="t" l="l"/>
              <a:pathLst>
                <a:path h="1209040" w="486664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4665091" y="0"/>
                  </a:lnTo>
                  <a:cubicBezTo>
                    <a:pt x="4776343" y="0"/>
                    <a:pt x="4866640" y="90170"/>
                    <a:pt x="4866640" y="201549"/>
                  </a:cubicBezTo>
                  <a:lnTo>
                    <a:pt x="4866640" y="1007491"/>
                  </a:lnTo>
                  <a:cubicBezTo>
                    <a:pt x="4866640" y="1118743"/>
                    <a:pt x="4776470" y="1209040"/>
                    <a:pt x="466509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0392B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653796" y="5110353"/>
            <a:ext cx="342442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3"/>
              </a:lnSpc>
              <a:defRPr sz="800">
                <a:solidFill>
                  <a:srgbClr val="FFFFFF"/>
                </a:solidFill>
                <a:latin typeface="Arial"/>
              </a:defRPr>
            </a:pPr>
            <a:r>
              <a:t>• Linguistic Divide in Indian Engineering – 70%+ of tier-2/3 students struggle with dense English textbooks. Mitigated by Sarvam AI neural speech with a custom Quantum Glossary layer preserving technical terms in 10+ Indian languages.</a:t>
            </a:r>
          </a:p>
        </p:txBody>
      </p:sp>
      <p:pic>
        <p:nvPicPr>
          <p:cNvPr id="60" name="Picture 59" descr="slide4_empirical_benchmar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45920"/>
            <a:ext cx="11247120" cy="8138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68880" y="1851660"/>
            <a:ext cx="2263140" cy="2263140"/>
            <a:chOff x="0" y="0"/>
            <a:chExt cx="3017520" cy="3017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70AD4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574036" y="2212086"/>
            <a:ext cx="2052828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85%</a:t>
            </a:r>
          </a:p>
          <a:p>
            <a:pPr algn="ctr">
              <a:lnSpc>
                <a:spcPts val="2039"/>
              </a:lnSpc>
            </a:pPr>
            <a:r>
              <a:rPr lang="en-US" sz="16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MASTERY GAIN</a:t>
            </a:r>
          </a:p>
          <a:p>
            <a:pPr algn="ctr">
              <a:lnSpc>
                <a:spcPts val="1823"/>
              </a:lnSpc>
            </a:pPr>
            <a:r>
              <a:rPr lang="en-US" sz="1519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PEDAGOGICAL METRIC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31136" y="4191381"/>
            <a:ext cx="273862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ACADEMIC IMPACT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023860" y="1851660"/>
            <a:ext cx="2263140" cy="2263140"/>
            <a:chOff x="0" y="0"/>
            <a:chExt cx="3017520" cy="3017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29016" y="2212086"/>
            <a:ext cx="205282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100%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ZERO COST</a:t>
            </a:r>
          </a:p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FINANCIAL METRIC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04176" y="4191381"/>
            <a:ext cx="34930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METHODS &amp; ASSUMPTIONS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578840" y="1851660"/>
            <a:ext cx="2263140" cy="2263140"/>
            <a:chOff x="0" y="0"/>
            <a:chExt cx="3017520" cy="3017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175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017520">
                  <a:moveTo>
                    <a:pt x="0" y="1508760"/>
                  </a:moveTo>
                  <a:cubicBezTo>
                    <a:pt x="0" y="675513"/>
                    <a:pt x="675513" y="0"/>
                    <a:pt x="1508760" y="0"/>
                  </a:cubicBezTo>
                  <a:cubicBezTo>
                    <a:pt x="2342007" y="0"/>
                    <a:pt x="3017520" y="675513"/>
                    <a:pt x="3017520" y="1508760"/>
                  </a:cubicBezTo>
                  <a:cubicBezTo>
                    <a:pt x="3017520" y="2342007"/>
                    <a:pt x="2342007" y="3017520"/>
                    <a:pt x="1508760" y="3017520"/>
                  </a:cubicBezTo>
                  <a:cubicBezTo>
                    <a:pt x="675513" y="3017520"/>
                    <a:pt x="0" y="2342007"/>
                    <a:pt x="0" y="1508760"/>
                  </a:cubicBezTo>
                  <a:close/>
                </a:path>
              </a:pathLst>
            </a:custGeom>
            <a:solidFill>
              <a:srgbClr val="0F513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687425" y="2193036"/>
            <a:ext cx="205282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50,000+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STUDENTS REACHED</a:t>
            </a:r>
          </a:p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E6FFE6"/>
                </a:solidFill>
                <a:latin typeface="Arial Bold"/>
                <a:ea typeface="Arial Bold"/>
                <a:cs typeface="Arial Bold"/>
                <a:sym typeface="Arial Bold"/>
              </a:rPr>
              <a:t>NATIONAL METRIC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4978" y="4191381"/>
            <a:ext cx="33737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9"/>
              </a:lnSpc>
            </a:pPr>
            <a:r>
              <a:rPr lang="en-US" sz="1849" b="true">
                <a:solidFill>
                  <a:srgbClr val="0E2A47"/>
                </a:solidFill>
                <a:latin typeface="Arial Bold"/>
                <a:ea typeface="Arial Bold"/>
                <a:cs typeface="Arial Bold"/>
                <a:sym typeface="Arial Bold"/>
              </a:rPr>
              <a:t>NATIONAL WORKFORCE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5850" y="5143500"/>
            <a:ext cx="4960620" cy="2423160"/>
            <a:chOff x="0" y="0"/>
            <a:chExt cx="6614160" cy="3230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70AD4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71016" y="5290566"/>
            <a:ext cx="459028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b="true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Intuitive Spatial Pedagogy: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Replaces passive linear algebra rote learning with active 3D Bloch vector manipulation.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Closes the gap between quantum theory and practical software engineering.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Proven Bloom 2-Sigma mastery gains via step-by-step Socratic AI debugging.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40830" y="5143500"/>
            <a:ext cx="4960620" cy="2423160"/>
            <a:chOff x="0" y="0"/>
            <a:chExt cx="6614160" cy="3230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850380" y="5353050"/>
            <a:ext cx="2141220" cy="906780"/>
            <a:chOff x="0" y="0"/>
            <a:chExt cx="2854960" cy="120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5496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85496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653411" y="0"/>
                  </a:lnTo>
                  <a:cubicBezTo>
                    <a:pt x="2764663" y="0"/>
                    <a:pt x="2854960" y="90170"/>
                    <a:pt x="2854960" y="201549"/>
                  </a:cubicBezTo>
                  <a:lnTo>
                    <a:pt x="2854960" y="1007491"/>
                  </a:lnTo>
                  <a:cubicBezTo>
                    <a:pt x="2854960" y="1118743"/>
                    <a:pt x="2764790" y="1209040"/>
                    <a:pt x="265341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5FCF5"/>
            </a:solidFill>
            <a:ln w="1524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963156" y="5579134"/>
            <a:ext cx="19156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Bloom 2σ Model:</a:t>
            </a:r>
          </a:p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1-on-1 AI Tutoring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50680" y="5353050"/>
            <a:ext cx="2141220" cy="906780"/>
            <a:chOff x="0" y="0"/>
            <a:chExt cx="2854960" cy="1209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4960" cy="1209040"/>
            </a:xfrm>
            <a:custGeom>
              <a:avLst/>
              <a:gdLst/>
              <a:ahLst/>
              <a:cxnLst/>
              <a:rect r="r" b="b" t="t" l="l"/>
              <a:pathLst>
                <a:path h="1209040" w="2854960">
                  <a:moveTo>
                    <a:pt x="0" y="201549"/>
                  </a:moveTo>
                  <a:cubicBezTo>
                    <a:pt x="0" y="90170"/>
                    <a:pt x="90170" y="0"/>
                    <a:pt x="201549" y="0"/>
                  </a:cubicBezTo>
                  <a:lnTo>
                    <a:pt x="2653411" y="0"/>
                  </a:lnTo>
                  <a:cubicBezTo>
                    <a:pt x="2764663" y="0"/>
                    <a:pt x="2854960" y="90170"/>
                    <a:pt x="2854960" y="201549"/>
                  </a:cubicBezTo>
                  <a:lnTo>
                    <a:pt x="2854960" y="1007491"/>
                  </a:lnTo>
                  <a:cubicBezTo>
                    <a:pt x="2854960" y="1118743"/>
                    <a:pt x="2764790" y="1209040"/>
                    <a:pt x="2653411" y="1209040"/>
                  </a:cubicBezTo>
                  <a:lnTo>
                    <a:pt x="201549" y="1209040"/>
                  </a:lnTo>
                  <a:cubicBezTo>
                    <a:pt x="90170" y="1209040"/>
                    <a:pt x="0" y="1118870"/>
                    <a:pt x="0" y="1007491"/>
                  </a:cubicBezTo>
                  <a:close/>
                </a:path>
              </a:pathLst>
            </a:custGeom>
            <a:solidFill>
              <a:srgbClr val="F5FCF5"/>
            </a:solidFill>
            <a:ln w="15240" cap="sq">
              <a:solidFill>
                <a:srgbClr val="A3D9B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363456" y="5579134"/>
            <a:ext cx="19156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Zero-Cost Stack:</a:t>
            </a:r>
          </a:p>
          <a:p>
            <a:pPr algn="ctr">
              <a:lnSpc>
                <a:spcPts val="1739"/>
              </a:lnSpc>
            </a:pPr>
            <a:r>
              <a:rPr lang="en-US" sz="1449" b="true">
                <a:solidFill>
                  <a:srgbClr val="155724"/>
                </a:solidFill>
                <a:latin typeface="Arial Bold"/>
                <a:ea typeface="Arial Bold"/>
                <a:cs typeface="Arial Bold"/>
                <a:sym typeface="Arial Bold"/>
              </a:rPr>
              <a:t>100% Open-Source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4576" y="6387846"/>
            <a:ext cx="44531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Assumes standard browser access across campus lab environments with zero hardware investment. Validated against university curriculum learning rubrics.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195810" y="5143500"/>
            <a:ext cx="4960620" cy="2423160"/>
            <a:chOff x="0" y="0"/>
            <a:chExt cx="6614160" cy="3230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14160" cy="3230880"/>
            </a:xfrm>
            <a:custGeom>
              <a:avLst/>
              <a:gdLst/>
              <a:ahLst/>
              <a:cxnLst/>
              <a:rect r="r" b="b" t="t" l="l"/>
              <a:pathLst>
                <a:path h="3230880" w="6614160">
                  <a:moveTo>
                    <a:pt x="0" y="538480"/>
                  </a:moveTo>
                  <a:cubicBezTo>
                    <a:pt x="0" y="241046"/>
                    <a:pt x="241046" y="0"/>
                    <a:pt x="538480" y="0"/>
                  </a:cubicBezTo>
                  <a:lnTo>
                    <a:pt x="6075680" y="0"/>
                  </a:lnTo>
                  <a:cubicBezTo>
                    <a:pt x="6373114" y="0"/>
                    <a:pt x="6614160" y="241046"/>
                    <a:pt x="6614160" y="538480"/>
                  </a:cubicBezTo>
                  <a:lnTo>
                    <a:pt x="6614160" y="2692400"/>
                  </a:lnTo>
                  <a:cubicBezTo>
                    <a:pt x="6614160" y="2989834"/>
                    <a:pt x="6373114" y="3230880"/>
                    <a:pt x="6075680" y="3230880"/>
                  </a:cubicBezTo>
                  <a:lnTo>
                    <a:pt x="538480" y="3230880"/>
                  </a:lnTo>
                  <a:cubicBezTo>
                    <a:pt x="241046" y="3230880"/>
                    <a:pt x="0" y="2989834"/>
                    <a:pt x="0" y="2692400"/>
                  </a:cubicBezTo>
                  <a:close/>
                </a:path>
              </a:pathLst>
            </a:custGeom>
            <a:solidFill>
              <a:srgbClr val="FFFFFF"/>
            </a:solidFill>
            <a:ln w="22860" cap="sq">
              <a:solidFill>
                <a:srgbClr val="0F5132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380976" y="5290566"/>
            <a:ext cx="459028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b="true">
                <a:solidFill>
                  <a:srgbClr val="0F51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National Quantum Mission (NQM) Fit: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Direct catalyst for India's ₹6,003 Cr NQM talent pipeline across 23 Thematic Hubs.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Prepares 50,000+ STEM graduates for quantum computing and cryptography careers.</a:t>
            </a:r>
          </a:p>
          <a:p>
            <a:pPr algn="l">
              <a:lnSpc>
                <a:spcPts val="2051"/>
              </a:lnSpc>
            </a:pPr>
            <a:r>
              <a:rPr lang="en-US" sz="1709">
                <a:solidFill>
                  <a:srgbClr val="191E23"/>
                </a:solidFill>
                <a:latin typeface="Calibri (MS)"/>
                <a:ea typeface="Calibri (MS)"/>
                <a:cs typeface="Calibri (MS)"/>
                <a:sym typeface="Calibri (MS)"/>
              </a:rPr>
              <a:t>• Democratizes access to tier-2 &amp; tier-3 engineering colleges nationwide.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8700" y="8706993"/>
            <a:ext cx="16230600" cy="1006602"/>
            <a:chOff x="0" y="0"/>
            <a:chExt cx="21640800" cy="1342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640800" cy="1342136"/>
            </a:xfrm>
            <a:custGeom>
              <a:avLst/>
              <a:gdLst/>
              <a:ahLst/>
              <a:cxnLst/>
              <a:rect r="r" b="b" t="t" l="l"/>
              <a:pathLst>
                <a:path h="1342136" w="21640800">
                  <a:moveTo>
                    <a:pt x="0" y="223647"/>
                  </a:moveTo>
                  <a:cubicBezTo>
                    <a:pt x="0" y="100203"/>
                    <a:pt x="126900" y="0"/>
                    <a:pt x="283232" y="0"/>
                  </a:cubicBezTo>
                  <a:lnTo>
                    <a:pt x="21357569" y="0"/>
                  </a:lnTo>
                  <a:cubicBezTo>
                    <a:pt x="21514062" y="0"/>
                    <a:pt x="21640800" y="100203"/>
                    <a:pt x="21640800" y="223647"/>
                  </a:cubicBezTo>
                  <a:lnTo>
                    <a:pt x="21640800" y="1118489"/>
                  </a:lnTo>
                  <a:cubicBezTo>
                    <a:pt x="21640800" y="1242060"/>
                    <a:pt x="21513901" y="1342136"/>
                    <a:pt x="21357569" y="1342136"/>
                  </a:cubicBezTo>
                  <a:lnTo>
                    <a:pt x="283232" y="1342136"/>
                  </a:lnTo>
                  <a:cubicBezTo>
                    <a:pt x="126900" y="1342136"/>
                    <a:pt x="0" y="1241933"/>
                    <a:pt x="0" y="1118489"/>
                  </a:cubicBezTo>
                  <a:close/>
                </a:path>
              </a:pathLst>
            </a:custGeom>
            <a:solidFill>
              <a:srgbClr val="1B4D3E"/>
            </a:solidFill>
            <a:ln w="19050" cap="sq">
              <a:solidFill>
                <a:srgbClr val="C8F0D2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3033522" y="8901303"/>
            <a:ext cx="1217523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24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Intuition. Innovation. Inclusion.</a:t>
            </a:r>
          </a:p>
          <a:p>
            <a:pPr algn="ctr">
              <a:lnSpc>
                <a:spcPts val="1979"/>
              </a:lnSpc>
            </a:pPr>
            <a:r>
              <a:rPr lang="en-US" sz="1649" b="true">
                <a:solidFill>
                  <a:srgbClr val="DCF5E1"/>
                </a:solidFill>
                <a:latin typeface="Arial Bold"/>
                <a:ea typeface="Arial Bold"/>
                <a:cs typeface="Arial Bold"/>
                <a:sym typeface="Arial Bold"/>
              </a:rPr>
              <a:t>Democratizing Quantum Education for India's Future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2476" y="2044351"/>
            <a:ext cx="13147653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Quantum Foundations &amp; Simulator Engines: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Nielsen, M. A. &amp; Chuang, I. L. (2010) – Quantum Computation and Quantum Information – 10th Anniversary Edition, Cambridge University Press.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IBM Quantum Team (2024) – IBM Quantum Heron: 156-Qubit Heavy-Hex Architecture &amp; Qiskit Runtime 1.0 Platform: https://quantum.ibm.com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Bergholm, V. et al. (2022) – PennyLane: Automatic differentiation and machine learning of quantum computers. arXiv:1811.04968.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Google Quantum AI (2023) – Cirq: A Python Framework for NISQ Algorithms &amp; Sycamore Topologies: https://quantumai.google/cirq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BlueQubit Inc. (2024) – GPU-Accelerated Quantum Circuit Simulation &amp; Tensor Network Contraction: https://bluequbit.io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AI, Knowledge Retrieval &amp; Indian Language Speech: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Groq Inc. (2024) – Language Processing Unit (LPU) Inference Engine Architecture for Real-Time LLM Serving: https://groq.com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Sarvam AI (2024) – Bulbul &amp; Saaras: Foundation Models for Indian Language Speech Synthesis and Translation: https://sarvam.ai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ChromaDB Team (2024) – Open-Source Embedding Database for High-Precision Domain-Specific RAG: https://trychroma.com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Preskill, J. (2018) – Quantum Computing in the NISQ era and beyond. Quantum, 2, 79.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100" b="1">
                <a:solidFill>
                  <a:srgbClr val="00F0FF"/>
                </a:solidFill>
                <a:latin typeface="Arial"/>
              </a:defRPr>
            </a:pPr>
            <a:r>
              <a:t>National Policy, Pedagogy &amp; Workforce Standards: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Department of Science &amp; Technology, Govt. of India (2023–2026) – National Quantum Mission (NQM) Policy &amp; Human Resource Development Roadmap (₹6,003 Cr).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Bloom, Benjamin S. (1984) – The 2 Sigma Problem: The Search for Methods of Group Instruction as Effective as One-to-One Tutoring. Educational Researcher, 13(6), 4-16.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Quantum Economic Development Consortium (QED-C, 2023) – Quantum Workforce Development Guidelines for Undergraduate Engineering Education: https://quantumconsortium.org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Arial"/>
              </a:defRPr>
            </a:pPr>
            <a:r>
              <a:t>• AICTE &amp; UGC (2024) – National Education Policy (NEP 2020) Technical Guidelines for Emerging Deep-Tech Quantum Curricula.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