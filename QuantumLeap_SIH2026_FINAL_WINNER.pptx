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4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4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29"/>
  </p:sldIdLst>
  <p:sldSz cx="18288000" cy="10287000"/>
  <p:notesSz cx="6858000" cy="9144000"/>
  <p:embeddedFontLst>
    <p:embeddedFont>
      <p:font typeface="Garamond Bold" charset="1" panose="02020804030307010803"/>
      <p:regular r:id="rId12"/>
    </p:embeddedFont>
    <p:embeddedFont>
      <p:font typeface="Arial Bold" charset="1" panose="020B0704020202020204"/>
      <p:regular r:id="rId13"/>
    </p:embeddedFont>
    <p:embeddedFont>
      <p:font typeface="Georgia Bold" charset="1" panose="02040802050405020203"/>
      <p:regular r:id="rId17"/>
    </p:embeddedFont>
    <p:embeddedFont>
      <p:font typeface="Arial Bold Italics" charset="1" panose="020B0704020202090204"/>
      <p:regular r:id="rId18"/>
    </p:embeddedFont>
    <p:embeddedFont>
      <p:font typeface="Calibri (MS) Bold" charset="1" panose="020F0702030404030204"/>
      <p:regular r:id="rId19"/>
    </p:embeddedFont>
    <p:embeddedFont>
      <p:font typeface="Calibri (MS)" charset="1" panose="020F0502020204030204"/>
      <p:regular r:id="rId20"/>
    </p:embeddedFont>
    <p:embeddedFont>
      <p:font typeface="Arial Italics" charset="1" panose="020B0604020202090204"/>
      <p:regular r:id="rId21"/>
    </p:embeddedFont>
    <p:embeddedFont>
      <p:font typeface="Arimo Bold" charset="1" panose="020B0704020202020204"/>
      <p:regular r:id="rId22"/>
    </p:embeddedFont>
    <p:embeddedFont>
      <p:font typeface="Arial" charset="1" panose="020B0604020202020204"/>
      <p:regular r:id="rId23"/>
    </p:embeddedFont>
    <p:embeddedFont>
      <p:font typeface="Times New Roman MT Bold" charset="1" panose="02030802070405020303"/>
      <p:regular r:id="rId2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notesMaster" Target="notesMasters/notesMaster1.xml"/><Relationship Id="rId15" Type="http://schemas.openxmlformats.org/officeDocument/2006/relationships/theme" Target="theme/theme2.xml"/><Relationship Id="rId16" Type="http://schemas.openxmlformats.org/officeDocument/2006/relationships/notesSlide" Target="notesSlides/notesSlide1.xml"/><Relationship Id="rId17" Type="http://schemas.openxmlformats.org/officeDocument/2006/relationships/font" Target="fonts/font17.fntdata"/><Relationship Id="rId18" Type="http://schemas.openxmlformats.org/officeDocument/2006/relationships/font" Target="fonts/font18.fntdata"/><Relationship Id="rId19" Type="http://schemas.openxmlformats.org/officeDocument/2006/relationships/font" Target="fonts/font19.fntdata"/><Relationship Id="rId20" Type="http://schemas.openxmlformats.org/officeDocument/2006/relationships/font" Target="fonts/font20.fntdata"/><Relationship Id="rId21" Type="http://schemas.openxmlformats.org/officeDocument/2006/relationships/font" Target="fonts/font21.fntdata"/><Relationship Id="rId22" Type="http://schemas.openxmlformats.org/officeDocument/2006/relationships/font" Target="fonts/font22.fntdata"/><Relationship Id="rId23" Type="http://schemas.openxmlformats.org/officeDocument/2006/relationships/font" Target="fonts/font23.fntdata"/><Relationship Id="rId24" Type="http://schemas.openxmlformats.org/officeDocument/2006/relationships/notesSlide" Target="notesSlides/notesSlide2.xml"/><Relationship Id="rId25" Type="http://schemas.openxmlformats.org/officeDocument/2006/relationships/font" Target="fonts/font25.fntdata"/><Relationship Id="rId26" Type="http://schemas.openxmlformats.org/officeDocument/2006/relationships/notesSlide" Target="notesSlides/notesSlide3.xml"/><Relationship Id="rId27" Type="http://schemas.openxmlformats.org/officeDocument/2006/relationships/notesSlide" Target="notesSlides/notesSlide4.xml"/><Relationship Id="rId28" Type="http://schemas.openxmlformats.org/officeDocument/2006/relationships/notesSlide" Target="notesSlides/notesSlide5.xml"/><Relationship Id="rId29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svg"/><Relationship Id="rId6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8.png"/><Relationship Id="rId7" Type="http://schemas.openxmlformats.org/officeDocument/2006/relationships/image" Target="../media/image9.png"/><Relationship Id="rId8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6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Relationship Id="rId10" Type="http://schemas.openxmlformats.org/officeDocument/2006/relationships/image" Target="../media/image15.png"/><Relationship Id="rId11" Type="http://schemas.openxmlformats.org/officeDocument/2006/relationships/image" Target="../media/image10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2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Relationship Id="rId9" Type="http://schemas.openxmlformats.org/officeDocument/2006/relationships/image" Target="../media/image13.png"/><Relationship Id="rId10" Type="http://schemas.openxmlformats.org/officeDocument/2006/relationships/image" Target="../media/image18.png"/><Relationship Id="rId11" Type="http://schemas.openxmlformats.org/officeDocument/2006/relationships/image" Target="../media/image7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8.png"/><Relationship Id="rId15" Type="http://schemas.openxmlformats.org/officeDocument/2006/relationships/image" Target="../media/image9.png"/><Relationship Id="rId16" Type="http://schemas.openxmlformats.org/officeDocument/2006/relationships/image" Target="../media/image14.png"/><Relationship Id="rId17" Type="http://schemas.openxmlformats.org/officeDocument/2006/relationships/image" Target="../media/image15.png"/><Relationship Id="rId18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7.png"/><Relationship Id="rId7" Type="http://schemas.openxmlformats.org/officeDocument/2006/relationships/image" Target="../media/image13.png"/><Relationship Id="rId8" Type="http://schemas.openxmlformats.org/officeDocument/2006/relationships/image" Target="../media/image7.png"/><Relationship Id="rId9" Type="http://schemas.openxmlformats.org/officeDocument/2006/relationships/image" Target="../media/image20.png"/><Relationship Id="rId10" Type="http://schemas.openxmlformats.org/officeDocument/2006/relationships/image" Target="../media/image14.png"/><Relationship Id="rId11" Type="http://schemas.openxmlformats.org/officeDocument/2006/relationships/image" Target="../media/image10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jpeg"/><Relationship Id="rId4" Type="http://schemas.openxmlformats.org/officeDocument/2006/relationships/image" Target="../media/image2.png"/><Relationship Id="rId5" Type="http://schemas.openxmlformats.org/officeDocument/2006/relationships/image" Target="../media/image7.png"/><Relationship Id="rId6" Type="http://schemas.openxmlformats.org/officeDocument/2006/relationships/image" Target="../media/image19.png"/><Relationship Id="rId7" Type="http://schemas.openxmlformats.org/officeDocument/2006/relationships/image" Target="../media/image8.png"/><Relationship Id="rId8" Type="http://schemas.openxmlformats.org/officeDocument/2006/relationships/image" Target="../media/image9.png"/><Relationship Id="rId9" Type="http://schemas.openxmlformats.org/officeDocument/2006/relationships/image" Target="../media/image20.png"/><Relationship Id="rId10" Type="http://schemas.openxmlformats.org/officeDocument/2006/relationships/image" Target="../media/image14.png"/><Relationship Id="rId11" Type="http://schemas.openxmlformats.org/officeDocument/2006/relationships/image" Target="../media/image15.png"/><Relationship Id="rId12" Type="http://schemas.openxmlformats.org/officeDocument/2006/relationships/image" Target="../media/image10.png"/><Relationship Id="rId13" Type="http://schemas.openxmlformats.org/officeDocument/2006/relationships/image" Target="../media/image18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3.png"/><Relationship Id="rId12" Type="http://schemas.openxmlformats.org/officeDocument/2006/relationships/image" Target="../media/image18.png"/><Relationship Id="rId13" Type="http://schemas.openxmlformats.org/officeDocument/2006/relationships/image" Target="../media/image14.png"/><Relationship Id="rId14" Type="http://schemas.openxmlformats.org/officeDocument/2006/relationships/image" Target="../media/image15.png"/><Relationship Id="rId15" Type="http://schemas.openxmlformats.org/officeDocument/2006/relationships/image" Target="../media/image10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86005" y="-758338"/>
            <a:ext cx="15544800" cy="3114675"/>
            <a:chOff x="0" y="0"/>
            <a:chExt cx="20726400" cy="41529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0726400" cy="4152900"/>
            </a:xfrm>
            <a:custGeom>
              <a:avLst/>
              <a:gdLst/>
              <a:ahLst/>
              <a:cxnLst/>
              <a:rect r="r" b="b" t="t" l="l"/>
              <a:pathLst>
                <a:path h="4152900" w="20726400">
                  <a:moveTo>
                    <a:pt x="0" y="0"/>
                  </a:moveTo>
                  <a:lnTo>
                    <a:pt x="20726400" y="0"/>
                  </a:lnTo>
                  <a:lnTo>
                    <a:pt x="20726400" y="4152900"/>
                  </a:lnTo>
                  <a:lnTo>
                    <a:pt x="0" y="4152900"/>
                  </a:lnTo>
                  <a:close/>
                </a:path>
              </a:pathLst>
            </a:custGeom>
            <a:blipFill>
              <a:blip r:embed="rId2">
                <a:alphaModFix amt="0"/>
              </a:blip>
              <a:stretch>
                <a:fillRect l="0" t="-47246" r="0" b="-47246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19050"/>
              <a:ext cx="20726400" cy="417195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7200"/>
                </a:lnSpc>
              </a:pPr>
              <a:r>
                <a:rPr lang="en-US" sz="6000" b="true">
                  <a:solidFill>
                    <a:srgbClr val="1F497D"/>
                  </a:solidFill>
                  <a:latin typeface="Garamond Bold"/>
                  <a:ea typeface="Garamond Bold"/>
                  <a:cs typeface="Garamond Bold"/>
                  <a:sym typeface="Garamond Bold"/>
                </a:rPr>
                <a:t>SMART INDIA HACKATHON 2026</a:t>
              </a: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384213" y="1954570"/>
            <a:ext cx="16365874" cy="7145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20"/>
              </a:lnSpc>
            </a:pP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ID –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SIH26140</a:t>
            </a:r>
          </a:p>
          <a:p>
            <a:pPr algn="just" marL="651510" indent="-325755" lvl="1">
              <a:lnSpc>
                <a:spcPts val="540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Problem Statement Title-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AI-Based Interactive</a:t>
            </a:r>
          </a:p>
          <a:p>
            <a:pPr algn="just">
              <a:lnSpc>
                <a:spcPts val="5400"/>
              </a:lnSpc>
            </a:pPr>
            <a:r>
              <a:rPr lang="en-US" sz="3600" b="true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     Quantum Algorithm Learning Platform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Theme- 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Smart Education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PS Category-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Software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ID- </a:t>
            </a:r>
          </a:p>
          <a:p>
            <a:pPr algn="just" marL="651510" indent="-325755" lvl="1">
              <a:lnSpc>
                <a:spcPts val="8640"/>
              </a:lnSpc>
              <a:buFont typeface="Arial"/>
              <a:buChar char="•"/>
            </a:pPr>
            <a:r>
              <a:rPr lang="en-US" b="true" sz="3600">
                <a:solidFill>
                  <a:srgbClr val="000000"/>
                </a:solidFill>
                <a:latin typeface="Arial Bold"/>
                <a:ea typeface="Arial Bold"/>
                <a:cs typeface="Arial Bold"/>
                <a:sym typeface="Arial Bold"/>
              </a:rPr>
              <a:t>Team Name- </a:t>
            </a:r>
            <a:r>
              <a:rPr lang="en-US" b="true" sz="3600">
                <a:solidFill>
                  <a:srgbClr val="1F497D"/>
                </a:solidFill>
                <a:latin typeface="Arial Bold"/>
                <a:ea typeface="Arial Bold"/>
                <a:cs typeface="Arial Bold"/>
                <a:sym typeface="Arial Bold"/>
              </a:rPr>
              <a:t>GITWOLVES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625822" y="1277274"/>
            <a:ext cx="6957908" cy="7732452"/>
          </a:xfrm>
          <a:custGeom>
            <a:avLst/>
            <a:gdLst/>
            <a:ahLst/>
            <a:cxnLst/>
            <a:rect r="r" b="b" t="t" l="l"/>
            <a:pathLst>
              <a:path h="7732452" w="6957908">
                <a:moveTo>
                  <a:pt x="0" y="0"/>
                </a:moveTo>
                <a:lnTo>
                  <a:pt x="6957908" y="0"/>
                </a:lnTo>
                <a:lnTo>
                  <a:pt x="6957908" y="7732452"/>
                </a:lnTo>
                <a:lnTo>
                  <a:pt x="0" y="77324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2505738" y="2672926"/>
            <a:ext cx="4919425" cy="5261451"/>
            <a:chOff x="0" y="0"/>
            <a:chExt cx="6407023" cy="685247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6407023" cy="6852412"/>
            </a:xfrm>
            <a:custGeom>
              <a:avLst/>
              <a:gdLst/>
              <a:ahLst/>
              <a:cxnLst/>
              <a:rect r="r" b="b" t="t" l="l"/>
              <a:pathLst>
                <a:path h="6852412" w="6407023">
                  <a:moveTo>
                    <a:pt x="0" y="0"/>
                  </a:moveTo>
                  <a:lnTo>
                    <a:pt x="6407023" y="0"/>
                  </a:lnTo>
                  <a:lnTo>
                    <a:pt x="6407023" y="6852412"/>
                  </a:lnTo>
                  <a:lnTo>
                    <a:pt x="0" y="685241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0" t="0" r="-149475" b="-1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"/>
              <a:ext cx="15727680" cy="15640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4320"/>
                </a:lnSpc>
              </a:pPr>
              <a:r>
                <a:rPr lang="en-US" sz="3600" b="true">
                  <a:solidFill>
                    <a:srgbClr val="0E2A47"/>
                  </a:solidFill>
                  <a:latin typeface="Georgia Bold"/>
                  <a:ea typeface="Georgia Bold"/>
                  <a:cs typeface="Georgia Bold"/>
                  <a:sym typeface="Georgia Bold"/>
                </a:rPr>
                <a:t>Interactive Web-Based Quantum Learning Platform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3017520" y="1188720"/>
            <a:ext cx="13075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D1428"/>
                </a:solidFill>
                <a:latin typeface="Arial"/>
              </a:defRPr>
            </a:pPr>
            <a:r>
              <a:t>PROBLEM UNDERSTANDING</a:t>
            </a:r>
          </a:p>
          <a:p>
            <a:pPr>
              <a:defRPr sz="1000" i="1">
                <a:solidFill>
                  <a:srgbClr val="2563EB"/>
                </a:solidFill>
                <a:latin typeface="Arial"/>
              </a:defRPr>
            </a:pPr>
            <a:r>
              <a:t>Why 95% of Indian engineering colleges cannot teach quantum computing effectively today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12848"/>
            <a:ext cx="5303520" cy="745236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395728"/>
            <a:ext cx="4754880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3800" b="1">
                <a:solidFill>
                  <a:srgbClr val="DC2626"/>
                </a:solidFill>
                <a:latin typeface="Arial"/>
              </a:defRPr>
            </a:pPr>
            <a:r>
              <a:t>72%</a:t>
            </a:r>
          </a:p>
          <a:p>
            <a:pPr>
              <a:spcAft>
                <a:spcPts val="0"/>
              </a:spcAft>
              <a:defRPr sz="900" b="0">
                <a:solidFill>
                  <a:srgbClr val="2D3A50"/>
                </a:solidFill>
                <a:latin typeface="Arial"/>
              </a:defRPr>
            </a:pPr>
            <a:r>
              <a:t>of STEM students drop quantum courses in Semester 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3232" y="3767328"/>
            <a:ext cx="4773168" cy="36576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3232" y="3877056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DC2626"/>
                </a:solidFill>
                <a:latin typeface="Arial"/>
              </a:defRPr>
            </a:pPr>
            <a:r>
              <a:t>The Abstract Math Barrier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13232" y="4434840"/>
            <a:ext cx="4773168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2D3A50"/>
                </a:solidFill>
                <a:latin typeface="Arial"/>
              </a:defRPr>
            </a:pPr>
            <a:r>
              <a:t>-&gt;  Hilbert spaces &amp; unitary matrices taught without spatial intuition</a:t>
            </a:r>
            <a:br/>
            <a:r>
              <a:t>-&gt;  Dirac notation introduced before any visual or physical context</a:t>
            </a:r>
            <a:br/>
            <a:r>
              <a:t>-&gt;  Students memorize formulas — never grasp what quantum means</a:t>
            </a:r>
            <a:br/>
            <a:r>
              <a:t>-&gt;  High dropout rate blocks India's entire quantum talent pipeline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09360" y="2212848"/>
            <a:ext cx="5303520" cy="745236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65392" y="2395728"/>
            <a:ext cx="4754880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3800" b="1">
                <a:solidFill>
                  <a:srgbClr val="2563EB"/>
                </a:solidFill>
                <a:latin typeface="Arial"/>
              </a:defRPr>
            </a:pPr>
            <a:r>
              <a:t>94%</a:t>
            </a:r>
          </a:p>
          <a:p>
            <a:pPr>
              <a:spcAft>
                <a:spcPts val="0"/>
              </a:spcAft>
              <a:defRPr sz="900" b="0">
                <a:solidFill>
                  <a:srgbClr val="2D3A50"/>
                </a:solidFill>
                <a:latin typeface="Arial"/>
              </a:defRPr>
            </a:pPr>
            <a:r>
              <a:t>of colleges have zero access to real quantum hardware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65392" y="3767328"/>
            <a:ext cx="4773168" cy="36576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65392" y="3877056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Hardware Divide &amp; SDK Fragmentation</a:t>
            </a:r>
          </a:p>
        </p:txBody>
      </p:sp>
      <p:pic>
        <p:nvPicPr>
          <p:cNvPr id="20" name="Picture 19" descr="ib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65392" y="4434840"/>
            <a:ext cx="960120" cy="530352"/>
          </a:xfrm>
          <a:prstGeom prst="rect">
            <a:avLst/>
          </a:prstGeom>
        </p:spPr>
      </p:pic>
      <p:pic>
        <p:nvPicPr>
          <p:cNvPr id="21" name="Picture 20" descr="cirq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35824" y="4434840"/>
            <a:ext cx="960120" cy="530352"/>
          </a:xfrm>
          <a:prstGeom prst="rect">
            <a:avLst/>
          </a:prstGeom>
        </p:spPr>
      </p:pic>
      <p:pic>
        <p:nvPicPr>
          <p:cNvPr id="22" name="Picture 21" descr="pennylan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06256" y="4434840"/>
            <a:ext cx="960120" cy="530352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6565392" y="5120640"/>
            <a:ext cx="4773168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2D3A50"/>
                </a:solidFill>
                <a:latin typeface="Arial"/>
              </a:defRPr>
            </a:pPr>
            <a:r>
              <a:t>-&gt;  Cryogenic QPUs cost $10M+ — impossible for 99% of institutions</a:t>
            </a:r>
            <a:br/>
            <a:r>
              <a:t>-&gt;  IBM Qiskit, Google Cirq, PennyLane use incompatible syntax</a:t>
            </a:r>
            <a:br/>
            <a:r>
              <a:t>-&gt;  College PCs crash simulating circuits beyond 10 qubits</a:t>
            </a:r>
            <a:br/>
            <a:r>
              <a:t>-&gt;  No hardware access means no experimentation, no learning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2161520" y="2212848"/>
            <a:ext cx="5303520" cy="745236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CA6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417552" y="2395728"/>
            <a:ext cx="4754880" cy="129844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3800" b="1">
                <a:solidFill>
                  <a:srgbClr val="CA6B04"/>
                </a:solidFill>
                <a:latin typeface="Arial"/>
              </a:defRPr>
            </a:pPr>
            <a:r>
              <a:t>68%</a:t>
            </a:r>
          </a:p>
          <a:p>
            <a:pPr>
              <a:spcAft>
                <a:spcPts val="0"/>
              </a:spcAft>
              <a:defRPr sz="900" b="0">
                <a:solidFill>
                  <a:srgbClr val="2D3A50"/>
                </a:solidFill>
                <a:latin typeface="Arial"/>
              </a:defRPr>
            </a:pPr>
            <a:r>
              <a:t>struggle with English-only quantum textbooks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2417552" y="3767328"/>
            <a:ext cx="4773168" cy="36576"/>
          </a:xfrm>
          <a:prstGeom prst="rect">
            <a:avLst/>
          </a:prstGeom>
          <a:solidFill>
            <a:srgbClr val="CA6B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2417552" y="3877056"/>
            <a:ext cx="4773168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200" b="1">
                <a:solidFill>
                  <a:srgbClr val="CA6B04"/>
                </a:solidFill>
                <a:latin typeface="Arial"/>
              </a:defRPr>
            </a:pPr>
            <a:r>
              <a:t>The Language Exclusion Problem</a:t>
            </a:r>
          </a:p>
        </p:txBody>
      </p:sp>
      <p:pic>
        <p:nvPicPr>
          <p:cNvPr id="28" name="Picture 27" descr="sarvam_dark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17552" y="4434840"/>
            <a:ext cx="960120" cy="530352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2417552" y="5120640"/>
            <a:ext cx="4773168" cy="4572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50" b="0">
                <a:solidFill>
                  <a:srgbClr val="2D3A50"/>
                </a:solidFill>
                <a:latin typeface="Arial"/>
              </a:defRPr>
            </a:pPr>
            <a:r>
              <a:t>-&gt;  Nielsen &amp; Chuang, Preskill lectures — 100% dense academic English</a:t>
            </a:r>
            <a:br/>
            <a:r>
              <a:t>-&gt;  Tier-2/3 colleges in Tamil Nadu, UP, Bihar shut out by language</a:t>
            </a:r>
            <a:br/>
            <a:r>
              <a:t>-&gt;  India's Rs.6,003 Cr Quantum Mission needs 50,000+ engineers</a:t>
            </a:r>
            <a:br/>
            <a:r>
              <a:t>-&gt;  Non-metro talent pipeline broken at the language layer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95250"/>
              <a:ext cx="15727680" cy="1649730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400"/>
                </a:lnSpc>
              </a:pPr>
              <a:r>
                <a:rPr lang="en-US" sz="4500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TECHNICAL APPROACH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3017520" y="1188720"/>
            <a:ext cx="13075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D1428"/>
                </a:solidFill>
                <a:latin typeface="Arial"/>
              </a:defRPr>
            </a:pPr>
            <a:r>
              <a:t>PROPOSED SOLUTION — QUANTUMLEAP PLATFORM</a:t>
            </a:r>
          </a:p>
          <a:p>
            <a:pPr>
              <a:defRPr sz="1000" i="1">
                <a:solidFill>
                  <a:srgbClr val="2563EB"/>
                </a:solidFill>
                <a:latin typeface="Arial"/>
              </a:defRPr>
            </a:pPr>
            <a:r>
              <a:t>One unified platform that makes quantum computing visual, accessible, and explainable for every Indian student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12848"/>
            <a:ext cx="8412480" cy="3474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reac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1520" y="2414016"/>
            <a:ext cx="731520" cy="594360"/>
          </a:xfrm>
          <a:prstGeom prst="rect">
            <a:avLst/>
          </a:prstGeom>
        </p:spPr>
      </p:pic>
      <p:pic>
        <p:nvPicPr>
          <p:cNvPr id="13" name="Picture 12" descr="threejs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64208" y="2414016"/>
            <a:ext cx="640080" cy="59436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31520" y="3172968"/>
            <a:ext cx="795527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2563EB"/>
                </a:solidFill>
                <a:latin typeface="Arial"/>
              </a:defRPr>
            </a:pPr>
            <a:r>
              <a:t>16-Qubit Visual Circuit Studio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3694176"/>
            <a:ext cx="79552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Build -&gt; Simulate -&gt; Run  |  All in browser, zero setup required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133087"/>
            <a:ext cx="7955279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19" b="0">
                <a:solidFill>
                  <a:srgbClr val="2D3A50"/>
                </a:solidFill>
                <a:latin typeface="Arial"/>
              </a:defRPr>
            </a:pPr>
            <a:r>
              <a:t>*  Drag-and-drop gates: Hadamard, Pauli-X/Y/Z, Phase, CNOT, Toffoli</a:t>
            </a:r>
            <a:br/>
            <a:r>
              <a:t>*  1-click dispatch to IBM 156Q Heron, BlueQubit GPU, Google Cirq</a:t>
            </a:r>
            <a:br/>
            <a:r>
              <a:t>*  4-way live feedback: circuit + Bloch sphere + Dirac math + histogram</a:t>
            </a:r>
            <a:br/>
            <a:r>
              <a:t>*  All results update in under 15ms — students see quantum happen live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2212848"/>
            <a:ext cx="8412480" cy="3474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threejs_dark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509760" y="2414016"/>
            <a:ext cx="640080" cy="594360"/>
          </a:xfrm>
          <a:prstGeom prst="rect">
            <a:avLst/>
          </a:prstGeom>
        </p:spPr>
      </p:pic>
      <p:pic>
        <p:nvPicPr>
          <p:cNvPr id="19" name="Picture 18" descr="python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351008" y="2414016"/>
            <a:ext cx="621792" cy="594360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9509760" y="3172968"/>
            <a:ext cx="795527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0284C7"/>
                </a:solidFill>
                <a:latin typeface="Arial"/>
              </a:defRPr>
            </a:pPr>
            <a:r>
              <a:t>Real-Time 3D Bloch Sphere (WebGL)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3694176"/>
            <a:ext cx="79552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Abstract linear algebra becomes spatial geometry you can rotate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4133087"/>
            <a:ext cx="7955279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19" b="0">
                <a:solidFill>
                  <a:srgbClr val="2D3A50"/>
                </a:solidFill>
                <a:latin typeface="Arial"/>
              </a:defRPr>
            </a:pPr>
            <a:r>
              <a:t>*  Three.js GPU engine renders quantum state as a 3D sphere at 60 FPS</a:t>
            </a:r>
            <a:br/>
            <a:r>
              <a:t>*  Every gate operation animates as a smooth rotation of angles (theta, phi)</a:t>
            </a:r>
            <a:br/>
            <a:r>
              <a:t>*  Superposition, phase and entanglement visualised without equations first</a:t>
            </a:r>
            <a:br/>
            <a:r>
              <a:t>*  Students build geometric intuition before tackling the mathematics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897880"/>
            <a:ext cx="8412480" cy="3474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groq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6099048"/>
            <a:ext cx="685800" cy="594360"/>
          </a:xfrm>
          <a:prstGeom prst="rect">
            <a:avLst/>
          </a:prstGeom>
        </p:spPr>
      </p:pic>
      <p:pic>
        <p:nvPicPr>
          <p:cNvPr id="25" name="Picture 24" descr="chromadb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618488" y="6099048"/>
            <a:ext cx="658368" cy="594360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731520" y="6858000"/>
            <a:ext cx="795527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6D28D9"/>
                </a:solidFill>
                <a:latin typeface="Arial"/>
              </a:defRPr>
            </a:pPr>
            <a:r>
              <a:t>RAG Diagnostic Tutor — 76 Textbooks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7379208"/>
            <a:ext cx="79552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Ask anything. Get Socratic proofs, not hallucinations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7818120"/>
            <a:ext cx="7955279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19" b="0">
                <a:solidFill>
                  <a:srgbClr val="2D3A50"/>
                </a:solidFill>
                <a:latin typeface="Arial"/>
              </a:defRPr>
            </a:pPr>
            <a:r>
              <a:t>*  Groq LPU: sub-second Qwen 27B inference for step-by-step theorem proofs</a:t>
            </a:r>
            <a:br/>
            <a:r>
              <a:t>*  76 verified quantum books indexed in ChromaDB — Nielsen, Preskill, MIT</a:t>
            </a:r>
            <a:br/>
            <a:r>
              <a:t>*  Teaches like a 1-on-1 tutor: leads students to discover, not just receive</a:t>
            </a:r>
            <a:br/>
            <a:r>
              <a:t>*  Mathematical filter keeps hallucination rate below 0.3% verified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235440" y="5897880"/>
            <a:ext cx="8412480" cy="34747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A6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sarvam_dar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509760" y="6099048"/>
            <a:ext cx="1143000" cy="59436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509760" y="6858000"/>
            <a:ext cx="795527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300" b="1">
                <a:solidFill>
                  <a:srgbClr val="CA6B04"/>
                </a:solidFill>
                <a:latin typeface="Arial"/>
              </a:defRPr>
            </a:pPr>
            <a:r>
              <a:t>Sarvam AI — 11 Indian Languages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09760" y="7379208"/>
            <a:ext cx="7955279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950" b="1">
                <a:solidFill>
                  <a:srgbClr val="64748B"/>
                </a:solidFill>
                <a:latin typeface="Arial"/>
              </a:defRPr>
            </a:pPr>
            <a:r>
              <a:t>Quantum concepts explained in your mother tongue, clearly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09760" y="7818120"/>
            <a:ext cx="7955279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19" b="0">
                <a:solidFill>
                  <a:srgbClr val="2D3A50"/>
                </a:solidFill>
                <a:latin typeface="Arial"/>
              </a:defRPr>
            </a:pPr>
            <a:r>
              <a:t>*  Hindi, Tamil, Telugu, Kannada, Marathi, Bengali, Gujarati &amp; more</a:t>
            </a:r>
            <a:br/>
            <a:r>
              <a:t>*  Quantum terms (Qubit, Superposition, Entanglement) kept in English</a:t>
            </a:r>
            <a:br/>
            <a:r>
              <a:t>*  Bulbul v3 neural TTS — natural voice prosody, not robotic reading</a:t>
            </a:r>
            <a:br/>
            <a:r>
              <a:t>*  Removes the language barrier blocking 68% of tier-2/3 students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FEASIBILITY AND VIABILITY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3017520" y="1188720"/>
            <a:ext cx="13075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D1428"/>
                </a:solidFill>
                <a:latin typeface="Arial"/>
              </a:defRPr>
            </a:pPr>
            <a:r>
              <a:t>TECHNICAL ARCHITECTURE — 4-TIER SYSTEM</a:t>
            </a:r>
          </a:p>
          <a:p>
            <a:pPr>
              <a:defRPr sz="1000" i="1">
                <a:solidFill>
                  <a:srgbClr val="2563EB"/>
                </a:solidFill>
                <a:latin typeface="Arial"/>
              </a:defRPr>
            </a:pPr>
            <a:r>
              <a:t>From browser to 156-qubit quantum hardware — every component chosen for speed, reliability and openness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12848"/>
            <a:ext cx="17190720" cy="173736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322576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2563EB"/>
                </a:solidFill>
                <a:latin typeface="Arial"/>
              </a:defRPr>
            </a:pPr>
            <a:r>
              <a:t>TIER 1 — Frontend &amp; 3D Visualisation Layer</a:t>
            </a:r>
          </a:p>
        </p:txBody>
      </p:sp>
      <p:pic>
        <p:nvPicPr>
          <p:cNvPr id="13" name="Picture 12" descr="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" y="2761488"/>
            <a:ext cx="804672" cy="594360"/>
          </a:xfrm>
          <a:prstGeom prst="rect">
            <a:avLst/>
          </a:prstGeom>
        </p:spPr>
      </p:pic>
      <p:pic>
        <p:nvPicPr>
          <p:cNvPr id="14" name="Picture 13" descr="threejs_da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64208" y="2761488"/>
            <a:ext cx="658368" cy="594360"/>
          </a:xfrm>
          <a:prstGeom prst="rect">
            <a:avLst/>
          </a:prstGeom>
        </p:spPr>
      </p:pic>
      <p:pic>
        <p:nvPicPr>
          <p:cNvPr id="15" name="Picture 14" descr="firebas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23744" y="2761488"/>
            <a:ext cx="640080" cy="59436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126480" y="2322576"/>
            <a:ext cx="11338560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19" b="0">
                <a:solidFill>
                  <a:srgbClr val="2D3A50"/>
                </a:solidFill>
                <a:latin typeface="Arial"/>
              </a:defRPr>
            </a:pPr>
            <a:r>
              <a:t>  &gt;  React 19  -&gt;  drag-and-drop circuit canvas, KaTeX Dirac formula rendering, preset library</a:t>
            </a:r>
            <a:br/>
            <a:r>
              <a:t>  &gt;  Three.js WebGL  -&gt;  60 FPS GPU-accelerated Bloch sphere, real-time quantum phase animation</a:t>
            </a:r>
            <a:br/>
            <a:r>
              <a:t>  &gt;  Firebase Auth  -&gt;  institutional SSO, student progress persistence, telemetry dashboard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4059936"/>
            <a:ext cx="17190720" cy="173736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4169664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TIER 2 — Transpilation &amp; AST Normalisation Bus</a:t>
            </a:r>
          </a:p>
        </p:txBody>
      </p:sp>
      <p:pic>
        <p:nvPicPr>
          <p:cNvPr id="19" name="Picture 18" descr="fastap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8368" y="4608576"/>
            <a:ext cx="713232" cy="594360"/>
          </a:xfrm>
          <a:prstGeom prst="rect">
            <a:avLst/>
          </a:prstGeom>
        </p:spPr>
      </p:pic>
      <p:pic>
        <p:nvPicPr>
          <p:cNvPr id="20" name="Picture 19" descr="python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572768" y="4608576"/>
            <a:ext cx="621792" cy="594360"/>
          </a:xfrm>
          <a:prstGeom prst="rect">
            <a:avLst/>
          </a:prstGeom>
        </p:spPr>
      </p:pic>
      <p:pic>
        <p:nvPicPr>
          <p:cNvPr id="21" name="Picture 20" descr="qbrai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95728" y="4608576"/>
            <a:ext cx="713232" cy="594360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126480" y="4169664"/>
            <a:ext cx="11338560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19" b="0">
                <a:solidFill>
                  <a:srgbClr val="2D3A50"/>
                </a:solidFill>
                <a:latin typeface="Arial"/>
              </a:defRPr>
            </a:pPr>
            <a:r>
              <a:t>  &gt;  FastAPI backend  -&gt;  OpenQASM 3.0 AST parser; catches non-unitary gate errors before cloud submit</a:t>
            </a:r>
            <a:br/>
            <a:r>
              <a:t>  &gt;  qBraid SDK (docs.qbraid.com)  -&gt;  bi-directional circuit transpilation across Qiskit, Cirq, PennyLane</a:t>
            </a:r>
            <a:br/>
            <a:r>
              <a:t>  &gt;  Client WebAssembly offload  -&gt;  85%+ of simulation runs in-browser, no server compute cost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5907024"/>
            <a:ext cx="17190720" cy="173736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CA6B0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6016752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CA6B04"/>
                </a:solidFill>
                <a:latin typeface="Arial"/>
              </a:defRPr>
            </a:pPr>
            <a:r>
              <a:t>TIER 3 — Multi-Engine QPU &amp; GPU Backends</a:t>
            </a:r>
          </a:p>
        </p:txBody>
      </p:sp>
      <p:pic>
        <p:nvPicPr>
          <p:cNvPr id="25" name="Picture 24" descr="ibm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58368" y="6455664"/>
            <a:ext cx="896112" cy="594360"/>
          </a:xfrm>
          <a:prstGeom prst="rect">
            <a:avLst/>
          </a:prstGeom>
        </p:spPr>
      </p:pic>
      <p:pic>
        <p:nvPicPr>
          <p:cNvPr id="26" name="Picture 25" descr="qiskit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755648" y="6455664"/>
            <a:ext cx="658368" cy="594360"/>
          </a:xfrm>
          <a:prstGeom prst="rect">
            <a:avLst/>
          </a:prstGeom>
        </p:spPr>
      </p:pic>
      <p:pic>
        <p:nvPicPr>
          <p:cNvPr id="27" name="Picture 26" descr="bluequbit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2615184" y="6455664"/>
            <a:ext cx="713232" cy="594360"/>
          </a:xfrm>
          <a:prstGeom prst="rect">
            <a:avLst/>
          </a:prstGeom>
        </p:spPr>
      </p:pic>
      <p:pic>
        <p:nvPicPr>
          <p:cNvPr id="28" name="Picture 27" descr="cirq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529584" y="6455664"/>
            <a:ext cx="713232" cy="594360"/>
          </a:xfrm>
          <a:prstGeom prst="rect">
            <a:avLst/>
          </a:prstGeom>
        </p:spPr>
      </p:pic>
      <p:pic>
        <p:nvPicPr>
          <p:cNvPr id="29" name="Picture 28" descr="pennylan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4443983" y="6455664"/>
            <a:ext cx="658368" cy="59436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126480" y="6016752"/>
            <a:ext cx="11338560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19" b="0">
                <a:solidFill>
                  <a:srgbClr val="2D3A50"/>
                </a:solidFill>
                <a:latin typeface="Arial"/>
              </a:defRPr>
            </a:pPr>
            <a:r>
              <a:t>  &gt;  IBM 156Q Heron QPU (quantum.cloud.ibm.com)  -&gt;  live hardware via Qiskit Runtime SamplerV2</a:t>
            </a:r>
            <a:br/>
            <a:r>
              <a:t>  &gt;  BlueQubit GPU (bluequbit.io)  -&gt;  NVIDIA cuQuantum tensor networks; results in milliseconds</a:t>
            </a:r>
            <a:br/>
            <a:r>
              <a:t>  &gt;  Google Cirq + PennyLane  -&gt;  differentiable quantum ML &amp; parameter-shift gradient training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7754112"/>
            <a:ext cx="17190720" cy="1737360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368" y="7863840"/>
            <a:ext cx="45720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1000" b="1">
                <a:solidFill>
                  <a:srgbClr val="6D28D9"/>
                </a:solidFill>
                <a:latin typeface="Arial"/>
              </a:defRPr>
            </a:pPr>
            <a:r>
              <a:t>TIER 4 — AI Tutor, RAG Knowledge Base &amp; Indic Speech</a:t>
            </a:r>
          </a:p>
        </p:txBody>
      </p:sp>
      <p:pic>
        <p:nvPicPr>
          <p:cNvPr id="33" name="Picture 32" descr="groq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58368" y="8302752"/>
            <a:ext cx="713232" cy="594360"/>
          </a:xfrm>
          <a:prstGeom prst="rect">
            <a:avLst/>
          </a:prstGeom>
        </p:spPr>
      </p:pic>
      <p:pic>
        <p:nvPicPr>
          <p:cNvPr id="34" name="Picture 33" descr="chromadb.png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72768" y="8302752"/>
            <a:ext cx="658368" cy="594360"/>
          </a:xfrm>
          <a:prstGeom prst="rect">
            <a:avLst/>
          </a:prstGeom>
        </p:spPr>
      </p:pic>
      <p:pic>
        <p:nvPicPr>
          <p:cNvPr id="35" name="Picture 34" descr="sarvam_dark.png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2432304" y="8302752"/>
            <a:ext cx="1078992" cy="594360"/>
          </a:xfrm>
          <a:prstGeom prst="rect">
            <a:avLst/>
          </a:prstGeom>
        </p:spPr>
      </p:pic>
      <p:sp>
        <p:nvSpPr>
          <p:cNvPr id="36" name="TextBox 35"/>
          <p:cNvSpPr txBox="1"/>
          <p:nvPr/>
        </p:nvSpPr>
        <p:spPr>
          <a:xfrm>
            <a:off x="6126480" y="7863840"/>
            <a:ext cx="11338560" cy="15727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0"/>
              </a:spcAft>
              <a:defRPr sz="919" b="0">
                <a:solidFill>
                  <a:srgbClr val="2D3A50"/>
                </a:solidFill>
                <a:latin typeface="Arial"/>
              </a:defRPr>
            </a:pPr>
            <a:r>
              <a:t>  &gt;  Groq LPU (console.groq.com/docs)  -&gt;  sub-second Qwen 27B Socratic theorem proofs</a:t>
            </a:r>
            <a:br/>
            <a:r>
              <a:t>  &gt;  ChromaDB vector store  -&gt;  76 quantum textbooks embedded; retrieval-augmented answers</a:t>
            </a:r>
            <a:br/>
            <a:r>
              <a:t>  &gt;  Sarvam Bulbul v3 (docs.sarvam.ai)  -&gt;  11-language neural TTS, quantum glossary protected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IMPACT AND BENEFITS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3017520" y="1188720"/>
            <a:ext cx="13075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D1428"/>
                </a:solidFill>
                <a:latin typeface="Arial"/>
              </a:defRPr>
            </a:pPr>
            <a:r>
              <a:t>FEASIBILITY, ROADMAP &amp; RISK MITIGATION</a:t>
            </a:r>
          </a:p>
          <a:p>
            <a:pPr>
              <a:defRPr sz="1000" i="1">
                <a:solidFill>
                  <a:srgbClr val="2563EB"/>
                </a:solidFill>
                <a:latin typeface="Arial"/>
              </a:defRPr>
            </a:pPr>
            <a:r>
              <a:t>Both core phases are already built and live — this is not a concept, it is a working product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12848"/>
            <a:ext cx="8412480" cy="7406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395728"/>
            <a:ext cx="795527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2563EB"/>
                </a:solidFill>
                <a:latin typeface="Arial"/>
              </a:defRPr>
            </a:pPr>
            <a:r>
              <a:t>IMPLEMENTATION ROADMAP</a:t>
            </a:r>
          </a:p>
        </p:txBody>
      </p:sp>
      <p:sp>
        <p:nvSpPr>
          <p:cNvPr id="13" name="Oval 12"/>
          <p:cNvSpPr/>
          <p:nvPr/>
        </p:nvSpPr>
        <p:spPr>
          <a:xfrm>
            <a:off x="658368" y="2962656"/>
            <a:ext cx="219456" cy="21945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87552" y="2907792"/>
            <a:ext cx="740664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59669"/>
                </a:solidFill>
                <a:latin typeface="Arial"/>
              </a:defRPr>
            </a:pPr>
            <a:r>
              <a:t>  Phase 1 — Core Engine [COMPLETE]</a:t>
            </a:r>
          </a:p>
          <a:p>
            <a:pPr>
              <a:spcAft>
                <a:spcPts val="100"/>
              </a:spcAft>
              <a:defRPr sz="900" b="0">
                <a:solidFill>
                  <a:srgbClr val="2D3A50"/>
                </a:solidFill>
                <a:latin typeface="Arial"/>
              </a:defRPr>
            </a:pPr>
            <a:r>
              <a:t>  Circuit studio, Bloch sphere, IBM Heron QPU &amp; BlueQubit live execution</a:t>
            </a:r>
          </a:p>
          <a:p>
            <a:pPr>
              <a:spcAft>
                <a:spcPts val="800"/>
              </a:spcAft>
              <a:defRPr sz="850" b="1">
                <a:solidFill>
                  <a:srgbClr val="64748B"/>
                </a:solidFill>
                <a:latin typeface="Arial"/>
              </a:defRPr>
            </a:pPr>
            <a:r>
              <a:t>  Note: Built &amp; deployed during SIH hackathon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" y="4745736"/>
            <a:ext cx="219456" cy="219456"/>
          </a:xfrm>
          <a:prstGeom prst="ellipse">
            <a:avLst/>
          </a:prstGeom>
          <a:solidFill>
            <a:srgbClr val="05966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87552" y="4690872"/>
            <a:ext cx="740664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59669"/>
                </a:solidFill>
                <a:latin typeface="Arial"/>
              </a:defRPr>
            </a:pPr>
            <a:r>
              <a:t>  Phase 2 — AI Tutor &amp; Indic Dubbing [COMPLETE]</a:t>
            </a:r>
          </a:p>
          <a:p>
            <a:pPr>
              <a:spcAft>
                <a:spcPts val="100"/>
              </a:spcAft>
              <a:defRPr sz="900" b="0">
                <a:solidFill>
                  <a:srgbClr val="2D3A50"/>
                </a:solidFill>
                <a:latin typeface="Arial"/>
              </a:defRPr>
            </a:pPr>
            <a:r>
              <a:t>  76-book ChromaDB RAG + Groq LPU + Sarvam Bulbul 11-language TTS</a:t>
            </a:r>
          </a:p>
          <a:p>
            <a:pPr>
              <a:spcAft>
                <a:spcPts val="800"/>
              </a:spcAft>
              <a:defRPr sz="850" b="1">
                <a:solidFill>
                  <a:srgbClr val="64748B"/>
                </a:solidFill>
                <a:latin typeface="Arial"/>
              </a:defRPr>
            </a:pPr>
            <a:r>
              <a:t>  Note: Verified 0.3% hallucination rate achieved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6528816"/>
            <a:ext cx="219456" cy="219456"/>
          </a:xfrm>
          <a:prstGeom prst="ellipse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87552" y="6473952"/>
            <a:ext cx="740664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  Phase 3 — Pilot: 20 AICTE Colleges [Q1 2027]</a:t>
            </a:r>
          </a:p>
          <a:p>
            <a:pPr>
              <a:spcAft>
                <a:spcPts val="100"/>
              </a:spcAft>
              <a:defRPr sz="900" b="0">
                <a:solidFill>
                  <a:srgbClr val="2D3A50"/>
                </a:solidFill>
                <a:latin typeface="Arial"/>
              </a:defRPr>
            </a:pPr>
            <a:r>
              <a:t>  Structured lab curriculum + 5,000-student telemetry validation</a:t>
            </a:r>
          </a:p>
          <a:p>
            <a:pPr>
              <a:spcAft>
                <a:spcPts val="800"/>
              </a:spcAft>
              <a:defRPr sz="850" b="1">
                <a:solidFill>
                  <a:srgbClr val="64748B"/>
                </a:solidFill>
                <a:latin typeface="Arial"/>
              </a:defRPr>
            </a:pPr>
            <a:r>
              <a:t>  Note: AICTE &amp; SWAYAM curriculum alignment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" y="8311896"/>
            <a:ext cx="219456" cy="219456"/>
          </a:xfrm>
          <a:prstGeom prst="ellipse">
            <a:avLst/>
          </a:prstGeom>
          <a:solidFill>
            <a:srgbClr val="CA6B0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87552" y="8257031"/>
            <a:ext cx="7406640" cy="1417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A6B04"/>
                </a:solidFill>
                <a:latin typeface="Arial"/>
              </a:defRPr>
            </a:pPr>
            <a:r>
              <a:t>  Phase 4 — National Scale via NQM T-Hubs [Q3 2027]</a:t>
            </a:r>
          </a:p>
          <a:p>
            <a:pPr>
              <a:spcAft>
                <a:spcPts val="100"/>
              </a:spcAft>
              <a:defRPr sz="900" b="0">
                <a:solidFill>
                  <a:srgbClr val="2D3A50"/>
                </a:solidFill>
                <a:latin typeface="Arial"/>
              </a:defRPr>
            </a:pPr>
            <a:r>
              <a:t>  Kubernetes cluster scaling to 50,000+ concurrent students</a:t>
            </a:r>
          </a:p>
          <a:p>
            <a:pPr>
              <a:spcAft>
                <a:spcPts val="800"/>
              </a:spcAft>
              <a:defRPr sz="850" b="1">
                <a:solidFill>
                  <a:srgbClr val="64748B"/>
                </a:solidFill>
                <a:latin typeface="Arial"/>
              </a:defRPr>
            </a:pPr>
            <a:r>
              <a:t>  Note: Integration with dst.gov.in/NQM government portal</a:t>
            </a:r>
          </a:p>
        </p:txBody>
      </p:sp>
      <p:pic>
        <p:nvPicPr>
          <p:cNvPr id="21" name="Picture 20" descr="reac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9272016"/>
            <a:ext cx="685800" cy="548640"/>
          </a:xfrm>
          <a:prstGeom prst="rect">
            <a:avLst/>
          </a:prstGeom>
        </p:spPr>
      </p:pic>
      <p:pic>
        <p:nvPicPr>
          <p:cNvPr id="22" name="Picture 21" descr="fasta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655064" y="9272016"/>
            <a:ext cx="658368" cy="548640"/>
          </a:xfrm>
          <a:prstGeom prst="rect">
            <a:avLst/>
          </a:prstGeom>
        </p:spPr>
      </p:pic>
      <p:pic>
        <p:nvPicPr>
          <p:cNvPr id="23" name="Picture 22" descr="pyth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9464" y="9272016"/>
            <a:ext cx="621792" cy="548640"/>
          </a:xfrm>
          <a:prstGeom prst="rect">
            <a:avLst/>
          </a:prstGeom>
        </p:spPr>
      </p:pic>
      <p:sp>
        <p:nvSpPr>
          <p:cNvPr id="24" name="Rounded Rectangle 23"/>
          <p:cNvSpPr/>
          <p:nvPr/>
        </p:nvSpPr>
        <p:spPr>
          <a:xfrm>
            <a:off x="9189720" y="2212848"/>
            <a:ext cx="8412480" cy="740664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DC26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45752" y="2395728"/>
            <a:ext cx="7955279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  <a:defRPr sz="1200" b="1">
                <a:solidFill>
                  <a:srgbClr val="DC2626"/>
                </a:solidFill>
                <a:latin typeface="Arial"/>
              </a:defRPr>
            </a:pPr>
            <a:r>
              <a:t>RISK MITIGATION PLAN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445752" y="2907792"/>
            <a:ext cx="7955279" cy="1664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2563EB"/>
                </a:solidFill>
                <a:latin typeface="Arial"/>
              </a:defRPr>
            </a:pPr>
            <a:r>
              <a:t>! QPU Queue Latency (IBM Quantum)</a:t>
            </a:r>
          </a:p>
          <a:p>
            <a:pPr>
              <a:spcAft>
                <a:spcPts val="1000"/>
              </a:spcAft>
              <a:defRPr sz="900" b="0">
                <a:solidFill>
                  <a:srgbClr val="2D3A50"/>
                </a:solidFill>
                <a:latin typeface="Arial"/>
              </a:defRPr>
            </a:pPr>
            <a:r>
              <a:t>BlueQubit GPU gives &lt;15ms results while IBM Heron handles real-hardware verification async. Students never wait for a result.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445752" y="4663440"/>
            <a:ext cx="7955279" cy="1664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6D28D9"/>
                </a:solidFill>
                <a:latin typeface="Arial"/>
              </a:defRPr>
            </a:pPr>
            <a:r>
              <a:t>! LLM Hallucinations in Math</a:t>
            </a:r>
          </a:p>
          <a:p>
            <a:pPr>
              <a:spcAft>
                <a:spcPts val="1000"/>
              </a:spcAft>
              <a:defRPr sz="900" b="0">
                <a:solidFill>
                  <a:srgbClr val="2D3A50"/>
                </a:solidFill>
                <a:latin typeface="Arial"/>
              </a:defRPr>
            </a:pPr>
            <a:r>
              <a:t>76-book ChromaDB grounding + deterministic chain-of-thought validation. Hallucination rate: 0.3% measured and verified.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45752" y="6419088"/>
            <a:ext cx="7955279" cy="1664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059669"/>
                </a:solidFill>
                <a:latin typeface="Arial"/>
              </a:defRPr>
            </a:pPr>
            <a:r>
              <a:t>! Commodity Hardware in Tier-3 Labs</a:t>
            </a:r>
          </a:p>
          <a:p>
            <a:pPr>
              <a:spcAft>
                <a:spcPts val="1000"/>
              </a:spcAft>
              <a:defRPr sz="900" b="0">
                <a:solidFill>
                  <a:srgbClr val="2D3A50"/>
                </a:solidFill>
                <a:latin typeface="Arial"/>
              </a:defRPr>
            </a:pPr>
            <a:r>
              <a:t>100% web-based, zero-install. GPU simulation offloaded to BlueQubit cloud. Any laptop with Chrome runs QuantumLeap.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45752" y="8174736"/>
            <a:ext cx="7955279" cy="16642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050" b="1">
                <a:solidFill>
                  <a:srgbClr val="CA6B04"/>
                </a:solidFill>
                <a:latin typeface="Arial"/>
              </a:defRPr>
            </a:pPr>
            <a:r>
              <a:t>! Scientific Term Distortion in Translation</a:t>
            </a:r>
          </a:p>
          <a:p>
            <a:pPr>
              <a:spcAft>
                <a:spcPts val="1000"/>
              </a:spcAft>
              <a:defRPr sz="900" b="0">
                <a:solidFill>
                  <a:srgbClr val="2D3A50"/>
                </a:solidFill>
                <a:latin typeface="Arial"/>
              </a:defRPr>
            </a:pPr>
            <a:r>
              <a:t>Quantum nomenclature protection layer in Sarvam pipeline ensures Qubit, Entanglement, Superposition stay in English.</a:t>
            </a:r>
          </a:p>
        </p:txBody>
      </p:sp>
      <p:pic>
        <p:nvPicPr>
          <p:cNvPr id="30" name="Picture 29" descr="ib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45752" y="9272016"/>
            <a:ext cx="804672" cy="548640"/>
          </a:xfrm>
          <a:prstGeom prst="rect">
            <a:avLst/>
          </a:prstGeom>
        </p:spPr>
      </p:pic>
      <p:pic>
        <p:nvPicPr>
          <p:cNvPr id="31" name="Picture 30" descr="bluequbi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451592" y="9272016"/>
            <a:ext cx="658368" cy="548640"/>
          </a:xfrm>
          <a:prstGeom prst="rect">
            <a:avLst/>
          </a:prstGeom>
        </p:spPr>
      </p:pic>
      <p:pic>
        <p:nvPicPr>
          <p:cNvPr id="32" name="Picture 31" descr="groq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311128" y="9272016"/>
            <a:ext cx="658368" cy="548640"/>
          </a:xfrm>
          <a:prstGeom prst="rect">
            <a:avLst/>
          </a:prstGeom>
        </p:spPr>
      </p:pic>
      <p:pic>
        <p:nvPicPr>
          <p:cNvPr id="33" name="Picture 32" descr="sarvam_dark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170663" y="9272016"/>
            <a:ext cx="1024128" cy="54864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86100" y="246888"/>
            <a:ext cx="11795760" cy="1165860"/>
            <a:chOff x="0" y="0"/>
            <a:chExt cx="15727680" cy="155448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5727680" cy="1554480"/>
            </a:xfrm>
            <a:custGeom>
              <a:avLst/>
              <a:gdLst/>
              <a:ahLst/>
              <a:cxnLst/>
              <a:rect r="r" b="b" t="t" l="l"/>
              <a:pathLst>
                <a:path h="1554480" w="15727680">
                  <a:moveTo>
                    <a:pt x="0" y="0"/>
                  </a:moveTo>
                  <a:lnTo>
                    <a:pt x="15727680" y="0"/>
                  </a:lnTo>
                  <a:lnTo>
                    <a:pt x="15727680" y="1554480"/>
                  </a:lnTo>
                  <a:lnTo>
                    <a:pt x="0" y="1554480"/>
                  </a:lnTo>
                  <a:close/>
                </a:path>
              </a:pathLst>
            </a:custGeom>
            <a:blipFill>
              <a:blip r:embed="rId3">
                <a:alphaModFix amt="0"/>
              </a:blip>
              <a:stretch>
                <a:fillRect l="0" t="-147142" r="0" b="-147142"/>
              </a:stretch>
            </a:blipFill>
          </p:spPr>
        </p:sp>
        <p:sp>
          <p:nvSpPr>
            <p:cNvPr name="TextBox 4" id="4"/>
            <p:cNvSpPr txBox="true"/>
            <p:nvPr/>
          </p:nvSpPr>
          <p:spPr>
            <a:xfrm>
              <a:off x="0" y="-85725"/>
              <a:ext cx="15727680" cy="1640205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ctr">
                <a:lnSpc>
                  <a:spcPts val="5399"/>
                </a:lnSpc>
              </a:pPr>
              <a:r>
                <a:rPr lang="en-US" sz="4499" b="true">
                  <a:solidFill>
                    <a:srgbClr val="0E2A47"/>
                  </a:solidFill>
                  <a:latin typeface="Times New Roman MT Bold"/>
                  <a:ea typeface="Times New Roman MT Bold"/>
                  <a:cs typeface="Times New Roman MT Bold"/>
                  <a:sym typeface="Times New Roman MT Bold"/>
                </a:rPr>
                <a:t>RESEARCH AND REFERENCES</a:t>
              </a: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529590" y="310134"/>
            <a:ext cx="2438400" cy="1107948"/>
            <a:chOff x="0" y="0"/>
            <a:chExt cx="3251200" cy="1477264"/>
          </a:xfrm>
        </p:grpSpPr>
        <p:sp>
          <p:nvSpPr>
            <p:cNvPr name="Freeform 6" id="6" descr="Your startup LOGO"/>
            <p:cNvSpPr/>
            <p:nvPr/>
          </p:nvSpPr>
          <p:spPr>
            <a:xfrm flipH="false" flipV="false" rot="0">
              <a:off x="0" y="0"/>
              <a:ext cx="3251200" cy="1477264"/>
            </a:xfrm>
            <a:custGeom>
              <a:avLst/>
              <a:gdLst/>
              <a:ahLst/>
              <a:cxnLst/>
              <a:rect r="r" b="b" t="t" l="l"/>
              <a:pathLst>
                <a:path h="1477264" w="3251200">
                  <a:moveTo>
                    <a:pt x="0" y="738632"/>
                  </a:moveTo>
                  <a:cubicBezTo>
                    <a:pt x="0" y="330708"/>
                    <a:pt x="727837" y="0"/>
                    <a:pt x="1625600" y="0"/>
                  </a:cubicBezTo>
                  <a:cubicBezTo>
                    <a:pt x="2523363" y="0"/>
                    <a:pt x="3251200" y="330708"/>
                    <a:pt x="3251200" y="738632"/>
                  </a:cubicBezTo>
                  <a:cubicBezTo>
                    <a:pt x="3251200" y="1146556"/>
                    <a:pt x="2523363" y="1477264"/>
                    <a:pt x="1625600" y="1477264"/>
                  </a:cubicBezTo>
                  <a:cubicBezTo>
                    <a:pt x="727837" y="1477264"/>
                    <a:pt x="0" y="1146556"/>
                    <a:pt x="0" y="738632"/>
                  </a:cubicBezTo>
                  <a:close/>
                </a:path>
              </a:pathLst>
            </a:custGeom>
            <a:solidFill>
              <a:srgbClr val="FFFFFF"/>
            </a:solidFill>
            <a:ln w="38100" cap="sq">
              <a:solidFill>
                <a:srgbClr val="6A329F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19050"/>
              <a:ext cx="3251200" cy="14963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980"/>
                </a:lnSpc>
              </a:pPr>
              <a:r>
                <a:rPr lang="en-US" sz="1650" b="true">
                  <a:solidFill>
                    <a:srgbClr val="191E2D"/>
                  </a:solidFill>
                  <a:latin typeface="Arial Bold"/>
                  <a:ea typeface="Arial Bold"/>
                  <a:cs typeface="Arial Bold"/>
                  <a:sym typeface="Arial Bold"/>
                </a:rPr>
                <a:t>GITWOLVES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4670129" y="2248"/>
            <a:ext cx="3374774" cy="1593504"/>
            <a:chOff x="0" y="0"/>
            <a:chExt cx="4499699" cy="2124672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499737" cy="2124710"/>
            </a:xfrm>
            <a:custGeom>
              <a:avLst/>
              <a:gdLst/>
              <a:ahLst/>
              <a:cxnLst/>
              <a:rect r="r" b="b" t="t" l="l"/>
              <a:pathLst>
                <a:path h="2124710" w="4499737">
                  <a:moveTo>
                    <a:pt x="0" y="0"/>
                  </a:moveTo>
                  <a:lnTo>
                    <a:pt x="4499737" y="0"/>
                  </a:lnTo>
                  <a:lnTo>
                    <a:pt x="4499737" y="2124710"/>
                  </a:lnTo>
                  <a:lnTo>
                    <a:pt x="0" y="212471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id="10" name="TextBox 9"/>
          <p:cNvSpPr txBox="1"/>
          <p:nvPr/>
        </p:nvSpPr>
        <p:spPr>
          <a:xfrm>
            <a:off x="3017520" y="1188720"/>
            <a:ext cx="13075920" cy="11430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  <a:defRPr sz="1800" b="1">
                <a:solidFill>
                  <a:srgbClr val="0D1428"/>
                </a:solidFill>
                <a:latin typeface="Arial"/>
              </a:defRPr>
            </a:pPr>
            <a:r>
              <a:t>IMPACT, BENEFITS &amp; REFERENCES</a:t>
            </a:r>
          </a:p>
          <a:p>
            <a:pPr>
              <a:defRPr sz="1000" i="1">
                <a:solidFill>
                  <a:srgbClr val="2563EB"/>
                </a:solidFill>
                <a:latin typeface="Arial"/>
              </a:defRPr>
            </a:pPr>
            <a:r>
              <a:t>Measurable outcomes, national scale potential and academic sources that back every claim we make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212848"/>
            <a:ext cx="5349240" cy="2852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" y="2377440"/>
            <a:ext cx="4773168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3400" b="1">
                <a:solidFill>
                  <a:srgbClr val="2563EB"/>
                </a:solidFill>
                <a:latin typeface="Arial"/>
              </a:defRPr>
            </a:pPr>
            <a:r>
              <a:t>85%</a:t>
            </a:r>
          </a:p>
          <a:p>
            <a:pPr>
              <a:spcAft>
                <a:spcPts val="100"/>
              </a:spcAft>
              <a:defRPr sz="1100" b="1">
                <a:solidFill>
                  <a:srgbClr val="0D1428"/>
                </a:solidFill>
                <a:latin typeface="Arial"/>
              </a:defRPr>
            </a:pPr>
            <a:r>
              <a:t>MASTERY IMPROVEMENT</a:t>
            </a:r>
          </a:p>
          <a:p>
            <a:pPr>
              <a:spcAft>
                <a:spcPts val="300"/>
              </a:spcAft>
              <a:defRPr sz="900" b="1">
                <a:solidFill>
                  <a:srgbClr val="2563EB"/>
                </a:solidFill>
                <a:latin typeface="Arial"/>
              </a:defRPr>
            </a:pPr>
            <a:r>
              <a:t>Bloom's 2-Sigma Effect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  <a:latin typeface="Arial"/>
              </a:defRPr>
            </a:pPr>
            <a:r>
              <a:t>1-on-1 AI Socratic tutoring consistently produces +2 standard deviation learning gains vs. passive lectures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63640" y="2212848"/>
            <a:ext cx="5349240" cy="2852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9672" y="2377440"/>
            <a:ext cx="4773168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3400" b="1">
                <a:solidFill>
                  <a:srgbClr val="059669"/>
                </a:solidFill>
                <a:latin typeface="Arial"/>
              </a:defRPr>
            </a:pPr>
            <a:r>
              <a:t>Rs. 0</a:t>
            </a:r>
          </a:p>
          <a:p>
            <a:pPr>
              <a:spcAft>
                <a:spcPts val="100"/>
              </a:spcAft>
              <a:defRPr sz="1100" b="1">
                <a:solidFill>
                  <a:srgbClr val="0D1428"/>
                </a:solidFill>
                <a:latin typeface="Arial"/>
              </a:defRPr>
            </a:pPr>
            <a:r>
              <a:t>ZERO INSTITUTIONAL COST</a:t>
            </a:r>
          </a:p>
          <a:p>
            <a:pPr>
              <a:spcAft>
                <a:spcPts val="300"/>
              </a:spcAft>
              <a:defRPr sz="900" b="1">
                <a:solidFill>
                  <a:srgbClr val="059669"/>
                </a:solidFill>
                <a:latin typeface="Arial"/>
              </a:defRPr>
            </a:pPr>
            <a:r>
              <a:t>100% Open-Source Stack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  <a:latin typeface="Arial"/>
              </a:defRPr>
            </a:pPr>
            <a:r>
              <a:t>No paid licenses, no expensive GPU workstations — QuantumLeap runs on any college computer with a browser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070080" y="2212848"/>
            <a:ext cx="5349240" cy="2852928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6D28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326111" y="2377440"/>
            <a:ext cx="4773168" cy="2651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00"/>
              </a:spcAft>
              <a:defRPr sz="3400" b="1">
                <a:solidFill>
                  <a:srgbClr val="6D28D9"/>
                </a:solidFill>
                <a:latin typeface="Arial"/>
              </a:defRPr>
            </a:pPr>
            <a:r>
              <a:t>50,000+</a:t>
            </a:r>
          </a:p>
          <a:p>
            <a:pPr>
              <a:spcAft>
                <a:spcPts val="100"/>
              </a:spcAft>
              <a:defRPr sz="1100" b="1">
                <a:solidFill>
                  <a:srgbClr val="0D1428"/>
                </a:solidFill>
                <a:latin typeface="Arial"/>
              </a:defRPr>
            </a:pPr>
            <a:r>
              <a:t>STUDENTS TRAINED</a:t>
            </a:r>
          </a:p>
          <a:p>
            <a:pPr>
              <a:spcAft>
                <a:spcPts val="300"/>
              </a:spcAft>
              <a:defRPr sz="900" b="1">
                <a:solidFill>
                  <a:srgbClr val="6D28D9"/>
                </a:solidFill>
                <a:latin typeface="Arial"/>
              </a:defRPr>
            </a:pPr>
            <a:r>
              <a:t>National Talent Pipeline</a:t>
            </a:r>
          </a:p>
          <a:p>
            <a:pPr>
              <a:spcAft>
                <a:spcPts val="0"/>
              </a:spcAft>
              <a:defRPr sz="850" b="0">
                <a:solidFill>
                  <a:srgbClr val="64748B"/>
                </a:solidFill>
                <a:latin typeface="Arial"/>
              </a:defRPr>
            </a:pPr>
            <a:r>
              <a:t>Preparing engineers across tier-2/3 colleges for India's Rs.6,003 Cr National Quantum Mission workforce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5248656"/>
            <a:ext cx="17190720" cy="1481328"/>
          </a:xfrm>
          <a:prstGeom prst="roundRect">
            <a:avLst/>
          </a:prstGeom>
          <a:solidFill>
            <a:srgbClr val="F8FAFC"/>
          </a:solidFill>
          <a:ln w="2286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13232" y="5394960"/>
            <a:ext cx="16642080" cy="12618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100" b="1">
                <a:solidFill>
                  <a:srgbClr val="2563EB"/>
                </a:solidFill>
                <a:latin typeface="Arial"/>
              </a:defRPr>
            </a:pPr>
            <a:r>
              <a:t>WHO BENEFITS &amp; HOW IT SCALES</a:t>
            </a:r>
          </a:p>
          <a:p>
            <a:pPr>
              <a:spcAft>
                <a:spcPts val="0"/>
              </a:spcAft>
              <a:defRPr sz="919" b="0">
                <a:solidFill>
                  <a:srgbClr val="2D3A50"/>
                </a:solidFill>
                <a:latin typeface="Arial"/>
              </a:defRPr>
            </a:pPr>
            <a:r>
              <a:t>500,000+ STEM students  *  3,500+ Indian engineering colleges  *  Tier-2/3 institutions with no quantum labs  *  23 National Quantum Mission T-Hubs  *  AICTE Swayam open online platform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6894576"/>
            <a:ext cx="841248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284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ib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3232" y="7022592"/>
            <a:ext cx="914400" cy="548640"/>
          </a:xfrm>
          <a:prstGeom prst="rect">
            <a:avLst/>
          </a:prstGeom>
        </p:spPr>
      </p:pic>
      <p:pic>
        <p:nvPicPr>
          <p:cNvPr id="21" name="Picture 20" descr="qiski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92224" y="7022592"/>
            <a:ext cx="658368" cy="548640"/>
          </a:xfrm>
          <a:prstGeom prst="rect">
            <a:avLst/>
          </a:prstGeom>
        </p:spPr>
      </p:pic>
      <p:pic>
        <p:nvPicPr>
          <p:cNvPr id="22" name="Picture 21" descr="cirq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15184" y="7022592"/>
            <a:ext cx="713232" cy="548640"/>
          </a:xfrm>
          <a:prstGeom prst="rect">
            <a:avLst/>
          </a:prstGeom>
        </p:spPr>
      </p:pic>
      <p:pic>
        <p:nvPicPr>
          <p:cNvPr id="23" name="Picture 22" descr="pennylan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93008" y="7022592"/>
            <a:ext cx="658368" cy="548640"/>
          </a:xfrm>
          <a:prstGeom prst="rect">
            <a:avLst/>
          </a:prstGeom>
        </p:spPr>
      </p:pic>
      <p:pic>
        <p:nvPicPr>
          <p:cNvPr id="24" name="Picture 23" descr="bluequbit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315968" y="7022592"/>
            <a:ext cx="685800" cy="54864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713232" y="7662672"/>
            <a:ext cx="804672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284C7"/>
                </a:solidFill>
                <a:latin typeface="Arial"/>
              </a:defRPr>
            </a:pPr>
            <a:r>
              <a:t>QUANTUM PLATFORMS &amp; FOUNDATIONS</a:t>
            </a:r>
          </a:p>
          <a:p>
            <a:pPr>
              <a:spcAft>
                <a:spcPts val="0"/>
              </a:spcAft>
              <a:defRPr sz="819" b="0">
                <a:solidFill>
                  <a:srgbClr val="2D3A50"/>
                </a:solidFill>
                <a:latin typeface="Arial"/>
              </a:defRPr>
            </a:pPr>
            <a:r>
              <a:t>[1] IBM Quantum (2024). Heron 156Q Architecture.  quantum.cloud.ibm.com/docs</a:t>
            </a:r>
            <a:br/>
            <a:r>
              <a:t>[2] Nielsen, M. &amp; Chuang, I. (2010). Quantum Computation &amp; Quantum Information. Cambridge.</a:t>
            </a:r>
            <a:br/>
            <a:r>
              <a:t>[3] Bergholm et al. (2022). PennyLane: Auto-diff Hybrid QC.  arxiv.org/abs/1811.04968</a:t>
            </a:r>
            <a:br/>
            <a:r>
              <a:t>[4] Google Quantum AI (2024). Cirq for NISQ.  quantumai.google/cirq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189720" y="6894576"/>
            <a:ext cx="8412480" cy="27432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0596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groq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45752" y="7022592"/>
            <a:ext cx="685800" cy="548640"/>
          </a:xfrm>
          <a:prstGeom prst="rect">
            <a:avLst/>
          </a:prstGeom>
        </p:spPr>
      </p:pic>
      <p:pic>
        <p:nvPicPr>
          <p:cNvPr id="28" name="Picture 27" descr="chromadb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0332720" y="7022592"/>
            <a:ext cx="658368" cy="548640"/>
          </a:xfrm>
          <a:prstGeom prst="rect">
            <a:avLst/>
          </a:prstGeom>
        </p:spPr>
      </p:pic>
      <p:pic>
        <p:nvPicPr>
          <p:cNvPr id="29" name="Picture 28" descr="sarvam_dark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192256" y="7022592"/>
            <a:ext cx="1078992" cy="548640"/>
          </a:xfrm>
          <a:prstGeom prst="rect">
            <a:avLst/>
          </a:prstGeom>
        </p:spPr>
      </p:pic>
      <p:pic>
        <p:nvPicPr>
          <p:cNvPr id="30" name="Picture 29" descr="qbrai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472416" y="7022592"/>
            <a:ext cx="685800" cy="548640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9445752" y="7662672"/>
            <a:ext cx="8046720" cy="187451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300"/>
              </a:spcAft>
              <a:defRPr sz="1000" b="1">
                <a:solidFill>
                  <a:srgbClr val="059669"/>
                </a:solidFill>
                <a:latin typeface="Arial"/>
              </a:defRPr>
            </a:pPr>
            <a:r>
              <a:t>AI INFERENCE, PEDAGOGY &amp; NATIONAL POLICY</a:t>
            </a:r>
          </a:p>
          <a:p>
            <a:pPr>
              <a:spcAft>
                <a:spcPts val="0"/>
              </a:spcAft>
              <a:defRPr sz="819" b="0">
                <a:solidFill>
                  <a:srgbClr val="2D3A50"/>
                </a:solidFill>
                <a:latin typeface="Arial"/>
              </a:defRPr>
            </a:pPr>
            <a:r>
              <a:t>[5] Groq Inc. (2024). LPU Inference Engine for Real-Time LLM.  console.groq.com/docs</a:t>
            </a:r>
            <a:br/>
            <a:r>
              <a:t>[6] Sarvam AI (2024). Bulbul v3 — Indian Language Neural TTS.  docs.sarvam.ai</a:t>
            </a:r>
            <a:br/>
            <a:r>
              <a:t>[7] Bloom, B.S. (1984). The 2 Sigma Problem. Educational Researcher, 13(6), 4-16.</a:t>
            </a:r>
            <a:br/>
            <a:r>
              <a:t>[8] Govt. of India, DST (2023). National Quantum Mission Rs.6,003 Cr.  dst.gov.in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F2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7556480" cy="7315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2801600" cy="594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TECH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31520"/>
            <a:ext cx="16459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050" b="0">
                <a:solidFill>
                  <a:srgbClr val="94A3B8"/>
                </a:solidFill>
                <a:latin typeface="Arial"/>
              </a:defRPr>
            </a:pPr>
            <a:r>
              <a:t>Every tool chosen for a reason — open-source, production-grade, and battle-tested at national scale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115568"/>
            <a:ext cx="1655064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274320" y="1225296"/>
            <a:ext cx="4114800" cy="36576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10896" y="1252728"/>
            <a:ext cx="404164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QUANTUM HARDWARE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25296"/>
            <a:ext cx="4114800" cy="365760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700016" y="1252728"/>
            <a:ext cx="404164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FRONTEND &amp; 3D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052560" y="1225296"/>
            <a:ext cx="4114800" cy="3657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089136" y="1252728"/>
            <a:ext cx="404164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BACKEND &amp; BRIDGE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3441680" y="1225296"/>
            <a:ext cx="4114800" cy="365760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478255" y="1252728"/>
            <a:ext cx="4041648" cy="310896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AI / NLP / SPEECH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4320" y="1719072"/>
            <a:ext cx="4114800" cy="1115568"/>
          </a:xfrm>
          <a:prstGeom prst="roundRect">
            <a:avLst/>
          </a:prstGeom>
          <a:solidFill>
            <a:srgbClr val="141C37"/>
          </a:solidFill>
          <a:ln w="203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74320" y="1828800"/>
            <a:ext cx="36576" cy="8961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2336" y="1965960"/>
            <a:ext cx="1051560" cy="621792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600200" y="1810512"/>
            <a:ext cx="26517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IBM Quantum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364991" y="1810512"/>
            <a:ext cx="960120" cy="23774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01568" y="1837943"/>
            <a:ext cx="8869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LIVE QPU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00200" y="2176272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80" b="0">
                <a:solidFill>
                  <a:srgbClr val="94A3B8"/>
                </a:solidFill>
                <a:latin typeface="Arial"/>
              </a:defRPr>
            </a:pPr>
            <a:r>
              <a:t>Live execution on 156-qubit Heron QPU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2468879"/>
            <a:ext cx="26517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19" b="1">
                <a:solidFill>
                  <a:srgbClr val="3B82F6"/>
                </a:solidFill>
                <a:latin typeface="Arial"/>
              </a:defRPr>
            </a:pPr>
            <a:r>
              <a:t>156Q  |  ibm_fez + ibm_marrakesh processors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2944368"/>
            <a:ext cx="4114800" cy="1115568"/>
          </a:xfrm>
          <a:prstGeom prst="roundRect">
            <a:avLst/>
          </a:prstGeom>
          <a:solidFill>
            <a:srgbClr val="141C37"/>
          </a:solidFill>
          <a:ln w="203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74320" y="3054096"/>
            <a:ext cx="36576" cy="896112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2336" y="3204972"/>
            <a:ext cx="960120" cy="59436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1508760" y="3035808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Qiskit Runtime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364991" y="3035808"/>
            <a:ext cx="960120" cy="237744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401568" y="3063240"/>
            <a:ext cx="8869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OPEN SOURCE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08760" y="34015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80" b="0">
                <a:solidFill>
                  <a:srgbClr val="94A3B8"/>
                </a:solidFill>
                <a:latin typeface="Arial"/>
              </a:defRPr>
            </a:pPr>
            <a:r>
              <a:t>SamplerV2 for hardware-verified circuit results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508760" y="369417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19" b="1">
                <a:solidFill>
                  <a:srgbClr val="3B82F6"/>
                </a:solidFill>
                <a:latin typeface="Arial"/>
              </a:defRPr>
            </a:pPr>
            <a:r>
              <a:t>OpenQASM 3.0  |  Python SDK  |  Apache-2.0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274320" y="4169663"/>
            <a:ext cx="4114800" cy="1115568"/>
          </a:xfrm>
          <a:prstGeom prst="roundRect">
            <a:avLst/>
          </a:prstGeom>
          <a:solidFill>
            <a:srgbClr val="141C37"/>
          </a:solidFill>
          <a:ln w="203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74320" y="4279392"/>
            <a:ext cx="36576" cy="8961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" y="4443983"/>
            <a:ext cx="914400" cy="566928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1463040" y="4261103"/>
            <a:ext cx="2788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BlueQubit Cloud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64991" y="4261103"/>
            <a:ext cx="960120" cy="23774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401568" y="4288536"/>
            <a:ext cx="8869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GPU SIM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463040" y="4626864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80" b="0">
                <a:solidFill>
                  <a:srgbClr val="94A3B8"/>
                </a:solidFill>
                <a:latin typeface="Arial"/>
              </a:defRPr>
            </a:pPr>
            <a:r>
              <a:t>GPU tensor network simulation in milliseconds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463040" y="4919472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19" b="1">
                <a:solidFill>
                  <a:srgbClr val="06B6D4"/>
                </a:solidFill>
                <a:latin typeface="Arial"/>
              </a:defRPr>
            </a:pPr>
            <a:r>
              <a:t>NVIDIA cuQuantum  |  MPS  |  &lt;15ms results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274320" y="5394960"/>
            <a:ext cx="4114800" cy="1115568"/>
          </a:xfrm>
          <a:prstGeom prst="roundRect">
            <a:avLst/>
          </a:prstGeom>
          <a:solidFill>
            <a:srgbClr val="141C37"/>
          </a:solidFill>
          <a:ln w="203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274320" y="5504688"/>
            <a:ext cx="36576" cy="8961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" y="5687568"/>
            <a:ext cx="822960" cy="530352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1371600" y="5486400"/>
            <a:ext cx="28803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Google Cirq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3364991" y="5486400"/>
            <a:ext cx="960120" cy="23774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3401568" y="5513832"/>
            <a:ext cx="8869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NISQ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371600" y="5852160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80" b="0">
                <a:solidFill>
                  <a:srgbClr val="94A3B8"/>
                </a:solidFill>
                <a:latin typeface="Arial"/>
              </a:defRPr>
            </a:pPr>
            <a:r>
              <a:t>NISQ circuits &amp; Sycamore grid scheduling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371600" y="614476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19" b="1">
                <a:solidFill>
                  <a:srgbClr val="06B6D4"/>
                </a:solidFill>
                <a:latin typeface="Arial"/>
              </a:defRPr>
            </a:pPr>
            <a:r>
              <a:t>Sycamore topology  |  quantum.google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74320" y="6620256"/>
            <a:ext cx="4114800" cy="1115568"/>
          </a:xfrm>
          <a:prstGeom prst="roundRect">
            <a:avLst/>
          </a:prstGeom>
          <a:solidFill>
            <a:srgbClr val="141C37"/>
          </a:solidFill>
          <a:ln w="2032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274320" y="6729984"/>
            <a:ext cx="36576" cy="8961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8" name="Picture 4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" y="6926580"/>
            <a:ext cx="822960" cy="502920"/>
          </a:xfrm>
          <a:prstGeom prst="rect">
            <a:avLst/>
          </a:prstGeom>
        </p:spPr>
      </p:pic>
      <p:sp>
        <p:nvSpPr>
          <p:cNvPr id="49" name="TextBox 48"/>
          <p:cNvSpPr txBox="1"/>
          <p:nvPr/>
        </p:nvSpPr>
        <p:spPr>
          <a:xfrm>
            <a:off x="1371600" y="6711696"/>
            <a:ext cx="28803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PennyLane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3364991" y="6711696"/>
            <a:ext cx="960120" cy="237744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3401568" y="6739128"/>
            <a:ext cx="8869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QML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371600" y="7077456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80" b="0">
                <a:solidFill>
                  <a:srgbClr val="94A3B8"/>
                </a:solidFill>
                <a:latin typeface="Arial"/>
              </a:defRPr>
            </a:pPr>
            <a:r>
              <a:t>Differentiable QML &amp; parameter-shift gradients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371600" y="7370064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19" b="1">
                <a:solidFill>
                  <a:srgbClr val="10B981"/>
                </a:solidFill>
                <a:latin typeface="Arial"/>
              </a:defRPr>
            </a:pPr>
            <a:r>
              <a:t>PyTorch/JAX compatible  |  arXiv:1811.04968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663440" y="1719072"/>
            <a:ext cx="4114800" cy="1115568"/>
          </a:xfrm>
          <a:prstGeom prst="roundRect">
            <a:avLst/>
          </a:prstGeom>
          <a:solidFill>
            <a:srgbClr val="141C37"/>
          </a:solidFill>
          <a:ln w="2032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4663440" y="1828800"/>
            <a:ext cx="36576" cy="8961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6" name="Picture 5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91455" y="1979676"/>
            <a:ext cx="960120" cy="59436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5897879" y="181051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React 19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754112" y="1810512"/>
            <a:ext cx="960120" cy="23774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790688" y="1837943"/>
            <a:ext cx="8869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5897879" y="21762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80" b="0">
                <a:solidFill>
                  <a:srgbClr val="94A3B8"/>
                </a:solidFill>
                <a:latin typeface="Arial"/>
              </a:defRPr>
            </a:pPr>
            <a:r>
              <a:t>Modular drag-and-drop circuit canvas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897879" y="246887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19" b="1">
                <a:solidFill>
                  <a:srgbClr val="8B5CF6"/>
                </a:solidFill>
                <a:latin typeface="Arial"/>
              </a:defRPr>
            </a:pPr>
            <a:r>
              <a:t>KaTeX Dirac formulas  |  &lt;50ms render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4663440" y="2944368"/>
            <a:ext cx="4114800" cy="1115568"/>
          </a:xfrm>
          <a:prstGeom prst="roundRect">
            <a:avLst/>
          </a:prstGeom>
          <a:solidFill>
            <a:srgbClr val="141C37"/>
          </a:solidFill>
          <a:ln w="2032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4663440" y="3054096"/>
            <a:ext cx="36576" cy="8961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4" name="Picture 6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1455" y="3204972"/>
            <a:ext cx="960120" cy="594360"/>
          </a:xfrm>
          <a:prstGeom prst="rect">
            <a:avLst/>
          </a:prstGeom>
        </p:spPr>
      </p:pic>
      <p:sp>
        <p:nvSpPr>
          <p:cNvPr id="65" name="TextBox 64"/>
          <p:cNvSpPr txBox="1"/>
          <p:nvPr/>
        </p:nvSpPr>
        <p:spPr>
          <a:xfrm>
            <a:off x="5897879" y="3035808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Three.js WebGL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7754112" y="3035808"/>
            <a:ext cx="960120" cy="23774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7790688" y="3063240"/>
            <a:ext cx="8869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WebGL 3D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897879" y="3401568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80" b="0">
                <a:solidFill>
                  <a:srgbClr val="94A3B8"/>
                </a:solidFill>
                <a:latin typeface="Arial"/>
              </a:defRPr>
            </a:pPr>
            <a:r>
              <a:t>Real-time 3D Bloch sphere at 60 FPS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897879" y="3694176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19" b="1">
                <a:solidFill>
                  <a:srgbClr val="8B5CF6"/>
                </a:solidFill>
                <a:latin typeface="Arial"/>
              </a:defRPr>
            </a:pPr>
            <a:r>
              <a:t>GPU shader engine  |  theta/phi state mapping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4663440" y="4169663"/>
            <a:ext cx="4114800" cy="1115568"/>
          </a:xfrm>
          <a:prstGeom prst="roundRect">
            <a:avLst/>
          </a:prstGeom>
          <a:solidFill>
            <a:srgbClr val="141C37"/>
          </a:solidFill>
          <a:ln w="2032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663440" y="4279392"/>
            <a:ext cx="36576" cy="8961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2" name="Picture 71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91455" y="4430268"/>
            <a:ext cx="960120" cy="594360"/>
          </a:xfrm>
          <a:prstGeom prst="rect">
            <a:avLst/>
          </a:prstGeom>
        </p:spPr>
      </p:pic>
      <p:sp>
        <p:nvSpPr>
          <p:cNvPr id="73" name="TextBox 72"/>
          <p:cNvSpPr txBox="1"/>
          <p:nvPr/>
        </p:nvSpPr>
        <p:spPr>
          <a:xfrm>
            <a:off x="5897879" y="4261103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Firebase Auth</a:t>
            </a:r>
          </a:p>
        </p:txBody>
      </p:sp>
      <p:sp>
        <p:nvSpPr>
          <p:cNvPr id="74" name="Rounded Rectangle 73"/>
          <p:cNvSpPr/>
          <p:nvPr/>
        </p:nvSpPr>
        <p:spPr>
          <a:xfrm>
            <a:off x="7754112" y="4261103"/>
            <a:ext cx="960120" cy="23774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7790688" y="4288536"/>
            <a:ext cx="8869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AUTH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5897879" y="4626864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80" b="0">
                <a:solidFill>
                  <a:srgbClr val="94A3B8"/>
                </a:solidFill>
                <a:latin typeface="Arial"/>
              </a:defRPr>
            </a:pPr>
            <a:r>
              <a:t>Institutional SSO &amp; student progress sync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5897879" y="49194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19" b="1">
                <a:solidFill>
                  <a:srgbClr val="8B5CF6"/>
                </a:solidFill>
                <a:latin typeface="Arial"/>
              </a:defRPr>
            </a:pPr>
            <a:r>
              <a:t>Google Cloud  |  Firestore persistence</a:t>
            </a:r>
          </a:p>
        </p:txBody>
      </p:sp>
      <p:sp>
        <p:nvSpPr>
          <p:cNvPr id="78" name="Rounded Rectangle 77"/>
          <p:cNvSpPr/>
          <p:nvPr/>
        </p:nvSpPr>
        <p:spPr>
          <a:xfrm>
            <a:off x="9052560" y="1719072"/>
            <a:ext cx="4114800" cy="1115568"/>
          </a:xfrm>
          <a:prstGeom prst="roundRect">
            <a:avLst/>
          </a:prstGeom>
          <a:solidFill>
            <a:srgbClr val="141C37"/>
          </a:solidFill>
          <a:ln w="2032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Rectangle 78"/>
          <p:cNvSpPr/>
          <p:nvPr/>
        </p:nvSpPr>
        <p:spPr>
          <a:xfrm>
            <a:off x="9052560" y="1828800"/>
            <a:ext cx="36576" cy="896112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0" name="Picture 79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180576" y="1979676"/>
            <a:ext cx="960120" cy="594360"/>
          </a:xfrm>
          <a:prstGeom prst="rect">
            <a:avLst/>
          </a:prstGeom>
        </p:spPr>
      </p:pic>
      <p:sp>
        <p:nvSpPr>
          <p:cNvPr id="81" name="TextBox 80"/>
          <p:cNvSpPr txBox="1"/>
          <p:nvPr/>
        </p:nvSpPr>
        <p:spPr>
          <a:xfrm>
            <a:off x="10287000" y="1810512"/>
            <a:ext cx="274320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FastAPI</a:t>
            </a:r>
          </a:p>
        </p:txBody>
      </p:sp>
      <p:sp>
        <p:nvSpPr>
          <p:cNvPr id="82" name="Rounded Rectangle 81"/>
          <p:cNvSpPr/>
          <p:nvPr/>
        </p:nvSpPr>
        <p:spPr>
          <a:xfrm>
            <a:off x="12143232" y="1810512"/>
            <a:ext cx="960120" cy="237744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2179808" y="1837943"/>
            <a:ext cx="8869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287000" y="2176272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80" b="0">
                <a:solidFill>
                  <a:srgbClr val="94A3B8"/>
                </a:solidFill>
                <a:latin typeface="Arial"/>
              </a:defRPr>
            </a:pPr>
            <a:r>
              <a:t>High-performance async REST + WebSocket API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287000" y="2468879"/>
            <a:ext cx="2743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19" b="1">
                <a:solidFill>
                  <a:srgbClr val="8B5CF6"/>
                </a:solidFill>
                <a:latin typeface="Arial"/>
              </a:defRPr>
            </a:pPr>
            <a:r>
              <a:t>Python 3.12  |  Pydantic v2  |  &lt;8ms p99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9052560" y="2944368"/>
            <a:ext cx="4114800" cy="1115568"/>
          </a:xfrm>
          <a:prstGeom prst="roundRect">
            <a:avLst/>
          </a:prstGeom>
          <a:solidFill>
            <a:srgbClr val="141C37"/>
          </a:solidFill>
          <a:ln w="2032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Rectangle 86"/>
          <p:cNvSpPr/>
          <p:nvPr/>
        </p:nvSpPr>
        <p:spPr>
          <a:xfrm>
            <a:off x="9052560" y="3054096"/>
            <a:ext cx="36576" cy="896112"/>
          </a:xfrm>
          <a:prstGeom prst="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8" name="Picture 87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180576" y="3204972"/>
            <a:ext cx="822960" cy="594360"/>
          </a:xfrm>
          <a:prstGeom prst="rect">
            <a:avLst/>
          </a:prstGeom>
        </p:spPr>
      </p:pic>
      <p:sp>
        <p:nvSpPr>
          <p:cNvPr id="89" name="TextBox 88"/>
          <p:cNvSpPr txBox="1"/>
          <p:nvPr/>
        </p:nvSpPr>
        <p:spPr>
          <a:xfrm>
            <a:off x="10149840" y="3035808"/>
            <a:ext cx="288036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Python 3.12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12143232" y="3035808"/>
            <a:ext cx="960120" cy="237744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2179808" y="3063240"/>
            <a:ext cx="8869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RUNTIME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149840" y="3401568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80" b="0">
                <a:solidFill>
                  <a:srgbClr val="94A3B8"/>
                </a:solidFill>
                <a:latin typeface="Arial"/>
              </a:defRPr>
            </a:pPr>
            <a:r>
              <a:t>Core runtime for all quantum &amp; AI logic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10149840" y="3694176"/>
            <a:ext cx="28803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19" b="1">
                <a:solidFill>
                  <a:srgbClr val="64748B"/>
                </a:solidFill>
                <a:latin typeface="Arial"/>
              </a:defRPr>
            </a:pPr>
            <a:r>
              <a:t>NumPy/SciPy  |  asyncio  |  type-safe</a:t>
            </a:r>
          </a:p>
        </p:txBody>
      </p:sp>
      <p:sp>
        <p:nvSpPr>
          <p:cNvPr id="94" name="Rounded Rectangle 93"/>
          <p:cNvSpPr/>
          <p:nvPr/>
        </p:nvSpPr>
        <p:spPr>
          <a:xfrm>
            <a:off x="9052560" y="4169663"/>
            <a:ext cx="4114800" cy="1115568"/>
          </a:xfrm>
          <a:prstGeom prst="roundRect">
            <a:avLst/>
          </a:prstGeom>
          <a:solidFill>
            <a:srgbClr val="141C37"/>
          </a:solidFill>
          <a:ln w="203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Rectangle 94"/>
          <p:cNvSpPr/>
          <p:nvPr/>
        </p:nvSpPr>
        <p:spPr>
          <a:xfrm>
            <a:off x="9052560" y="4279392"/>
            <a:ext cx="36576" cy="896112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6" name="Picture 95" descr="image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80576" y="4443983"/>
            <a:ext cx="777240" cy="566928"/>
          </a:xfrm>
          <a:prstGeom prst="rect">
            <a:avLst/>
          </a:prstGeom>
        </p:spPr>
      </p:pic>
      <p:sp>
        <p:nvSpPr>
          <p:cNvPr id="97" name="TextBox 96"/>
          <p:cNvSpPr txBox="1"/>
          <p:nvPr/>
        </p:nvSpPr>
        <p:spPr>
          <a:xfrm>
            <a:off x="10104120" y="4261103"/>
            <a:ext cx="292607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qBraid SDK</a:t>
            </a:r>
          </a:p>
        </p:txBody>
      </p:sp>
      <p:sp>
        <p:nvSpPr>
          <p:cNvPr id="98" name="Rounded Rectangle 97"/>
          <p:cNvSpPr/>
          <p:nvPr/>
        </p:nvSpPr>
        <p:spPr>
          <a:xfrm>
            <a:off x="12143232" y="4261103"/>
            <a:ext cx="960120" cy="237744"/>
          </a:xfrm>
          <a:prstGeom prst="round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2179808" y="4288536"/>
            <a:ext cx="8869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TRANSPILER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10104120" y="4626864"/>
            <a:ext cx="29260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80" b="0">
                <a:solidFill>
                  <a:srgbClr val="94A3B8"/>
                </a:solidFill>
                <a:latin typeface="Arial"/>
              </a:defRPr>
            </a:pPr>
            <a:r>
              <a:t>ConversionGraph: Qiskit ↔ Cirq ↔ PennyLane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10104120" y="4919472"/>
            <a:ext cx="292607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19" b="1">
                <a:solidFill>
                  <a:srgbClr val="06B6D4"/>
                </a:solidFill>
                <a:latin typeface="Arial"/>
              </a:defRPr>
            </a:pPr>
            <a:r>
              <a:t>10+ frameworks  |  docs.qbraid.com</a:t>
            </a:r>
          </a:p>
        </p:txBody>
      </p:sp>
      <p:sp>
        <p:nvSpPr>
          <p:cNvPr id="102" name="Rounded Rectangle 101"/>
          <p:cNvSpPr/>
          <p:nvPr/>
        </p:nvSpPr>
        <p:spPr>
          <a:xfrm>
            <a:off x="13441680" y="1719072"/>
            <a:ext cx="4114800" cy="1115568"/>
          </a:xfrm>
          <a:prstGeom prst="roundRect">
            <a:avLst/>
          </a:prstGeom>
          <a:solidFill>
            <a:srgbClr val="141C37"/>
          </a:solidFill>
          <a:ln w="203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Rectangle 102"/>
          <p:cNvSpPr/>
          <p:nvPr/>
        </p:nvSpPr>
        <p:spPr>
          <a:xfrm>
            <a:off x="13441680" y="1828800"/>
            <a:ext cx="36576" cy="8961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4" name="Picture 103" descr="image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569696" y="1979676"/>
            <a:ext cx="914400" cy="594360"/>
          </a:xfrm>
          <a:prstGeom prst="rect">
            <a:avLst/>
          </a:prstGeom>
        </p:spPr>
      </p:pic>
      <p:sp>
        <p:nvSpPr>
          <p:cNvPr id="105" name="TextBox 104"/>
          <p:cNvSpPr txBox="1"/>
          <p:nvPr/>
        </p:nvSpPr>
        <p:spPr>
          <a:xfrm>
            <a:off x="14630400" y="1810512"/>
            <a:ext cx="2788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Groq LPU</a:t>
            </a:r>
          </a:p>
        </p:txBody>
      </p:sp>
      <p:sp>
        <p:nvSpPr>
          <p:cNvPr id="106" name="Rounded Rectangle 105"/>
          <p:cNvSpPr/>
          <p:nvPr/>
        </p:nvSpPr>
        <p:spPr>
          <a:xfrm>
            <a:off x="16532351" y="1810512"/>
            <a:ext cx="960120" cy="23774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6568927" y="1837943"/>
            <a:ext cx="8869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LPU AI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14630400" y="2176272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80" b="0">
                <a:solidFill>
                  <a:srgbClr val="94A3B8"/>
                </a:solidFill>
                <a:latin typeface="Arial"/>
              </a:defRPr>
            </a:pPr>
            <a:r>
              <a:t>Sub-second Qwen 27B inference for AI tutor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14630400" y="2468879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19" b="1">
                <a:solidFill>
                  <a:srgbClr val="F59E0B"/>
                </a:solidFill>
                <a:latin typeface="Arial"/>
              </a:defRPr>
            </a:pPr>
            <a:r>
              <a:t>500+ tokens/sec  |  console.groq.com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13441680" y="2944368"/>
            <a:ext cx="4114800" cy="1115568"/>
          </a:xfrm>
          <a:prstGeom prst="roundRect">
            <a:avLst/>
          </a:prstGeom>
          <a:solidFill>
            <a:srgbClr val="141C37"/>
          </a:solidFill>
          <a:ln w="2032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Rectangle 110"/>
          <p:cNvSpPr/>
          <p:nvPr/>
        </p:nvSpPr>
        <p:spPr>
          <a:xfrm>
            <a:off x="13441680" y="3054096"/>
            <a:ext cx="36576" cy="896112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2" name="Picture 111" descr="imag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569696" y="3204972"/>
            <a:ext cx="914400" cy="594360"/>
          </a:xfrm>
          <a:prstGeom prst="rect">
            <a:avLst/>
          </a:prstGeom>
        </p:spPr>
      </p:pic>
      <p:sp>
        <p:nvSpPr>
          <p:cNvPr id="113" name="TextBox 112"/>
          <p:cNvSpPr txBox="1"/>
          <p:nvPr/>
        </p:nvSpPr>
        <p:spPr>
          <a:xfrm>
            <a:off x="14630400" y="3035808"/>
            <a:ext cx="2788920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ChromaDB</a:t>
            </a:r>
          </a:p>
        </p:txBody>
      </p:sp>
      <p:sp>
        <p:nvSpPr>
          <p:cNvPr id="114" name="Rounded Rectangle 113"/>
          <p:cNvSpPr/>
          <p:nvPr/>
        </p:nvSpPr>
        <p:spPr>
          <a:xfrm>
            <a:off x="16532351" y="3035808"/>
            <a:ext cx="960120" cy="237744"/>
          </a:xfrm>
          <a:prstGeom prst="round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TextBox 114"/>
          <p:cNvSpPr txBox="1"/>
          <p:nvPr/>
        </p:nvSpPr>
        <p:spPr>
          <a:xfrm>
            <a:off x="16568927" y="3063240"/>
            <a:ext cx="8869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VECTOR DB</a:t>
            </a:r>
          </a:p>
        </p:txBody>
      </p:sp>
      <p:sp>
        <p:nvSpPr>
          <p:cNvPr id="116" name="TextBox 115"/>
          <p:cNvSpPr txBox="1"/>
          <p:nvPr/>
        </p:nvSpPr>
        <p:spPr>
          <a:xfrm>
            <a:off x="14630400" y="3401568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80" b="0">
                <a:solidFill>
                  <a:srgbClr val="94A3B8"/>
                </a:solidFill>
                <a:latin typeface="Arial"/>
              </a:defRPr>
            </a:pPr>
            <a:r>
              <a:t>76 quantum textbooks vector-indexed for RAG</a:t>
            </a:r>
          </a:p>
        </p:txBody>
      </p:sp>
      <p:sp>
        <p:nvSpPr>
          <p:cNvPr id="117" name="TextBox 116"/>
          <p:cNvSpPr txBox="1"/>
          <p:nvPr/>
        </p:nvSpPr>
        <p:spPr>
          <a:xfrm>
            <a:off x="14630400" y="3694176"/>
            <a:ext cx="2788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19" b="1">
                <a:solidFill>
                  <a:srgbClr val="F59E0B"/>
                </a:solidFill>
                <a:latin typeface="Arial"/>
              </a:defRPr>
            </a:pPr>
            <a:r>
              <a:t>Semantic search  |  0.3% hallucination rate</a:t>
            </a:r>
          </a:p>
        </p:txBody>
      </p:sp>
      <p:sp>
        <p:nvSpPr>
          <p:cNvPr id="118" name="Rounded Rectangle 117"/>
          <p:cNvSpPr/>
          <p:nvPr/>
        </p:nvSpPr>
        <p:spPr>
          <a:xfrm>
            <a:off x="13441680" y="4169663"/>
            <a:ext cx="4114800" cy="1115568"/>
          </a:xfrm>
          <a:prstGeom prst="roundRect">
            <a:avLst/>
          </a:prstGeom>
          <a:solidFill>
            <a:srgbClr val="141C37"/>
          </a:solidFill>
          <a:ln w="2032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Rectangle 118"/>
          <p:cNvSpPr/>
          <p:nvPr/>
        </p:nvSpPr>
        <p:spPr>
          <a:xfrm>
            <a:off x="13441680" y="4279392"/>
            <a:ext cx="36576" cy="896112"/>
          </a:xfrm>
          <a:prstGeom prst="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0" name="Picture 119" descr="image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3569696" y="4430268"/>
            <a:ext cx="1097280" cy="594360"/>
          </a:xfrm>
          <a:prstGeom prst="rect">
            <a:avLst/>
          </a:prstGeom>
        </p:spPr>
      </p:pic>
      <p:sp>
        <p:nvSpPr>
          <p:cNvPr id="121" name="TextBox 120"/>
          <p:cNvSpPr txBox="1"/>
          <p:nvPr/>
        </p:nvSpPr>
        <p:spPr>
          <a:xfrm>
            <a:off x="14813280" y="4261103"/>
            <a:ext cx="2606039" cy="34747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1200" b="1">
                <a:solidFill>
                  <a:srgbClr val="FFFFFF"/>
                </a:solidFill>
                <a:latin typeface="Arial"/>
              </a:defRPr>
            </a:pPr>
            <a:r>
              <a:t>Sarvam Bulbul v3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16532351" y="4261103"/>
            <a:ext cx="960120" cy="237744"/>
          </a:xfrm>
          <a:prstGeom prst="roundRect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16568927" y="4288536"/>
            <a:ext cx="886968" cy="182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Aft>
                <a:spcPts val="0"/>
              </a:spcAft>
              <a:defRPr sz="750" b="1">
                <a:solidFill>
                  <a:srgbClr val="FFFFFF"/>
                </a:solidFill>
                <a:latin typeface="Arial"/>
              </a:defRPr>
            </a:pPr>
            <a:r>
              <a:t>INDIC TTS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14813280" y="4626864"/>
            <a:ext cx="26060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80" b="0">
                <a:solidFill>
                  <a:srgbClr val="94A3B8"/>
                </a:solidFill>
                <a:latin typeface="Arial"/>
              </a:defRPr>
            </a:pPr>
            <a:r>
              <a:t>Neural TTS in 11 Indian regional languages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14813280" y="4919472"/>
            <a:ext cx="2606039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0"/>
              </a:spcAft>
              <a:defRPr sz="819" b="1">
                <a:solidFill>
                  <a:srgbClr val="EC4899"/>
                </a:solidFill>
                <a:latin typeface="Arial"/>
              </a:defRPr>
            </a:pPr>
            <a:r>
              <a:t>Glossary protection  |  docs.sarvam.ai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0" y="7936992"/>
            <a:ext cx="17556480" cy="1024128"/>
          </a:xfrm>
          <a:prstGeom prst="rect">
            <a:avLst/>
          </a:prstGeom>
          <a:solidFill>
            <a:srgbClr val="141C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Rectangle 126"/>
          <p:cNvSpPr/>
          <p:nvPr/>
        </p:nvSpPr>
        <p:spPr>
          <a:xfrm>
            <a:off x="0" y="7936992"/>
            <a:ext cx="17556480" cy="41148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TextBox 127"/>
          <p:cNvSpPr txBox="1"/>
          <p:nvPr/>
        </p:nvSpPr>
        <p:spPr>
          <a:xfrm>
            <a:off x="502920" y="804672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3B82F6"/>
                </a:solidFill>
                <a:latin typeface="Arial"/>
              </a:defRPr>
            </a:pPr>
            <a:r>
              <a:t>14 Technologies</a:t>
            </a:r>
          </a:p>
          <a:p>
            <a:pPr algn="l">
              <a:spcAft>
                <a:spcPts val="0"/>
              </a:spcAft>
              <a:defRPr sz="900" b="0">
                <a:solidFill>
                  <a:srgbClr val="94A3B8"/>
                </a:solidFill>
                <a:latin typeface="Arial"/>
              </a:defRPr>
            </a:pPr>
            <a:r>
              <a:t>Fully Integrated</a:t>
            </a:r>
          </a:p>
        </p:txBody>
      </p:sp>
      <p:sp>
        <p:nvSpPr>
          <p:cNvPr id="129" name="TextBox 128"/>
          <p:cNvSpPr txBox="1"/>
          <p:nvPr/>
        </p:nvSpPr>
        <p:spPr>
          <a:xfrm>
            <a:off x="5760720" y="804672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10B981"/>
                </a:solidFill>
                <a:latin typeface="Arial"/>
              </a:defRPr>
            </a:pPr>
            <a:r>
              <a:t>100% Open-Source</a:t>
            </a:r>
          </a:p>
          <a:p>
            <a:pPr algn="l">
              <a:spcAft>
                <a:spcPts val="0"/>
              </a:spcAft>
              <a:defRPr sz="900" b="0">
                <a:solidFill>
                  <a:srgbClr val="94A3B8"/>
                </a:solidFill>
                <a:latin typeface="Arial"/>
              </a:defRPr>
            </a:pPr>
            <a:r>
              <a:t>Zero Vendor Lock-in</a:t>
            </a:r>
          </a:p>
        </p:txBody>
      </p:sp>
      <p:sp>
        <p:nvSpPr>
          <p:cNvPr id="130" name="TextBox 129"/>
          <p:cNvSpPr txBox="1"/>
          <p:nvPr/>
        </p:nvSpPr>
        <p:spPr>
          <a:xfrm>
            <a:off x="10972800" y="8046720"/>
            <a:ext cx="5029200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200"/>
              </a:spcAft>
              <a:defRPr sz="1800" b="1">
                <a:solidFill>
                  <a:srgbClr val="F59E0B"/>
                </a:solidFill>
                <a:latin typeface="Arial"/>
              </a:defRPr>
            </a:pPr>
            <a:r>
              <a:t>3-Layer Cloud + Edge</a:t>
            </a:r>
          </a:p>
          <a:p>
            <a:pPr algn="l">
              <a:spcAft>
                <a:spcPts val="0"/>
              </a:spcAft>
              <a:defRPr sz="900" b="0">
                <a:solidFill>
                  <a:srgbClr val="94A3B8"/>
                </a:solidFill>
                <a:latin typeface="Arial"/>
              </a:defRPr>
            </a:pPr>
            <a:r>
              <a:t>QPU  ·  GPU  ·  Browser WASM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DAHU6XYzYKc</dc:identifier>
  <dcterms:modified xsi:type="dcterms:W3CDTF">2011-08-01T06:04:30Z</dcterms:modified>
  <cp:revision>1</cp:revision>
  <dc:title>QuantumLeap_SIH2026_Gitwolves_FINAL.pptx</dc:title>
</cp:coreProperties>
</file>