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Arial Bold" charset="1" panose="020B0704020202020204"/>
      <p:regular r:id="rId13"/>
    </p:embeddedFont>
    <p:embeddedFont>
      <p:font typeface="Georgia Bold" charset="1" panose="02040802050405020203"/>
      <p:regular r:id="rId17"/>
    </p:embeddedFont>
    <p:embeddedFont>
      <p:font typeface="Arial Bold Italics" charset="1" panose="020B0704020202090204"/>
      <p:regular r:id="rId18"/>
    </p:embeddedFont>
    <p:embeddedFont>
      <p:font typeface="Calibri (MS) Bold" charset="1" panose="020F0702030404030204"/>
      <p:regular r:id="rId19"/>
    </p:embeddedFont>
    <p:embeddedFont>
      <p:font typeface="Calibri (MS)" charset="1" panose="020F0502020204030204"/>
      <p:regular r:id="rId20"/>
    </p:embeddedFont>
    <p:embeddedFont>
      <p:font typeface="Arial Italics" charset="1" panose="020B0604020202090204"/>
      <p:regular r:id="rId21"/>
    </p:embeddedFont>
    <p:embeddedFont>
      <p:font typeface="Arimo Bold" charset="1" panose="020B0704020202020204"/>
      <p:regular r:id="rId22"/>
    </p:embeddedFont>
    <p:embeddedFont>
      <p:font typeface="Arial" charset="1" panose="020B0604020202020204"/>
      <p:regular r:id="rId23"/>
    </p:embeddedFont>
    <p:embeddedFont>
      <p:font typeface="Times New Roman MT Bold" charset="1" panose="020308020704050203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6005" y="-758338"/>
            <a:ext cx="15544800" cy="3114675"/>
            <a:chOff x="0" y="0"/>
            <a:chExt cx="20726400" cy="4152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84213" y="1954570"/>
            <a:ext cx="16365874" cy="7145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</a:t>
            </a:r>
            <a:r>
              <a:rPr lang="en-US" b="true" sz="36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SIH26140</a:t>
            </a:r>
          </a:p>
          <a:p>
            <a:pPr algn="just" marL="651510" indent="-325755" lvl="1">
              <a:lnSpc>
                <a:spcPts val="540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b="true" sz="36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AI-Based Interactive</a:t>
            </a:r>
          </a:p>
          <a:p>
            <a:pPr algn="just">
              <a:lnSpc>
                <a:spcPts val="5400"/>
              </a:lnSpc>
            </a:pPr>
            <a:r>
              <a:rPr lang="en-US" sz="3600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     Quantum Algorithm Learning Platform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 </a:t>
            </a:r>
            <a:r>
              <a:rPr lang="en-US" b="true" sz="36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Smart Education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b="true" sz="36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Software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Name- </a:t>
            </a:r>
            <a:r>
              <a:rPr lang="en-US" b="true" sz="36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GITWOLVES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625822" y="1277274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505738" y="2672926"/>
            <a:ext cx="4919425" cy="5261451"/>
            <a:chOff x="0" y="0"/>
            <a:chExt cx="6407023" cy="68524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49475" b="-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6100" y="246888"/>
            <a:ext cx="11795760" cy="1165860"/>
            <a:chOff x="0" y="0"/>
            <a:chExt cx="15727680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2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572768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E2A47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Interactive Web-Based Quantum Learning Platform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9590" y="310134"/>
            <a:ext cx="2438400" cy="1107948"/>
            <a:chOff x="0" y="0"/>
            <a:chExt cx="3251200" cy="1477264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251200" cy="1477264"/>
            </a:xfrm>
            <a:custGeom>
              <a:avLst/>
              <a:gdLst/>
              <a:ahLst/>
              <a:cxnLst/>
              <a:rect r="r" b="b" t="t" l="l"/>
              <a:pathLst>
                <a:path h="1477264" w="3251200">
                  <a:moveTo>
                    <a:pt x="0" y="738632"/>
                  </a:moveTo>
                  <a:cubicBezTo>
                    <a:pt x="0" y="330708"/>
                    <a:pt x="727837" y="0"/>
                    <a:pt x="1625600" y="0"/>
                  </a:cubicBezTo>
                  <a:cubicBezTo>
                    <a:pt x="2523363" y="0"/>
                    <a:pt x="3251200" y="330708"/>
                    <a:pt x="3251200" y="738632"/>
                  </a:cubicBezTo>
                  <a:cubicBezTo>
                    <a:pt x="3251200" y="1146556"/>
                    <a:pt x="2523363" y="1477264"/>
                    <a:pt x="1625600" y="1477264"/>
                  </a:cubicBezTo>
                  <a:cubicBezTo>
                    <a:pt x="727837" y="1477264"/>
                    <a:pt x="0" y="1146556"/>
                    <a:pt x="0" y="73863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A329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251200" cy="149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91E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GITWOLVES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122676" y="1320546"/>
            <a:ext cx="11722608" cy="83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B4D3E"/>
                </a:solidFill>
                <a:latin typeface="Arial Bold"/>
                <a:ea typeface="Arial Bold"/>
                <a:cs typeface="Arial Bold"/>
                <a:sym typeface="Arial Bold"/>
              </a:rPr>
              <a:t>HOW IT ADDRESSES THE PROBLEM?</a:t>
            </a:r>
          </a:p>
          <a:p>
            <a:pPr algn="ctr">
              <a:lnSpc>
                <a:spcPts val="1889"/>
              </a:lnSpc>
            </a:pPr>
            <a:r>
              <a:rPr lang="en-US" b="true" sz="1575" i="true">
                <a:solidFill>
                  <a:srgbClr val="28323C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“Intuitive, Real-Time &amp; Benchmark-Aligned Quantum Pedagogy”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39115" y="2322195"/>
            <a:ext cx="5025390" cy="7219950"/>
            <a:chOff x="0" y="0"/>
            <a:chExt cx="6700520" cy="9626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00520" cy="9626600"/>
            </a:xfrm>
            <a:custGeom>
              <a:avLst/>
              <a:gdLst/>
              <a:ahLst/>
              <a:cxnLst/>
              <a:rect r="r" b="b" t="t" l="l"/>
              <a:pathLst>
                <a:path h="9626600" w="6700520">
                  <a:moveTo>
                    <a:pt x="0" y="0"/>
                  </a:moveTo>
                  <a:lnTo>
                    <a:pt x="6700520" y="0"/>
                  </a:lnTo>
                  <a:lnTo>
                    <a:pt x="6700520" y="9626600"/>
                  </a:lnTo>
                  <a:lnTo>
                    <a:pt x="0" y="9626600"/>
                  </a:lnTo>
                  <a:close/>
                </a:path>
              </a:pathLst>
            </a:custGeom>
            <a:solidFill>
              <a:srgbClr val="FEEEE6"/>
            </a:solidFill>
            <a:ln w="19050" cap="sq">
              <a:solidFill>
                <a:srgbClr val="F0B99B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790956" y="2486406"/>
            <a:ext cx="4521708" cy="563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C05621"/>
                </a:solidFill>
                <a:latin typeface="Georgia Bold"/>
                <a:ea typeface="Georgia Bold"/>
                <a:cs typeface="Georgia Bold"/>
                <a:sym typeface="Georgia Bold"/>
              </a:rPr>
              <a:t>SOLUTIONS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5761" y="3515487"/>
            <a:ext cx="4690144" cy="5779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1680" indent="-200840" lvl="1">
              <a:lnSpc>
                <a:spcPts val="2232"/>
              </a:lnSpc>
              <a:buFont typeface="Arial"/>
              <a:buChar char="•"/>
            </a:pPr>
            <a:r>
              <a:rPr lang="en-US" b="true" sz="1860">
                <a:solidFill>
                  <a:srgbClr val="9C421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Interactive Bloch Sphere &amp; State Visualization</a:t>
            </a:r>
          </a:p>
          <a:p>
            <a:pPr algn="l" marL="401680" indent="-200840" lvl="1">
              <a:lnSpc>
                <a:spcPts val="2232"/>
              </a:lnSpc>
              <a:buFont typeface="Arial"/>
              <a:buChar char="•"/>
            </a:pPr>
            <a:r>
              <a:rPr lang="en-US" sz="1860">
                <a:solidFill>
                  <a:srgbClr val="191E23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3D projection of qubits on the Bloch sphere with dynamic unitary rotations as gates are applied, turning abstract matrix math into spatial intuition.</a:t>
            </a:r>
          </a:p>
          <a:p>
            <a:pPr algn="l" marL="401680" indent="-200840" lvl="1">
              <a:lnSpc>
                <a:spcPts val="2232"/>
              </a:lnSpc>
              <a:buFont typeface="Arial"/>
              <a:buChar char="•"/>
            </a:pPr>
            <a:r>
              <a:rPr lang="en-US" b="true" sz="1860">
                <a:solidFill>
                  <a:srgbClr val="9C421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Drag-and-Drop Quantum Circuit Sandbox</a:t>
            </a:r>
          </a:p>
          <a:p>
            <a:pPr algn="l" marL="401680" indent="-200840" lvl="1">
              <a:lnSpc>
                <a:spcPts val="2232"/>
              </a:lnSpc>
              <a:buFont typeface="Arial"/>
              <a:buChar char="•"/>
            </a:pPr>
            <a:r>
              <a:rPr lang="en-US" sz="1860">
                <a:solidFill>
                  <a:srgbClr val="191E23"/>
                </a:solidFill>
                <a:latin typeface="Calibri (MS)"/>
                <a:ea typeface="Calibri (MS)"/>
                <a:cs typeface="Calibri (MS)"/>
                <a:sym typeface="Calibri (MS)"/>
              </a:rPr>
              <a:t>Intuitive multi-qubit canvas supporting Hadamard, Pauli, Phase, and CNOT gates with live probability distributions and statevector calculations.</a:t>
            </a:r>
          </a:p>
          <a:p>
            <a:pPr algn="l" marL="401680" indent="-200840" lvl="1">
              <a:lnSpc>
                <a:spcPts val="2232"/>
              </a:lnSpc>
              <a:buFont typeface="Arial"/>
              <a:buChar char="•"/>
            </a:pPr>
            <a:r>
              <a:rPr lang="en-US" b="true" sz="1860">
                <a:solidFill>
                  <a:srgbClr val="9C421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Contextual AI Quantum Diagnostic Tutor</a:t>
            </a:r>
          </a:p>
          <a:p>
            <a:pPr algn="l" marL="401680" indent="-200840" lvl="1">
              <a:lnSpc>
                <a:spcPts val="2232"/>
              </a:lnSpc>
              <a:buFont typeface="Arial"/>
              <a:buChar char="•"/>
            </a:pPr>
            <a:r>
              <a:rPr lang="en-US" sz="1860">
                <a:solidFill>
                  <a:srgbClr val="191E23"/>
                </a:solidFill>
                <a:latin typeface="Calibri (MS)"/>
                <a:ea typeface="Calibri (MS)"/>
                <a:cs typeface="Calibri (MS)"/>
                <a:sym typeface="Calibri (MS)"/>
              </a:rPr>
              <a:t>RAG-guided intelligent assistant detecting circuit misalignments, phase errors, and non-unitary gates with step-by-step Socratic explanations.</a:t>
            </a:r>
          </a:p>
          <a:p>
            <a:pPr algn="l" marL="401680" indent="-200840" lvl="1">
              <a:lnSpc>
                <a:spcPts val="2232"/>
              </a:lnSpc>
              <a:buFont typeface="Arial"/>
              <a:buChar char="•"/>
            </a:pPr>
            <a:r>
              <a:rPr lang="en-US" b="true" sz="1860">
                <a:solidFill>
                  <a:srgbClr val="9C421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Gamified Mastery &amp; Benchmark Quizzes</a:t>
            </a:r>
          </a:p>
          <a:p>
            <a:pPr algn="l" marL="401680" indent="-200840" lvl="1">
              <a:lnSpc>
                <a:spcPts val="2232"/>
              </a:lnSpc>
              <a:buFont typeface="Arial"/>
              <a:buChar char="•"/>
            </a:pPr>
            <a:r>
              <a:rPr lang="en-US" sz="1860">
                <a:solidFill>
                  <a:srgbClr val="191E23"/>
                </a:solidFill>
                <a:latin typeface="Calibri (MS)"/>
                <a:ea typeface="Calibri (MS)"/>
                <a:cs typeface="Calibri (MS)"/>
                <a:sym typeface="Calibri (MS)"/>
              </a:rPr>
              <a:t>Level-based challenges and interactive puzzles that guide learners from basic superposition to complex Grover search and Shor algorithms.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392353" y="5129212"/>
            <a:ext cx="3457575" cy="1605915"/>
            <a:chOff x="0" y="0"/>
            <a:chExt cx="4610100" cy="21412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101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4610100">
                  <a:moveTo>
                    <a:pt x="0" y="356870"/>
                  </a:moveTo>
                  <a:cubicBezTo>
                    <a:pt x="0" y="159766"/>
                    <a:pt x="159766" y="0"/>
                    <a:pt x="356870" y="0"/>
                  </a:cubicBezTo>
                  <a:lnTo>
                    <a:pt x="4253230" y="0"/>
                  </a:lnTo>
                  <a:cubicBezTo>
                    <a:pt x="4450334" y="0"/>
                    <a:pt x="4610100" y="159766"/>
                    <a:pt x="4610100" y="356870"/>
                  </a:cubicBezTo>
                  <a:lnTo>
                    <a:pt x="4610100" y="1784350"/>
                  </a:lnTo>
                  <a:cubicBezTo>
                    <a:pt x="4610100" y="1981454"/>
                    <a:pt x="4450334" y="2141220"/>
                    <a:pt x="4253230" y="2141220"/>
                  </a:cubicBezTo>
                  <a:lnTo>
                    <a:pt x="356870" y="2141220"/>
                  </a:lnTo>
                  <a:cubicBezTo>
                    <a:pt x="159766" y="2141220"/>
                    <a:pt x="0" y="1981454"/>
                    <a:pt x="0" y="1784350"/>
                  </a:cubicBezTo>
                  <a:close/>
                </a:path>
              </a:pathLst>
            </a:custGeom>
            <a:solidFill>
              <a:srgbClr val="F0F5FC"/>
            </a:solidFill>
            <a:ln w="28575" cap="sq">
              <a:solidFill>
                <a:srgbClr val="005A9C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7534656" y="5503926"/>
            <a:ext cx="3218688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0E2A47"/>
                </a:solidFill>
                <a:latin typeface="Arial Bold"/>
                <a:ea typeface="Arial Bold"/>
                <a:cs typeface="Arial Bold"/>
                <a:sym typeface="Arial Bold"/>
              </a:rPr>
              <a:t>QuantumLeap</a:t>
            </a:r>
          </a:p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005A9C"/>
                </a:solidFill>
                <a:latin typeface="Arial Bold"/>
                <a:ea typeface="Arial Bold"/>
                <a:cs typeface="Arial Bold"/>
                <a:sym typeface="Arial Bold"/>
              </a:rPr>
              <a:t>Interactive Learning Hub</a:t>
            </a:r>
          </a:p>
          <a:p>
            <a:pPr algn="ctr">
              <a:lnSpc>
                <a:spcPts val="1800"/>
              </a:lnSpc>
            </a:pPr>
            <a:r>
              <a:rPr lang="en-US" sz="1500" i="true">
                <a:solidFill>
                  <a:srgbClr val="555F69"/>
                </a:solidFill>
                <a:latin typeface="Arial Italics"/>
                <a:ea typeface="Arial Italics"/>
                <a:cs typeface="Arial Italics"/>
                <a:sym typeface="Arial Italics"/>
              </a:rPr>
              <a:t>Sense • Simulate • See • Master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397115" y="2527935"/>
            <a:ext cx="3448050" cy="1006602"/>
            <a:chOff x="0" y="0"/>
            <a:chExt cx="4597400" cy="13421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597400" cy="1342136"/>
            </a:xfrm>
            <a:custGeom>
              <a:avLst/>
              <a:gdLst/>
              <a:ahLst/>
              <a:cxnLst/>
              <a:rect r="r" b="b" t="t" l="l"/>
              <a:pathLst>
                <a:path h="1342136" w="4597400">
                  <a:moveTo>
                    <a:pt x="0" y="223647"/>
                  </a:moveTo>
                  <a:cubicBezTo>
                    <a:pt x="0" y="100203"/>
                    <a:pt x="100203" y="0"/>
                    <a:pt x="223647" y="0"/>
                  </a:cubicBezTo>
                  <a:lnTo>
                    <a:pt x="4373753" y="0"/>
                  </a:lnTo>
                  <a:cubicBezTo>
                    <a:pt x="4497197" y="0"/>
                    <a:pt x="4597400" y="100203"/>
                    <a:pt x="4597400" y="223647"/>
                  </a:cubicBezTo>
                  <a:lnTo>
                    <a:pt x="4597400" y="1118489"/>
                  </a:lnTo>
                  <a:cubicBezTo>
                    <a:pt x="4597400" y="1242060"/>
                    <a:pt x="4497197" y="1342136"/>
                    <a:pt x="4373753" y="1342136"/>
                  </a:cubicBezTo>
                  <a:lnTo>
                    <a:pt x="223647" y="1342136"/>
                  </a:lnTo>
                  <a:cubicBezTo>
                    <a:pt x="100203" y="1342136"/>
                    <a:pt x="0" y="1241933"/>
                    <a:pt x="0" y="111848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5A9C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7511796" y="2765870"/>
            <a:ext cx="321868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 b="true">
                <a:solidFill>
                  <a:srgbClr val="0E2A47"/>
                </a:solidFill>
                <a:latin typeface="Arimo Bold"/>
                <a:ea typeface="Arimo Bold"/>
                <a:cs typeface="Arimo Bold"/>
                <a:sym typeface="Arimo Bold"/>
              </a:rPr>
              <a:t> Circuit Construction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55F69"/>
                </a:solidFill>
                <a:latin typeface="Arial"/>
                <a:ea typeface="Arial"/>
                <a:cs typeface="Arial"/>
                <a:sym typeface="Arial"/>
              </a:rPr>
              <a:t>Drag &amp; drop quantum gates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071735" y="3830955"/>
            <a:ext cx="2282190" cy="1006602"/>
            <a:chOff x="0" y="0"/>
            <a:chExt cx="3042920" cy="134213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042920" cy="1342136"/>
            </a:xfrm>
            <a:custGeom>
              <a:avLst/>
              <a:gdLst/>
              <a:ahLst/>
              <a:cxnLst/>
              <a:rect r="r" b="b" t="t" l="l"/>
              <a:pathLst>
                <a:path h="1342136" w="3042920">
                  <a:moveTo>
                    <a:pt x="0" y="223647"/>
                  </a:moveTo>
                  <a:cubicBezTo>
                    <a:pt x="0" y="100203"/>
                    <a:pt x="100203" y="0"/>
                    <a:pt x="223647" y="0"/>
                  </a:cubicBezTo>
                  <a:lnTo>
                    <a:pt x="2819273" y="0"/>
                  </a:lnTo>
                  <a:cubicBezTo>
                    <a:pt x="2942844" y="0"/>
                    <a:pt x="3042920" y="100203"/>
                    <a:pt x="3042920" y="223647"/>
                  </a:cubicBezTo>
                  <a:lnTo>
                    <a:pt x="3042920" y="1118489"/>
                  </a:lnTo>
                  <a:cubicBezTo>
                    <a:pt x="3042920" y="1242060"/>
                    <a:pt x="2942717" y="1342136"/>
                    <a:pt x="2819273" y="1342136"/>
                  </a:cubicBezTo>
                  <a:lnTo>
                    <a:pt x="223647" y="1342136"/>
                  </a:lnTo>
                  <a:cubicBezTo>
                    <a:pt x="100203" y="1342136"/>
                    <a:pt x="0" y="1241933"/>
                    <a:pt x="0" y="111848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5A9C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0186416" y="4079558"/>
            <a:ext cx="205282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 b="true">
                <a:solidFill>
                  <a:srgbClr val="0E2A47"/>
                </a:solidFill>
                <a:latin typeface="Arimo Bold"/>
                <a:ea typeface="Arimo Bold"/>
                <a:cs typeface="Arimo Bold"/>
                <a:sym typeface="Arimo Bold"/>
              </a:rPr>
              <a:t> Quantum Simulation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55F69"/>
                </a:solidFill>
                <a:latin typeface="Arial"/>
                <a:ea typeface="Arial"/>
                <a:cs typeface="Arial"/>
                <a:sym typeface="Arial"/>
              </a:rPr>
              <a:t>Qiskit / QuTiP statevector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071735" y="6917055"/>
            <a:ext cx="2282190" cy="1006602"/>
            <a:chOff x="0" y="0"/>
            <a:chExt cx="3042920" cy="134213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42920" cy="1342136"/>
            </a:xfrm>
            <a:custGeom>
              <a:avLst/>
              <a:gdLst/>
              <a:ahLst/>
              <a:cxnLst/>
              <a:rect r="r" b="b" t="t" l="l"/>
              <a:pathLst>
                <a:path h="1342136" w="3042920">
                  <a:moveTo>
                    <a:pt x="0" y="223647"/>
                  </a:moveTo>
                  <a:cubicBezTo>
                    <a:pt x="0" y="100203"/>
                    <a:pt x="100203" y="0"/>
                    <a:pt x="223647" y="0"/>
                  </a:cubicBezTo>
                  <a:lnTo>
                    <a:pt x="2819273" y="0"/>
                  </a:lnTo>
                  <a:cubicBezTo>
                    <a:pt x="2942844" y="0"/>
                    <a:pt x="3042920" y="100203"/>
                    <a:pt x="3042920" y="223647"/>
                  </a:cubicBezTo>
                  <a:lnTo>
                    <a:pt x="3042920" y="1118489"/>
                  </a:lnTo>
                  <a:cubicBezTo>
                    <a:pt x="3042920" y="1242060"/>
                    <a:pt x="2942717" y="1342136"/>
                    <a:pt x="2819273" y="1342136"/>
                  </a:cubicBezTo>
                  <a:lnTo>
                    <a:pt x="223647" y="1342136"/>
                  </a:lnTo>
                  <a:cubicBezTo>
                    <a:pt x="100203" y="1342136"/>
                    <a:pt x="0" y="1241933"/>
                    <a:pt x="0" y="111848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5A9C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0186416" y="7165657"/>
            <a:ext cx="205282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 b="true">
                <a:solidFill>
                  <a:srgbClr val="0E2A47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400" b="true">
                <a:solidFill>
                  <a:srgbClr val="0E2A47"/>
                </a:solidFill>
                <a:latin typeface="Arimo Bold"/>
                <a:ea typeface="Arimo Bold"/>
                <a:cs typeface="Arimo Bold"/>
                <a:sym typeface="Arimo Bold"/>
              </a:rPr>
              <a:t> Dynamic 3D Bloch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55F69"/>
                </a:solidFill>
                <a:latin typeface="Arial"/>
                <a:ea typeface="Arial"/>
                <a:cs typeface="Arial"/>
                <a:sym typeface="Arial"/>
              </a:rPr>
              <a:t>Real-time state projection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397115" y="8288655"/>
            <a:ext cx="3448050" cy="1006602"/>
            <a:chOff x="0" y="0"/>
            <a:chExt cx="4597400" cy="13421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597400" cy="1342136"/>
            </a:xfrm>
            <a:custGeom>
              <a:avLst/>
              <a:gdLst/>
              <a:ahLst/>
              <a:cxnLst/>
              <a:rect r="r" b="b" t="t" l="l"/>
              <a:pathLst>
                <a:path h="1342136" w="4597400">
                  <a:moveTo>
                    <a:pt x="0" y="223647"/>
                  </a:moveTo>
                  <a:cubicBezTo>
                    <a:pt x="0" y="100203"/>
                    <a:pt x="100203" y="0"/>
                    <a:pt x="223647" y="0"/>
                  </a:cubicBezTo>
                  <a:lnTo>
                    <a:pt x="4373753" y="0"/>
                  </a:lnTo>
                  <a:cubicBezTo>
                    <a:pt x="4497197" y="0"/>
                    <a:pt x="4597400" y="100203"/>
                    <a:pt x="4597400" y="223647"/>
                  </a:cubicBezTo>
                  <a:lnTo>
                    <a:pt x="4597400" y="1118489"/>
                  </a:lnTo>
                  <a:cubicBezTo>
                    <a:pt x="4597400" y="1242060"/>
                    <a:pt x="4497197" y="1342136"/>
                    <a:pt x="4373753" y="1342136"/>
                  </a:cubicBezTo>
                  <a:lnTo>
                    <a:pt x="223647" y="1342136"/>
                  </a:lnTo>
                  <a:cubicBezTo>
                    <a:pt x="100203" y="1342136"/>
                    <a:pt x="0" y="1241933"/>
                    <a:pt x="0" y="111848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5A9C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7392353" y="8563356"/>
            <a:ext cx="345281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 b="true">
                <a:solidFill>
                  <a:srgbClr val="0E2A47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400" b="true">
                <a:solidFill>
                  <a:srgbClr val="0E2A47"/>
                </a:solidFill>
                <a:latin typeface="Arimo Bold"/>
                <a:ea typeface="Arimo Bold"/>
                <a:cs typeface="Arimo Bold"/>
                <a:sym typeface="Arimo Bold"/>
              </a:rPr>
              <a:t> Dirac &amp; Matrix Math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55F69"/>
                </a:solidFill>
                <a:latin typeface="Arial"/>
                <a:ea typeface="Arial"/>
                <a:cs typeface="Arial"/>
                <a:sym typeface="Arial"/>
              </a:rPr>
              <a:t>Live mathematical bra-ket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5888355" y="6917055"/>
            <a:ext cx="2282190" cy="1006602"/>
            <a:chOff x="0" y="0"/>
            <a:chExt cx="3042920" cy="134213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042920" cy="1342136"/>
            </a:xfrm>
            <a:custGeom>
              <a:avLst/>
              <a:gdLst/>
              <a:ahLst/>
              <a:cxnLst/>
              <a:rect r="r" b="b" t="t" l="l"/>
              <a:pathLst>
                <a:path h="1342136" w="3042920">
                  <a:moveTo>
                    <a:pt x="0" y="223647"/>
                  </a:moveTo>
                  <a:cubicBezTo>
                    <a:pt x="0" y="100203"/>
                    <a:pt x="100203" y="0"/>
                    <a:pt x="223647" y="0"/>
                  </a:cubicBezTo>
                  <a:lnTo>
                    <a:pt x="2819273" y="0"/>
                  </a:lnTo>
                  <a:cubicBezTo>
                    <a:pt x="2942844" y="0"/>
                    <a:pt x="3042920" y="100203"/>
                    <a:pt x="3042920" y="223647"/>
                  </a:cubicBezTo>
                  <a:lnTo>
                    <a:pt x="3042920" y="1118489"/>
                  </a:lnTo>
                  <a:cubicBezTo>
                    <a:pt x="3042920" y="1242060"/>
                    <a:pt x="2942717" y="1342136"/>
                    <a:pt x="2819273" y="1342136"/>
                  </a:cubicBezTo>
                  <a:lnTo>
                    <a:pt x="223647" y="1342136"/>
                  </a:lnTo>
                  <a:cubicBezTo>
                    <a:pt x="100203" y="1342136"/>
                    <a:pt x="0" y="1241933"/>
                    <a:pt x="0" y="111848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5A9C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5888355" y="7182803"/>
            <a:ext cx="228219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 b="true">
                <a:solidFill>
                  <a:srgbClr val="0E2A47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400" b="true">
                <a:solidFill>
                  <a:srgbClr val="0E2A47"/>
                </a:solidFill>
                <a:latin typeface="Arimo Bold"/>
                <a:ea typeface="Arimo Bold"/>
                <a:cs typeface="Arimo Bold"/>
                <a:sym typeface="Arimo Bold"/>
              </a:rPr>
              <a:t> Contextual AI Tutor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55F69"/>
                </a:solidFill>
                <a:latin typeface="Arial"/>
                <a:ea typeface="Arial"/>
                <a:cs typeface="Arial"/>
                <a:sym typeface="Arial"/>
              </a:rPr>
              <a:t>RAG diagnostic coaching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5888355" y="3830955"/>
            <a:ext cx="2282190" cy="1006602"/>
            <a:chOff x="0" y="0"/>
            <a:chExt cx="3042920" cy="134213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042920" cy="1342136"/>
            </a:xfrm>
            <a:custGeom>
              <a:avLst/>
              <a:gdLst/>
              <a:ahLst/>
              <a:cxnLst/>
              <a:rect r="r" b="b" t="t" l="l"/>
              <a:pathLst>
                <a:path h="1342136" w="3042920">
                  <a:moveTo>
                    <a:pt x="0" y="223647"/>
                  </a:moveTo>
                  <a:cubicBezTo>
                    <a:pt x="0" y="100203"/>
                    <a:pt x="100203" y="0"/>
                    <a:pt x="223647" y="0"/>
                  </a:cubicBezTo>
                  <a:lnTo>
                    <a:pt x="2819273" y="0"/>
                  </a:lnTo>
                  <a:cubicBezTo>
                    <a:pt x="2942844" y="0"/>
                    <a:pt x="3042920" y="100203"/>
                    <a:pt x="3042920" y="223647"/>
                  </a:cubicBezTo>
                  <a:lnTo>
                    <a:pt x="3042920" y="1118489"/>
                  </a:lnTo>
                  <a:cubicBezTo>
                    <a:pt x="3042920" y="1242060"/>
                    <a:pt x="2942717" y="1342136"/>
                    <a:pt x="2819273" y="1342136"/>
                  </a:cubicBezTo>
                  <a:lnTo>
                    <a:pt x="223647" y="1342136"/>
                  </a:lnTo>
                  <a:cubicBezTo>
                    <a:pt x="100203" y="1342136"/>
                    <a:pt x="0" y="1241933"/>
                    <a:pt x="0" y="111848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5A9C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5888355" y="4079558"/>
            <a:ext cx="228219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 b="true">
                <a:solidFill>
                  <a:srgbClr val="0E2A47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400" b="true">
                <a:solidFill>
                  <a:srgbClr val="0E2A47"/>
                </a:solidFill>
                <a:latin typeface="Arimo Bold"/>
                <a:ea typeface="Arimo Bold"/>
                <a:cs typeface="Arimo Bold"/>
                <a:sym typeface="Arimo Bold"/>
              </a:rPr>
              <a:t> Gamified Mastery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55F69"/>
                </a:solidFill>
                <a:latin typeface="Arial"/>
                <a:ea typeface="Arial"/>
                <a:cs typeface="Arial"/>
                <a:sym typeface="Arial"/>
              </a:rPr>
              <a:t>Benchmark lab evaluation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117836" y="3172206"/>
            <a:ext cx="475488" cy="425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E7E34"/>
                </a:solidFill>
                <a:latin typeface="Arimo Bold"/>
                <a:ea typeface="Arimo Bold"/>
                <a:cs typeface="Arimo Bold"/>
                <a:sym typeface="Arimo Bold"/>
              </a:rPr>
              <a:t>➔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146536" y="5846826"/>
            <a:ext cx="475488" cy="425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E7E34"/>
                </a:solidFill>
                <a:latin typeface="Arial Bold"/>
                <a:ea typeface="Arial Bold"/>
                <a:cs typeface="Arial Bold"/>
                <a:sym typeface="Arial Bold"/>
              </a:rPr>
              <a:t>⬇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117836" y="8041386"/>
            <a:ext cx="475488" cy="425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E7E34"/>
                </a:solidFill>
                <a:latin typeface="Arimo Bold"/>
                <a:ea typeface="Arimo Bold"/>
                <a:cs typeface="Arimo Bold"/>
                <a:sym typeface="Arimo Bold"/>
              </a:rPr>
              <a:t>➔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443216" y="8041386"/>
            <a:ext cx="475488" cy="425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E7E34"/>
                </a:solidFill>
                <a:latin typeface="Arial Bold"/>
                <a:ea typeface="Arial Bold"/>
                <a:cs typeface="Arial Bold"/>
                <a:sym typeface="Arial Bold"/>
              </a:rPr>
              <a:t>⬅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963156" y="5846826"/>
            <a:ext cx="475488" cy="425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E7E34"/>
                </a:solidFill>
                <a:latin typeface="Arial Bold"/>
                <a:ea typeface="Arial Bold"/>
                <a:cs typeface="Arial Bold"/>
                <a:sym typeface="Arial Bold"/>
              </a:rPr>
              <a:t>⬆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443216" y="3172206"/>
            <a:ext cx="475488" cy="425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E7E34"/>
                </a:solidFill>
                <a:latin typeface="Arimo Bold"/>
                <a:ea typeface="Arimo Bold"/>
                <a:cs typeface="Arimo Bold"/>
                <a:sym typeface="Arimo Bold"/>
              </a:rPr>
              <a:t>➔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2677775" y="2322195"/>
            <a:ext cx="5025390" cy="7219950"/>
            <a:chOff x="0" y="0"/>
            <a:chExt cx="6700520" cy="9626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700520" cy="9626600"/>
            </a:xfrm>
            <a:custGeom>
              <a:avLst/>
              <a:gdLst/>
              <a:ahLst/>
              <a:cxnLst/>
              <a:rect r="r" b="b" t="t" l="l"/>
              <a:pathLst>
                <a:path h="9626600" w="6700520">
                  <a:moveTo>
                    <a:pt x="0" y="0"/>
                  </a:moveTo>
                  <a:lnTo>
                    <a:pt x="6700520" y="0"/>
                  </a:lnTo>
                  <a:lnTo>
                    <a:pt x="6700520" y="9626600"/>
                  </a:lnTo>
                  <a:lnTo>
                    <a:pt x="0" y="9626600"/>
                  </a:lnTo>
                  <a:close/>
                </a:path>
              </a:pathLst>
            </a:custGeom>
            <a:solidFill>
              <a:srgbClr val="E6F4EA"/>
            </a:solidFill>
            <a:ln w="19050" cap="sq">
              <a:solidFill>
                <a:srgbClr val="A3D9B1"/>
              </a:solidFill>
              <a:prstDash val="solid"/>
              <a:miter/>
            </a:ln>
          </p:spPr>
        </p:sp>
      </p:grpSp>
      <p:sp>
        <p:nvSpPr>
          <p:cNvPr name="TextBox 44" id="44"/>
          <p:cNvSpPr txBox="true"/>
          <p:nvPr/>
        </p:nvSpPr>
        <p:spPr>
          <a:xfrm rot="0">
            <a:off x="12929616" y="2505456"/>
            <a:ext cx="4521708" cy="544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E7E34"/>
                </a:solidFill>
                <a:latin typeface="Georgia Bold"/>
                <a:ea typeface="Georgia Bold"/>
                <a:cs typeface="Georgia Bold"/>
                <a:sym typeface="Georgia Bold"/>
              </a:rPr>
              <a:t>UNIQUENESS AND INNOVATION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929616" y="3221736"/>
            <a:ext cx="4329684" cy="621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96"/>
              </a:lnSpc>
            </a:pPr>
          </a:p>
          <a:p>
            <a:pPr algn="just" marL="377282" indent="-188641" lvl="1">
              <a:lnSpc>
                <a:spcPts val="2096"/>
              </a:lnSpc>
              <a:buFont typeface="Arial"/>
              <a:buChar char="•"/>
            </a:pPr>
            <a:r>
              <a:rPr lang="en-US" b="true" sz="1747">
                <a:solidFill>
                  <a:srgbClr val="1557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Vendor-Neutral Interoperability Between</a:t>
            </a:r>
            <a:r>
              <a:rPr lang="en-US" sz="1747">
                <a:solidFill>
                  <a:srgbClr val="155724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b="true" sz="1747">
                <a:solidFill>
                  <a:srgbClr val="1557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Frameworks</a:t>
            </a:r>
          </a:p>
          <a:p>
            <a:pPr algn="just" marL="377282" indent="-188641" lvl="1">
              <a:lnSpc>
                <a:spcPts val="2096"/>
              </a:lnSpc>
              <a:buFont typeface="Arial"/>
              <a:buChar char="•"/>
            </a:pPr>
            <a:r>
              <a:rPr lang="en-US" sz="1747">
                <a:solidFill>
                  <a:srgbClr val="155724"/>
                </a:solidFill>
                <a:latin typeface="Calibri (MS)"/>
                <a:ea typeface="Calibri (MS)"/>
                <a:cs typeface="Calibri (MS)"/>
                <a:sym typeface="Calibri (MS)"/>
              </a:rPr>
              <a:t>Vendor-neutral execution layer that compiles into IBM Qiskit, Xanadu PennyLane, and Google Cirq framework without lock-in.</a:t>
            </a:r>
          </a:p>
          <a:p>
            <a:pPr algn="just" marL="377282" indent="-188641" lvl="1">
              <a:lnSpc>
                <a:spcPts val="2096"/>
              </a:lnSpc>
              <a:buFont typeface="Arial"/>
              <a:buChar char="•"/>
            </a:pPr>
            <a:r>
              <a:rPr lang="en-US" sz="1747">
                <a:solidFill>
                  <a:srgbClr val="155724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b="true" sz="1747">
                <a:solidFill>
                  <a:srgbClr val="1557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Synchronized Multi-Modal Feedback</a:t>
            </a:r>
          </a:p>
          <a:p>
            <a:pPr algn="just" marL="377282" indent="-188641" lvl="1">
              <a:lnSpc>
                <a:spcPts val="2096"/>
              </a:lnSpc>
              <a:buFont typeface="Arial"/>
              <a:buChar char="•"/>
            </a:pPr>
            <a:r>
              <a:rPr lang="en-US" sz="1747">
                <a:solidFill>
                  <a:srgbClr val="155724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feedback system that synchronizes 3D Bloch spheres, Dirac bra-ket equations, unitary matrix representations, and measurement probabilities histograms.</a:t>
            </a:r>
          </a:p>
          <a:p>
            <a:pPr algn="just" marL="377282" indent="-188641" lvl="1">
              <a:lnSpc>
                <a:spcPts val="2096"/>
              </a:lnSpc>
              <a:buFont typeface="Arial"/>
              <a:buChar char="•"/>
            </a:pPr>
            <a:r>
              <a:rPr lang="en-US" sz="1747">
                <a:solidFill>
                  <a:srgbClr val="155724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b="true" sz="1747">
                <a:solidFill>
                  <a:srgbClr val="1557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Bloom 2-Sigma Pedagogy</a:t>
            </a:r>
          </a:p>
          <a:p>
            <a:pPr algn="just" marL="377282" indent="-188641" lvl="1">
              <a:lnSpc>
                <a:spcPts val="2096"/>
              </a:lnSpc>
              <a:buFont typeface="Arial"/>
              <a:buChar char="•"/>
            </a:pPr>
            <a:r>
              <a:rPr lang="en-US" sz="1747">
                <a:solidFill>
                  <a:srgbClr val="155724"/>
                </a:solidFill>
                <a:latin typeface="Calibri (MS)"/>
                <a:ea typeface="Calibri (MS)"/>
                <a:cs typeface="Calibri (MS)"/>
                <a:sym typeface="Calibri (MS)"/>
              </a:rPr>
              <a:t>Socratic questioning based adaptive loops that help students reach up to 2-sigma level of learning.</a:t>
            </a:r>
          </a:p>
          <a:p>
            <a:pPr algn="just" marL="377282" indent="-188641" lvl="1">
              <a:lnSpc>
                <a:spcPts val="2096"/>
              </a:lnSpc>
              <a:buFont typeface="Arial"/>
              <a:buChar char="•"/>
            </a:pPr>
            <a:r>
              <a:rPr lang="en-US" b="true" sz="1747">
                <a:solidFill>
                  <a:srgbClr val="1557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Direct Fit to India NQM and UG Engineering Syllabus</a:t>
            </a:r>
          </a:p>
          <a:p>
            <a:pPr algn="just" marL="377282" indent="-188641" lvl="1">
              <a:lnSpc>
                <a:spcPts val="2096"/>
              </a:lnSpc>
              <a:buFont typeface="Arial"/>
              <a:buChar char="•"/>
            </a:pPr>
            <a:r>
              <a:rPr lang="en-US" b="true" sz="1747">
                <a:solidFill>
                  <a:srgbClr val="1557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Based on open-source commodity </a:t>
            </a:r>
            <a:r>
              <a:rPr lang="en-US" sz="1747">
                <a:solidFill>
                  <a:srgbClr val="155724"/>
                </a:solidFill>
                <a:latin typeface="Calibri (MS)"/>
                <a:ea typeface="Calibri (MS)"/>
                <a:cs typeface="Calibri (MS)"/>
                <a:sym typeface="Calibri (MS)"/>
              </a:rPr>
              <a:t>software (React, Three.js, Qiskit, QuTiP, FastAPI) and avoiding any recurring software licensing fees and institutional set-up costs almost zero.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6100" y="246888"/>
            <a:ext cx="11795760" cy="1165860"/>
            <a:chOff x="0" y="0"/>
            <a:chExt cx="15727680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2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572768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E2A47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TECHNICAL APPROACH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9590" y="310134"/>
            <a:ext cx="2438400" cy="1107948"/>
            <a:chOff x="0" y="0"/>
            <a:chExt cx="3251200" cy="1477264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251200" cy="1477264"/>
            </a:xfrm>
            <a:custGeom>
              <a:avLst/>
              <a:gdLst/>
              <a:ahLst/>
              <a:cxnLst/>
              <a:rect r="r" b="b" t="t" l="l"/>
              <a:pathLst>
                <a:path h="1477264" w="3251200">
                  <a:moveTo>
                    <a:pt x="0" y="738632"/>
                  </a:moveTo>
                  <a:cubicBezTo>
                    <a:pt x="0" y="330708"/>
                    <a:pt x="727837" y="0"/>
                    <a:pt x="1625600" y="0"/>
                  </a:cubicBezTo>
                  <a:cubicBezTo>
                    <a:pt x="2523363" y="0"/>
                    <a:pt x="3251200" y="330708"/>
                    <a:pt x="3251200" y="738632"/>
                  </a:cubicBezTo>
                  <a:cubicBezTo>
                    <a:pt x="3251200" y="1146556"/>
                    <a:pt x="2523363" y="1477264"/>
                    <a:pt x="1625600" y="1477264"/>
                  </a:cubicBezTo>
                  <a:cubicBezTo>
                    <a:pt x="727837" y="1477264"/>
                    <a:pt x="0" y="1146556"/>
                    <a:pt x="0" y="73863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A329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251200" cy="149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91E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GITWOLVES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122676" y="1320546"/>
            <a:ext cx="11722608" cy="494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005A9C"/>
                </a:solidFill>
                <a:latin typeface="Arial Bold"/>
                <a:ea typeface="Arial Bold"/>
                <a:cs typeface="Arial Bold"/>
                <a:sym typeface="Arial Bold"/>
              </a:rPr>
              <a:t>TECHNOLOGIES IMPLEMENTED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34352" y="1974533"/>
            <a:ext cx="5789295" cy="7572375"/>
            <a:chOff x="0" y="0"/>
            <a:chExt cx="7719060" cy="10096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719060" cy="10096500"/>
            </a:xfrm>
            <a:custGeom>
              <a:avLst/>
              <a:gdLst/>
              <a:ahLst/>
              <a:cxnLst/>
              <a:rect r="r" b="b" t="t" l="l"/>
              <a:pathLst>
                <a:path h="10096500" w="7719060">
                  <a:moveTo>
                    <a:pt x="0" y="0"/>
                  </a:moveTo>
                  <a:lnTo>
                    <a:pt x="7719060" y="0"/>
                  </a:lnTo>
                  <a:lnTo>
                    <a:pt x="7719060" y="10096500"/>
                  </a:lnTo>
                  <a:lnTo>
                    <a:pt x="0" y="100965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12325A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790956" y="2143506"/>
            <a:ext cx="5276088" cy="425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2325A"/>
                </a:solidFill>
                <a:latin typeface="Arial Bold"/>
                <a:ea typeface="Arial Bold"/>
                <a:cs typeface="Arial Bold"/>
                <a:sym typeface="Arial Bold"/>
              </a:rPr>
              <a:t>IMPLEMENTATION PROCEDURE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50595" y="2733675"/>
            <a:ext cx="4956810" cy="3173730"/>
            <a:chOff x="0" y="0"/>
            <a:chExt cx="6609080" cy="4231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09080" cy="4231640"/>
            </a:xfrm>
            <a:custGeom>
              <a:avLst/>
              <a:gdLst/>
              <a:ahLst/>
              <a:cxnLst/>
              <a:rect r="r" b="b" t="t" l="l"/>
              <a:pathLst>
                <a:path h="4231640" w="6609080">
                  <a:moveTo>
                    <a:pt x="0" y="705231"/>
                  </a:moveTo>
                  <a:cubicBezTo>
                    <a:pt x="0" y="315722"/>
                    <a:pt x="315722" y="0"/>
                    <a:pt x="705231" y="0"/>
                  </a:cubicBezTo>
                  <a:lnTo>
                    <a:pt x="5903849" y="0"/>
                  </a:lnTo>
                  <a:cubicBezTo>
                    <a:pt x="6293358" y="0"/>
                    <a:pt x="6609080" y="315722"/>
                    <a:pt x="6609080" y="705231"/>
                  </a:cubicBezTo>
                  <a:lnTo>
                    <a:pt x="6609080" y="3526409"/>
                  </a:lnTo>
                  <a:cubicBezTo>
                    <a:pt x="6609080" y="3915918"/>
                    <a:pt x="6293358" y="4231640"/>
                    <a:pt x="5903849" y="4231640"/>
                  </a:cubicBezTo>
                  <a:lnTo>
                    <a:pt x="705231" y="4231640"/>
                  </a:lnTo>
                  <a:cubicBezTo>
                    <a:pt x="315722" y="4231640"/>
                    <a:pt x="0" y="3915918"/>
                    <a:pt x="0" y="3526409"/>
                  </a:cubicBezTo>
                  <a:close/>
                </a:path>
              </a:pathLst>
            </a:custGeom>
            <a:solidFill>
              <a:srgbClr val="F8FAFD"/>
            </a:solidFill>
            <a:ln w="19050" cap="sq">
              <a:solidFill>
                <a:srgbClr val="D7DEE6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58240" y="2941320"/>
            <a:ext cx="2004060" cy="906780"/>
            <a:chOff x="0" y="0"/>
            <a:chExt cx="2672080" cy="1209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672080" cy="1209040"/>
            </a:xfrm>
            <a:custGeom>
              <a:avLst/>
              <a:gdLst/>
              <a:ahLst/>
              <a:cxnLst/>
              <a:rect r="r" b="b" t="t" l="l"/>
              <a:pathLst>
                <a:path h="1209040" w="2672080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2470531" y="0"/>
                  </a:lnTo>
                  <a:cubicBezTo>
                    <a:pt x="2581783" y="0"/>
                    <a:pt x="2672080" y="90170"/>
                    <a:pt x="2672080" y="201549"/>
                  </a:cubicBezTo>
                  <a:lnTo>
                    <a:pt x="2672080" y="1007491"/>
                  </a:lnTo>
                  <a:cubicBezTo>
                    <a:pt x="2672080" y="1118743"/>
                    <a:pt x="2581910" y="1209040"/>
                    <a:pt x="2470531" y="1209040"/>
                  </a:cubicBezTo>
                  <a:lnTo>
                    <a:pt x="201549" y="1209040"/>
                  </a:lnTo>
                  <a:cubicBezTo>
                    <a:pt x="90170" y="1209040"/>
                    <a:pt x="0" y="1118870"/>
                    <a:pt x="0" y="1007491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005A9C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43584" y="3007614"/>
            <a:ext cx="1847088" cy="768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4"/>
              </a:lnSpc>
            </a:pPr>
            <a:r>
              <a:rPr lang="en-US" sz="1170" b="true">
                <a:solidFill>
                  <a:srgbClr val="0E2A47"/>
                </a:solidFill>
                <a:latin typeface="Arial Bold"/>
                <a:ea typeface="Arial Bold"/>
                <a:cs typeface="Arial Bold"/>
                <a:sym typeface="Arial Bold"/>
              </a:rPr>
              <a:t>Visual Circuit Input</a:t>
            </a:r>
          </a:p>
          <a:p>
            <a:pPr algn="ctr">
              <a:lnSpc>
                <a:spcPts val="1223"/>
              </a:lnSpc>
            </a:pPr>
            <a:r>
              <a:rPr lang="en-US" sz="1019">
                <a:solidFill>
                  <a:srgbClr val="555F69"/>
                </a:solidFill>
                <a:latin typeface="Arial"/>
                <a:ea typeface="Arial"/>
                <a:cs typeface="Arial"/>
                <a:sym typeface="Arial"/>
              </a:rPr>
              <a:t>Drag-Drop Gates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259836" y="3144774"/>
            <a:ext cx="406908" cy="35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005A9C"/>
                </a:solidFill>
                <a:latin typeface="Arimo Bold"/>
                <a:ea typeface="Arimo Bold"/>
                <a:cs typeface="Arimo Bold"/>
                <a:sym typeface="Arimo Bold"/>
              </a:rPr>
              <a:t>➔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764280" y="2941320"/>
            <a:ext cx="2004060" cy="906780"/>
            <a:chOff x="0" y="0"/>
            <a:chExt cx="2672080" cy="1209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72080" cy="1209040"/>
            </a:xfrm>
            <a:custGeom>
              <a:avLst/>
              <a:gdLst/>
              <a:ahLst/>
              <a:cxnLst/>
              <a:rect r="r" b="b" t="t" l="l"/>
              <a:pathLst>
                <a:path h="1209040" w="2672080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2470531" y="0"/>
                  </a:lnTo>
                  <a:cubicBezTo>
                    <a:pt x="2581783" y="0"/>
                    <a:pt x="2672080" y="90170"/>
                    <a:pt x="2672080" y="201549"/>
                  </a:cubicBezTo>
                  <a:lnTo>
                    <a:pt x="2672080" y="1007491"/>
                  </a:lnTo>
                  <a:cubicBezTo>
                    <a:pt x="2672080" y="1118743"/>
                    <a:pt x="2581910" y="1209040"/>
                    <a:pt x="2470531" y="1209040"/>
                  </a:cubicBezTo>
                  <a:lnTo>
                    <a:pt x="201549" y="1209040"/>
                  </a:lnTo>
                  <a:cubicBezTo>
                    <a:pt x="90170" y="1209040"/>
                    <a:pt x="0" y="1118870"/>
                    <a:pt x="0" y="1007491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005A9C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3849624" y="3007614"/>
            <a:ext cx="1847088" cy="768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4"/>
              </a:lnSpc>
            </a:pPr>
            <a:r>
              <a:rPr lang="en-US" sz="1170" b="true">
                <a:solidFill>
                  <a:srgbClr val="0E2A47"/>
                </a:solidFill>
                <a:latin typeface="Arial Bold"/>
                <a:ea typeface="Arial Bold"/>
                <a:cs typeface="Arial Bold"/>
                <a:sym typeface="Arial Bold"/>
              </a:rPr>
              <a:t>AST Normalizer</a:t>
            </a:r>
          </a:p>
          <a:p>
            <a:pPr algn="ctr">
              <a:lnSpc>
                <a:spcPts val="1223"/>
              </a:lnSpc>
            </a:pPr>
            <a:r>
              <a:rPr lang="en-US" sz="1019">
                <a:solidFill>
                  <a:srgbClr val="555F69"/>
                </a:solidFill>
                <a:latin typeface="Arial"/>
                <a:ea typeface="Arial"/>
                <a:cs typeface="Arial"/>
                <a:sym typeface="Arial"/>
              </a:rPr>
              <a:t>OpenQASM 3.0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562856" y="3885438"/>
            <a:ext cx="406908" cy="35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005A9C"/>
                </a:solidFill>
                <a:latin typeface="Arial Bold"/>
                <a:ea typeface="Arial Bold"/>
                <a:cs typeface="Arial Bold"/>
                <a:sym typeface="Arial Bold"/>
              </a:rPr>
              <a:t>⬇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3764280" y="4312920"/>
            <a:ext cx="2004060" cy="906780"/>
            <a:chOff x="0" y="0"/>
            <a:chExt cx="2672080" cy="1209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672080" cy="1209040"/>
            </a:xfrm>
            <a:custGeom>
              <a:avLst/>
              <a:gdLst/>
              <a:ahLst/>
              <a:cxnLst/>
              <a:rect r="r" b="b" t="t" l="l"/>
              <a:pathLst>
                <a:path h="1209040" w="2672080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2470531" y="0"/>
                  </a:lnTo>
                  <a:cubicBezTo>
                    <a:pt x="2581783" y="0"/>
                    <a:pt x="2672080" y="90170"/>
                    <a:pt x="2672080" y="201549"/>
                  </a:cubicBezTo>
                  <a:lnTo>
                    <a:pt x="2672080" y="1007491"/>
                  </a:lnTo>
                  <a:cubicBezTo>
                    <a:pt x="2672080" y="1118743"/>
                    <a:pt x="2581910" y="1209040"/>
                    <a:pt x="2470531" y="1209040"/>
                  </a:cubicBezTo>
                  <a:lnTo>
                    <a:pt x="201549" y="1209040"/>
                  </a:lnTo>
                  <a:cubicBezTo>
                    <a:pt x="90170" y="1209040"/>
                    <a:pt x="0" y="1118870"/>
                    <a:pt x="0" y="1007491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005A9C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3849624" y="4379214"/>
            <a:ext cx="1847088" cy="768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4"/>
              </a:lnSpc>
            </a:pPr>
            <a:r>
              <a:rPr lang="en-US" sz="1170" b="true">
                <a:solidFill>
                  <a:srgbClr val="0E2A47"/>
                </a:solidFill>
                <a:latin typeface="Arial Bold"/>
                <a:ea typeface="Arial Bold"/>
                <a:cs typeface="Arial Bold"/>
                <a:sym typeface="Arial Bold"/>
              </a:rPr>
              <a:t>Quantum Sim Engine</a:t>
            </a:r>
          </a:p>
          <a:p>
            <a:pPr algn="ctr">
              <a:lnSpc>
                <a:spcPts val="1223"/>
              </a:lnSpc>
            </a:pPr>
            <a:r>
              <a:rPr lang="en-US" sz="1019">
                <a:solidFill>
                  <a:srgbClr val="555F69"/>
                </a:solidFill>
                <a:latin typeface="Arial"/>
                <a:ea typeface="Arial"/>
                <a:cs typeface="Arial"/>
                <a:sym typeface="Arial"/>
              </a:rPr>
              <a:t>Qiskit / QuTiP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259836" y="4516374"/>
            <a:ext cx="406908" cy="35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005A9C"/>
                </a:solidFill>
                <a:latin typeface="Arial Bold"/>
                <a:ea typeface="Arial Bold"/>
                <a:cs typeface="Arial Bold"/>
                <a:sym typeface="Arial Bold"/>
              </a:rPr>
              <a:t>⬅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58240" y="4312920"/>
            <a:ext cx="2004060" cy="906780"/>
            <a:chOff x="0" y="0"/>
            <a:chExt cx="2672080" cy="12090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672080" cy="1209040"/>
            </a:xfrm>
            <a:custGeom>
              <a:avLst/>
              <a:gdLst/>
              <a:ahLst/>
              <a:cxnLst/>
              <a:rect r="r" b="b" t="t" l="l"/>
              <a:pathLst>
                <a:path h="1209040" w="2672080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2470531" y="0"/>
                  </a:lnTo>
                  <a:cubicBezTo>
                    <a:pt x="2581783" y="0"/>
                    <a:pt x="2672080" y="90170"/>
                    <a:pt x="2672080" y="201549"/>
                  </a:cubicBezTo>
                  <a:lnTo>
                    <a:pt x="2672080" y="1007491"/>
                  </a:lnTo>
                  <a:cubicBezTo>
                    <a:pt x="2672080" y="1118743"/>
                    <a:pt x="2581910" y="1209040"/>
                    <a:pt x="2470531" y="1209040"/>
                  </a:cubicBezTo>
                  <a:lnTo>
                    <a:pt x="201549" y="1209040"/>
                  </a:lnTo>
                  <a:cubicBezTo>
                    <a:pt x="90170" y="1209040"/>
                    <a:pt x="0" y="1118870"/>
                    <a:pt x="0" y="1007491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005A9C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243584" y="4379214"/>
            <a:ext cx="1847088" cy="768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4"/>
              </a:lnSpc>
            </a:pPr>
            <a:r>
              <a:rPr lang="en-US" sz="1170" b="true">
                <a:solidFill>
                  <a:srgbClr val="0E2A47"/>
                </a:solidFill>
                <a:latin typeface="Arial Bold"/>
                <a:ea typeface="Arial Bold"/>
                <a:cs typeface="Arial Bold"/>
                <a:sym typeface="Arial Bold"/>
              </a:rPr>
              <a:t>3D Bloch &amp; Matrix</a:t>
            </a:r>
          </a:p>
          <a:p>
            <a:pPr algn="ctr">
              <a:lnSpc>
                <a:spcPts val="1223"/>
              </a:lnSpc>
            </a:pPr>
            <a:r>
              <a:rPr lang="en-US" sz="1019">
                <a:solidFill>
                  <a:srgbClr val="555F69"/>
                </a:solidFill>
                <a:latin typeface="Arial"/>
                <a:ea typeface="Arial"/>
                <a:cs typeface="Arial"/>
                <a:sym typeface="Arial"/>
              </a:rPr>
              <a:t>Three.js WebGL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65276" y="5298186"/>
            <a:ext cx="4727448" cy="494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0"/>
              </a:lnSpc>
            </a:pPr>
            <a:r>
              <a:rPr lang="en-US" sz="1275" b="true">
                <a:solidFill>
                  <a:srgbClr val="0E2A47"/>
                </a:solidFill>
                <a:latin typeface="Arial Bold"/>
                <a:ea typeface="Arial Bold"/>
                <a:cs typeface="Arial Bold"/>
                <a:sym typeface="Arial Bold"/>
              </a:rPr>
              <a:t>Real-Time Execution Pipeline:</a:t>
            </a:r>
          </a:p>
          <a:p>
            <a:pPr algn="ctr">
              <a:lnSpc>
                <a:spcPts val="1530"/>
              </a:lnSpc>
            </a:pPr>
            <a:r>
              <a:rPr lang="en-US" sz="1275" b="true">
                <a:solidFill>
                  <a:srgbClr val="005A9C"/>
                </a:solidFill>
                <a:latin typeface="Arial Bold"/>
                <a:ea typeface="Arial Bold"/>
                <a:cs typeface="Arial Bold"/>
                <a:sym typeface="Arial Bold"/>
              </a:rPr>
              <a:t>Sense • Simulate • Compute • Master.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59536" y="6111621"/>
            <a:ext cx="5138928" cy="267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b="true">
                <a:solidFill>
                  <a:srgbClr val="0E2A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 Interactive Circuit Construction</a:t>
            </a:r>
          </a:p>
          <a:p>
            <a:pPr algn="l">
              <a:lnSpc>
                <a:spcPts val="1367"/>
              </a:lnSpc>
            </a:pPr>
            <a:r>
              <a:rPr lang="en-US" sz="1139">
                <a:solidFill>
                  <a:srgbClr val="555F69"/>
                </a:solidFill>
                <a:latin typeface="Calibri (MS)"/>
                <a:ea typeface="Calibri (MS)"/>
                <a:cs typeface="Calibri (MS)"/>
                <a:sym typeface="Calibri (MS)"/>
              </a:rPr>
              <a:t>   Visual drag-and-drop interface converts user gate operations directly into abstract syntax trees.</a:t>
            </a:r>
          </a:p>
          <a:p>
            <a:pPr algn="l">
              <a:lnSpc>
                <a:spcPts val="1367"/>
              </a:lnSpc>
            </a:pPr>
          </a:p>
          <a:p>
            <a:pPr algn="l">
              <a:lnSpc>
                <a:spcPts val="1530"/>
              </a:lnSpc>
            </a:pPr>
            <a:r>
              <a:rPr lang="en-US" sz="1275" b="true">
                <a:solidFill>
                  <a:srgbClr val="0E2A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 Real-Time Statevector Calculation</a:t>
            </a:r>
          </a:p>
          <a:p>
            <a:pPr algn="l">
              <a:lnSpc>
                <a:spcPts val="1367"/>
              </a:lnSpc>
            </a:pPr>
            <a:r>
              <a:rPr lang="en-US" sz="1139">
                <a:solidFill>
                  <a:srgbClr val="555F69"/>
                </a:solidFill>
                <a:latin typeface="Calibri (MS)"/>
                <a:ea typeface="Calibri (MS)"/>
                <a:cs typeface="Calibri (MS)"/>
                <a:sym typeface="Calibri (MS)"/>
              </a:rPr>
              <a:t>   Client-side WebAssembly &amp; FastAPI backend compute tensor products and unitary state transformations.</a:t>
            </a:r>
          </a:p>
          <a:p>
            <a:pPr algn="l">
              <a:lnSpc>
                <a:spcPts val="1367"/>
              </a:lnSpc>
            </a:pPr>
          </a:p>
          <a:p>
            <a:pPr algn="l">
              <a:lnSpc>
                <a:spcPts val="1530"/>
              </a:lnSpc>
            </a:pPr>
            <a:r>
              <a:rPr lang="en-US" sz="1275" b="true">
                <a:solidFill>
                  <a:srgbClr val="0E2A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 3D Bloch &amp; Matrix Projection</a:t>
            </a:r>
          </a:p>
          <a:p>
            <a:pPr algn="l">
              <a:lnSpc>
                <a:spcPts val="1367"/>
              </a:lnSpc>
            </a:pPr>
            <a:r>
              <a:rPr lang="en-US" sz="1139">
                <a:solidFill>
                  <a:srgbClr val="555F69"/>
                </a:solidFill>
                <a:latin typeface="Calibri (MS)"/>
                <a:ea typeface="Calibri (MS)"/>
                <a:cs typeface="Calibri (MS)"/>
                <a:sym typeface="Calibri (MS)"/>
              </a:rPr>
              <a:t>   Three.js renders GPU-accelerated Bloch spheres alongside live Dirac bra-ket notations and matrices.</a:t>
            </a:r>
          </a:p>
          <a:p>
            <a:pPr algn="l">
              <a:lnSpc>
                <a:spcPts val="1367"/>
              </a:lnSpc>
            </a:pPr>
          </a:p>
          <a:p>
            <a:pPr algn="l">
              <a:lnSpc>
                <a:spcPts val="1530"/>
              </a:lnSpc>
            </a:pPr>
            <a:r>
              <a:rPr lang="en-US" sz="1275" b="true">
                <a:solidFill>
                  <a:srgbClr val="0E2A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4. RAG AI Diagnostic Evaluation</a:t>
            </a:r>
          </a:p>
          <a:p>
            <a:pPr algn="l">
              <a:lnSpc>
                <a:spcPts val="1367"/>
              </a:lnSpc>
            </a:pPr>
            <a:r>
              <a:rPr lang="en-US" sz="1139">
                <a:solidFill>
                  <a:srgbClr val="555F69"/>
                </a:solidFill>
                <a:latin typeface="Calibri (MS)"/>
                <a:ea typeface="Calibri (MS)"/>
                <a:cs typeface="Calibri (MS)"/>
                <a:sym typeface="Calibri (MS)"/>
              </a:rPr>
              <a:t>   Intelligent tutor analyzes circuit topologies to diagnose mathematical errors and provide guided hints.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688836" y="2006346"/>
            <a:ext cx="5413248" cy="425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SOFTWARE USED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449556" y="2006346"/>
            <a:ext cx="5138928" cy="425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QUANTUM ENGINES &amp; MATH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6644640" y="2529840"/>
            <a:ext cx="1277112" cy="563880"/>
            <a:chOff x="0" y="0"/>
            <a:chExt cx="1702816" cy="751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702816" cy="751840"/>
            </a:xfrm>
            <a:custGeom>
              <a:avLst/>
              <a:gdLst/>
              <a:ahLst/>
              <a:cxnLst/>
              <a:rect r="r" b="b" t="t" l="l"/>
              <a:pathLst>
                <a:path h="751840" w="1702816">
                  <a:moveTo>
                    <a:pt x="0" y="125349"/>
                  </a:moveTo>
                  <a:cubicBezTo>
                    <a:pt x="0" y="56134"/>
                    <a:pt x="56134" y="0"/>
                    <a:pt x="125349" y="0"/>
                  </a:cubicBezTo>
                  <a:lnTo>
                    <a:pt x="1577467" y="0"/>
                  </a:lnTo>
                  <a:cubicBezTo>
                    <a:pt x="1646682" y="0"/>
                    <a:pt x="1702816" y="56134"/>
                    <a:pt x="1702816" y="125349"/>
                  </a:cubicBezTo>
                  <a:lnTo>
                    <a:pt x="1702816" y="626491"/>
                  </a:lnTo>
                  <a:cubicBezTo>
                    <a:pt x="1702816" y="695706"/>
                    <a:pt x="1646682" y="751840"/>
                    <a:pt x="1577467" y="751840"/>
                  </a:cubicBezTo>
                  <a:lnTo>
                    <a:pt x="125349" y="751840"/>
                  </a:lnTo>
                  <a:cubicBezTo>
                    <a:pt x="56134" y="751840"/>
                    <a:pt x="0" y="695706"/>
                    <a:pt x="0" y="626491"/>
                  </a:cubicBezTo>
                  <a:close/>
                </a:path>
              </a:pathLst>
            </a:custGeom>
            <a:solidFill>
              <a:srgbClr val="F0F5FC"/>
            </a:solidFill>
            <a:ln w="15240" cap="sq">
              <a:solidFill>
                <a:srgbClr val="005A9C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6716268" y="2605659"/>
            <a:ext cx="1133856" cy="40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sz="1125" b="true">
                <a:solidFill>
                  <a:srgbClr val="0E2A47"/>
                </a:solidFill>
                <a:latin typeface="Arial Bold"/>
                <a:ea typeface="Arial Bold"/>
                <a:cs typeface="Arial Bold"/>
                <a:sym typeface="Arial Bold"/>
              </a:rPr>
              <a:t>React 18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7988808" y="2529840"/>
            <a:ext cx="1277112" cy="563880"/>
            <a:chOff x="0" y="0"/>
            <a:chExt cx="1702816" cy="7518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02816" cy="751840"/>
            </a:xfrm>
            <a:custGeom>
              <a:avLst/>
              <a:gdLst/>
              <a:ahLst/>
              <a:cxnLst/>
              <a:rect r="r" b="b" t="t" l="l"/>
              <a:pathLst>
                <a:path h="751840" w="1702816">
                  <a:moveTo>
                    <a:pt x="0" y="125349"/>
                  </a:moveTo>
                  <a:cubicBezTo>
                    <a:pt x="0" y="56134"/>
                    <a:pt x="56134" y="0"/>
                    <a:pt x="125349" y="0"/>
                  </a:cubicBezTo>
                  <a:lnTo>
                    <a:pt x="1577467" y="0"/>
                  </a:lnTo>
                  <a:cubicBezTo>
                    <a:pt x="1646682" y="0"/>
                    <a:pt x="1702816" y="56134"/>
                    <a:pt x="1702816" y="125349"/>
                  </a:cubicBezTo>
                  <a:lnTo>
                    <a:pt x="1702816" y="626491"/>
                  </a:lnTo>
                  <a:cubicBezTo>
                    <a:pt x="1702816" y="695706"/>
                    <a:pt x="1646682" y="751840"/>
                    <a:pt x="1577467" y="751840"/>
                  </a:cubicBezTo>
                  <a:lnTo>
                    <a:pt x="125349" y="751840"/>
                  </a:lnTo>
                  <a:cubicBezTo>
                    <a:pt x="56134" y="751840"/>
                    <a:pt x="0" y="695706"/>
                    <a:pt x="0" y="626491"/>
                  </a:cubicBezTo>
                  <a:close/>
                </a:path>
              </a:pathLst>
            </a:custGeom>
            <a:solidFill>
              <a:srgbClr val="F0F5FC"/>
            </a:solidFill>
            <a:ln w="15240" cap="sq">
              <a:solidFill>
                <a:srgbClr val="005A9C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8060436" y="2605659"/>
            <a:ext cx="1133856" cy="40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sz="1125" b="true">
                <a:solidFill>
                  <a:srgbClr val="0E2A47"/>
                </a:solidFill>
                <a:latin typeface="Arial Bold"/>
                <a:ea typeface="Arial Bold"/>
                <a:cs typeface="Arial Bold"/>
                <a:sym typeface="Arial Bold"/>
              </a:rPr>
              <a:t>TypeScript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332976" y="2529840"/>
            <a:ext cx="1277112" cy="563880"/>
            <a:chOff x="0" y="0"/>
            <a:chExt cx="1702816" cy="7518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02816" cy="751840"/>
            </a:xfrm>
            <a:custGeom>
              <a:avLst/>
              <a:gdLst/>
              <a:ahLst/>
              <a:cxnLst/>
              <a:rect r="r" b="b" t="t" l="l"/>
              <a:pathLst>
                <a:path h="751840" w="1702816">
                  <a:moveTo>
                    <a:pt x="0" y="125349"/>
                  </a:moveTo>
                  <a:cubicBezTo>
                    <a:pt x="0" y="56134"/>
                    <a:pt x="56134" y="0"/>
                    <a:pt x="125349" y="0"/>
                  </a:cubicBezTo>
                  <a:lnTo>
                    <a:pt x="1577467" y="0"/>
                  </a:lnTo>
                  <a:cubicBezTo>
                    <a:pt x="1646682" y="0"/>
                    <a:pt x="1702816" y="56134"/>
                    <a:pt x="1702816" y="125349"/>
                  </a:cubicBezTo>
                  <a:lnTo>
                    <a:pt x="1702816" y="626491"/>
                  </a:lnTo>
                  <a:cubicBezTo>
                    <a:pt x="1702816" y="695706"/>
                    <a:pt x="1646682" y="751840"/>
                    <a:pt x="1577467" y="751840"/>
                  </a:cubicBezTo>
                  <a:lnTo>
                    <a:pt x="125349" y="751840"/>
                  </a:lnTo>
                  <a:cubicBezTo>
                    <a:pt x="56134" y="751840"/>
                    <a:pt x="0" y="695706"/>
                    <a:pt x="0" y="626491"/>
                  </a:cubicBezTo>
                  <a:close/>
                </a:path>
              </a:pathLst>
            </a:custGeom>
            <a:solidFill>
              <a:srgbClr val="F0F5FC"/>
            </a:solidFill>
            <a:ln w="15240" cap="sq">
              <a:solidFill>
                <a:srgbClr val="005A9C"/>
              </a:solidFill>
              <a:prstDash val="solid"/>
              <a:miter/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9404604" y="2605659"/>
            <a:ext cx="1133856" cy="40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sz="1125" b="true">
                <a:solidFill>
                  <a:srgbClr val="0E2A47"/>
                </a:solidFill>
                <a:latin typeface="Arial Bold"/>
                <a:ea typeface="Arial Bold"/>
                <a:cs typeface="Arial Bold"/>
                <a:sym typeface="Arial Bold"/>
              </a:rPr>
              <a:t>Three.js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0677144" y="2529840"/>
            <a:ext cx="1277112" cy="563880"/>
            <a:chOff x="0" y="0"/>
            <a:chExt cx="1702816" cy="7518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02816" cy="751840"/>
            </a:xfrm>
            <a:custGeom>
              <a:avLst/>
              <a:gdLst/>
              <a:ahLst/>
              <a:cxnLst/>
              <a:rect r="r" b="b" t="t" l="l"/>
              <a:pathLst>
                <a:path h="751840" w="1702816">
                  <a:moveTo>
                    <a:pt x="0" y="125349"/>
                  </a:moveTo>
                  <a:cubicBezTo>
                    <a:pt x="0" y="56134"/>
                    <a:pt x="56134" y="0"/>
                    <a:pt x="125349" y="0"/>
                  </a:cubicBezTo>
                  <a:lnTo>
                    <a:pt x="1577467" y="0"/>
                  </a:lnTo>
                  <a:cubicBezTo>
                    <a:pt x="1646682" y="0"/>
                    <a:pt x="1702816" y="56134"/>
                    <a:pt x="1702816" y="125349"/>
                  </a:cubicBezTo>
                  <a:lnTo>
                    <a:pt x="1702816" y="626491"/>
                  </a:lnTo>
                  <a:cubicBezTo>
                    <a:pt x="1702816" y="695706"/>
                    <a:pt x="1646682" y="751840"/>
                    <a:pt x="1577467" y="751840"/>
                  </a:cubicBezTo>
                  <a:lnTo>
                    <a:pt x="125349" y="751840"/>
                  </a:lnTo>
                  <a:cubicBezTo>
                    <a:pt x="56134" y="751840"/>
                    <a:pt x="0" y="695706"/>
                    <a:pt x="0" y="626491"/>
                  </a:cubicBezTo>
                  <a:close/>
                </a:path>
              </a:pathLst>
            </a:custGeom>
            <a:solidFill>
              <a:srgbClr val="F0F5FC"/>
            </a:solidFill>
            <a:ln w="15240" cap="sq">
              <a:solidFill>
                <a:srgbClr val="005A9C"/>
              </a:solidFill>
              <a:prstDash val="solid"/>
              <a:miter/>
            </a:ln>
          </p:spPr>
        </p:sp>
      </p:grpSp>
      <p:sp>
        <p:nvSpPr>
          <p:cNvPr name="TextBox 46" id="46"/>
          <p:cNvSpPr txBox="true"/>
          <p:nvPr/>
        </p:nvSpPr>
        <p:spPr>
          <a:xfrm rot="0">
            <a:off x="10748772" y="2605659"/>
            <a:ext cx="1133856" cy="40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sz="1125" b="true">
                <a:solidFill>
                  <a:srgbClr val="0E2A47"/>
                </a:solidFill>
                <a:latin typeface="Arial Bold"/>
                <a:ea typeface="Arial Bold"/>
                <a:cs typeface="Arial Bold"/>
                <a:sym typeface="Arial Bold"/>
              </a:rPr>
              <a:t>Python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2405360" y="2529840"/>
            <a:ext cx="1277112" cy="563880"/>
            <a:chOff x="0" y="0"/>
            <a:chExt cx="1702816" cy="7518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702816" cy="751840"/>
            </a:xfrm>
            <a:custGeom>
              <a:avLst/>
              <a:gdLst/>
              <a:ahLst/>
              <a:cxnLst/>
              <a:rect r="r" b="b" t="t" l="l"/>
              <a:pathLst>
                <a:path h="751840" w="1702816">
                  <a:moveTo>
                    <a:pt x="0" y="125349"/>
                  </a:moveTo>
                  <a:cubicBezTo>
                    <a:pt x="0" y="56134"/>
                    <a:pt x="56134" y="0"/>
                    <a:pt x="125349" y="0"/>
                  </a:cubicBezTo>
                  <a:lnTo>
                    <a:pt x="1577467" y="0"/>
                  </a:lnTo>
                  <a:cubicBezTo>
                    <a:pt x="1646682" y="0"/>
                    <a:pt x="1702816" y="56134"/>
                    <a:pt x="1702816" y="125349"/>
                  </a:cubicBezTo>
                  <a:lnTo>
                    <a:pt x="1702816" y="626491"/>
                  </a:lnTo>
                  <a:cubicBezTo>
                    <a:pt x="1702816" y="695706"/>
                    <a:pt x="1646682" y="751840"/>
                    <a:pt x="1577467" y="751840"/>
                  </a:cubicBezTo>
                  <a:lnTo>
                    <a:pt x="125349" y="751840"/>
                  </a:lnTo>
                  <a:cubicBezTo>
                    <a:pt x="56134" y="751840"/>
                    <a:pt x="0" y="695706"/>
                    <a:pt x="0" y="626491"/>
                  </a:cubicBezTo>
                  <a:close/>
                </a:path>
              </a:pathLst>
            </a:custGeom>
            <a:solidFill>
              <a:srgbClr val="EBFAF0"/>
            </a:solidFill>
            <a:ln w="15240" cap="sq">
              <a:solidFill>
                <a:srgbClr val="1E7E34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12476988" y="2605659"/>
            <a:ext cx="1133856" cy="40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sz="1125" b="true">
                <a:solidFill>
                  <a:srgbClr val="155724"/>
                </a:solidFill>
                <a:latin typeface="Arial Bold"/>
                <a:ea typeface="Arial Bold"/>
                <a:cs typeface="Arial Bold"/>
                <a:sym typeface="Arial Bold"/>
              </a:rPr>
              <a:t>Qiskit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3749528" y="2529840"/>
            <a:ext cx="1277112" cy="563880"/>
            <a:chOff x="0" y="0"/>
            <a:chExt cx="1702816" cy="7518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702816" cy="751840"/>
            </a:xfrm>
            <a:custGeom>
              <a:avLst/>
              <a:gdLst/>
              <a:ahLst/>
              <a:cxnLst/>
              <a:rect r="r" b="b" t="t" l="l"/>
              <a:pathLst>
                <a:path h="751840" w="1702816">
                  <a:moveTo>
                    <a:pt x="0" y="125349"/>
                  </a:moveTo>
                  <a:cubicBezTo>
                    <a:pt x="0" y="56134"/>
                    <a:pt x="56134" y="0"/>
                    <a:pt x="125349" y="0"/>
                  </a:cubicBezTo>
                  <a:lnTo>
                    <a:pt x="1577467" y="0"/>
                  </a:lnTo>
                  <a:cubicBezTo>
                    <a:pt x="1646682" y="0"/>
                    <a:pt x="1702816" y="56134"/>
                    <a:pt x="1702816" y="125349"/>
                  </a:cubicBezTo>
                  <a:lnTo>
                    <a:pt x="1702816" y="626491"/>
                  </a:lnTo>
                  <a:cubicBezTo>
                    <a:pt x="1702816" y="695706"/>
                    <a:pt x="1646682" y="751840"/>
                    <a:pt x="1577467" y="751840"/>
                  </a:cubicBezTo>
                  <a:lnTo>
                    <a:pt x="125349" y="751840"/>
                  </a:lnTo>
                  <a:cubicBezTo>
                    <a:pt x="56134" y="751840"/>
                    <a:pt x="0" y="695706"/>
                    <a:pt x="0" y="626491"/>
                  </a:cubicBezTo>
                  <a:close/>
                </a:path>
              </a:pathLst>
            </a:custGeom>
            <a:solidFill>
              <a:srgbClr val="EBFAF0"/>
            </a:solidFill>
            <a:ln w="15240" cap="sq">
              <a:solidFill>
                <a:srgbClr val="1E7E34"/>
              </a:solidFill>
              <a:prstDash val="solid"/>
              <a:miter/>
            </a:ln>
          </p:spPr>
        </p:sp>
      </p:grpSp>
      <p:sp>
        <p:nvSpPr>
          <p:cNvPr name="TextBox 52" id="52"/>
          <p:cNvSpPr txBox="true"/>
          <p:nvPr/>
        </p:nvSpPr>
        <p:spPr>
          <a:xfrm rot="0">
            <a:off x="13821156" y="2605659"/>
            <a:ext cx="1133856" cy="40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sz="1125" b="true">
                <a:solidFill>
                  <a:srgbClr val="155724"/>
                </a:solidFill>
                <a:latin typeface="Arial Bold"/>
                <a:ea typeface="Arial Bold"/>
                <a:cs typeface="Arial Bold"/>
                <a:sym typeface="Arial Bold"/>
              </a:rPr>
              <a:t>PennyLane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5093696" y="2529840"/>
            <a:ext cx="1277112" cy="563880"/>
            <a:chOff x="0" y="0"/>
            <a:chExt cx="1702816" cy="7518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702816" cy="751840"/>
            </a:xfrm>
            <a:custGeom>
              <a:avLst/>
              <a:gdLst/>
              <a:ahLst/>
              <a:cxnLst/>
              <a:rect r="r" b="b" t="t" l="l"/>
              <a:pathLst>
                <a:path h="751840" w="1702816">
                  <a:moveTo>
                    <a:pt x="0" y="125349"/>
                  </a:moveTo>
                  <a:cubicBezTo>
                    <a:pt x="0" y="56134"/>
                    <a:pt x="56134" y="0"/>
                    <a:pt x="125349" y="0"/>
                  </a:cubicBezTo>
                  <a:lnTo>
                    <a:pt x="1577467" y="0"/>
                  </a:lnTo>
                  <a:cubicBezTo>
                    <a:pt x="1646682" y="0"/>
                    <a:pt x="1702816" y="56134"/>
                    <a:pt x="1702816" y="125349"/>
                  </a:cubicBezTo>
                  <a:lnTo>
                    <a:pt x="1702816" y="626491"/>
                  </a:lnTo>
                  <a:cubicBezTo>
                    <a:pt x="1702816" y="695706"/>
                    <a:pt x="1646682" y="751840"/>
                    <a:pt x="1577467" y="751840"/>
                  </a:cubicBezTo>
                  <a:lnTo>
                    <a:pt x="125349" y="751840"/>
                  </a:lnTo>
                  <a:cubicBezTo>
                    <a:pt x="56134" y="751840"/>
                    <a:pt x="0" y="695706"/>
                    <a:pt x="0" y="626491"/>
                  </a:cubicBezTo>
                  <a:close/>
                </a:path>
              </a:pathLst>
            </a:custGeom>
            <a:solidFill>
              <a:srgbClr val="EBFAF0"/>
            </a:solidFill>
            <a:ln w="15240" cap="sq">
              <a:solidFill>
                <a:srgbClr val="1E7E34"/>
              </a:solidFill>
              <a:prstDash val="solid"/>
              <a:miter/>
            </a:ln>
          </p:spPr>
        </p:sp>
      </p:grpSp>
      <p:sp>
        <p:nvSpPr>
          <p:cNvPr name="TextBox 55" id="55"/>
          <p:cNvSpPr txBox="true"/>
          <p:nvPr/>
        </p:nvSpPr>
        <p:spPr>
          <a:xfrm rot="0">
            <a:off x="15165324" y="2605659"/>
            <a:ext cx="1133856" cy="40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sz="1125" b="true">
                <a:solidFill>
                  <a:srgbClr val="155724"/>
                </a:solidFill>
                <a:latin typeface="Arial Bold"/>
                <a:ea typeface="Arial Bold"/>
                <a:cs typeface="Arial Bold"/>
                <a:sym typeface="Arial Bold"/>
              </a:rPr>
              <a:t>Cirq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6437864" y="2529840"/>
            <a:ext cx="1277112" cy="563880"/>
            <a:chOff x="0" y="0"/>
            <a:chExt cx="1702816" cy="7518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702816" cy="751840"/>
            </a:xfrm>
            <a:custGeom>
              <a:avLst/>
              <a:gdLst/>
              <a:ahLst/>
              <a:cxnLst/>
              <a:rect r="r" b="b" t="t" l="l"/>
              <a:pathLst>
                <a:path h="751840" w="1702816">
                  <a:moveTo>
                    <a:pt x="0" y="125349"/>
                  </a:moveTo>
                  <a:cubicBezTo>
                    <a:pt x="0" y="56134"/>
                    <a:pt x="56134" y="0"/>
                    <a:pt x="125349" y="0"/>
                  </a:cubicBezTo>
                  <a:lnTo>
                    <a:pt x="1577467" y="0"/>
                  </a:lnTo>
                  <a:cubicBezTo>
                    <a:pt x="1646682" y="0"/>
                    <a:pt x="1702816" y="56134"/>
                    <a:pt x="1702816" y="125349"/>
                  </a:cubicBezTo>
                  <a:lnTo>
                    <a:pt x="1702816" y="626491"/>
                  </a:lnTo>
                  <a:cubicBezTo>
                    <a:pt x="1702816" y="695706"/>
                    <a:pt x="1646682" y="751840"/>
                    <a:pt x="1577467" y="751840"/>
                  </a:cubicBezTo>
                  <a:lnTo>
                    <a:pt x="125349" y="751840"/>
                  </a:lnTo>
                  <a:cubicBezTo>
                    <a:pt x="56134" y="751840"/>
                    <a:pt x="0" y="695706"/>
                    <a:pt x="0" y="626491"/>
                  </a:cubicBezTo>
                  <a:close/>
                </a:path>
              </a:pathLst>
            </a:custGeom>
            <a:solidFill>
              <a:srgbClr val="EBFAF0"/>
            </a:solidFill>
            <a:ln w="15240" cap="sq">
              <a:solidFill>
                <a:srgbClr val="1E7E34"/>
              </a:solidFill>
              <a:prstDash val="solid"/>
              <a:miter/>
            </a:ln>
          </p:spPr>
        </p:sp>
      </p:grpSp>
      <p:sp>
        <p:nvSpPr>
          <p:cNvPr name="TextBox 58" id="58"/>
          <p:cNvSpPr txBox="true"/>
          <p:nvPr/>
        </p:nvSpPr>
        <p:spPr>
          <a:xfrm rot="0">
            <a:off x="16509492" y="2605659"/>
            <a:ext cx="1133856" cy="40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sz="1125" b="true">
                <a:solidFill>
                  <a:srgbClr val="155724"/>
                </a:solidFill>
                <a:latin typeface="Arial Bold"/>
                <a:ea typeface="Arial Bold"/>
                <a:cs typeface="Arial Bold"/>
                <a:sym typeface="Arial Bold"/>
              </a:rPr>
              <a:t>KaTeX</a:t>
            </a:r>
          </a:p>
        </p:txBody>
      </p:sp>
      <p:sp>
        <p:nvSpPr>
          <p:cNvPr name="Freeform 59" id="59"/>
          <p:cNvSpPr/>
          <p:nvPr/>
        </p:nvSpPr>
        <p:spPr>
          <a:xfrm flipH="false" flipV="false" rot="0">
            <a:off x="6648831" y="3188970"/>
            <a:ext cx="10906506" cy="6788574"/>
          </a:xfrm>
          <a:custGeom>
            <a:avLst/>
            <a:gdLst/>
            <a:ahLst/>
            <a:cxnLst/>
            <a:rect r="r" b="b" t="t" l="l"/>
            <a:pathLst>
              <a:path h="6788574" w="10906506">
                <a:moveTo>
                  <a:pt x="0" y="0"/>
                </a:moveTo>
                <a:lnTo>
                  <a:pt x="10906506" y="0"/>
                </a:lnTo>
                <a:lnTo>
                  <a:pt x="10906506" y="6788574"/>
                </a:lnTo>
                <a:lnTo>
                  <a:pt x="0" y="67885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011" r="-1882" b="-384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6100" y="246888"/>
            <a:ext cx="11795760" cy="1165860"/>
            <a:chOff x="0" y="0"/>
            <a:chExt cx="15727680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2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5727680" cy="1640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99"/>
                </a:lnSpc>
              </a:pPr>
              <a:r>
                <a:rPr lang="en-US" sz="4499" b="true">
                  <a:solidFill>
                    <a:srgbClr val="0E2A47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FEASIBILITY AND VIABILITY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9590" y="310134"/>
            <a:ext cx="2438400" cy="1107948"/>
            <a:chOff x="0" y="0"/>
            <a:chExt cx="3251200" cy="1477264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251200" cy="1477264"/>
            </a:xfrm>
            <a:custGeom>
              <a:avLst/>
              <a:gdLst/>
              <a:ahLst/>
              <a:cxnLst/>
              <a:rect r="r" b="b" t="t" l="l"/>
              <a:pathLst>
                <a:path h="1477264" w="3251200">
                  <a:moveTo>
                    <a:pt x="0" y="738632"/>
                  </a:moveTo>
                  <a:cubicBezTo>
                    <a:pt x="0" y="330708"/>
                    <a:pt x="727837" y="0"/>
                    <a:pt x="1625600" y="0"/>
                  </a:cubicBezTo>
                  <a:cubicBezTo>
                    <a:pt x="2523363" y="0"/>
                    <a:pt x="3251200" y="330708"/>
                    <a:pt x="3251200" y="738632"/>
                  </a:cubicBezTo>
                  <a:cubicBezTo>
                    <a:pt x="3251200" y="1146556"/>
                    <a:pt x="2523363" y="1477264"/>
                    <a:pt x="1625600" y="1477264"/>
                  </a:cubicBezTo>
                  <a:cubicBezTo>
                    <a:pt x="727837" y="1477264"/>
                    <a:pt x="0" y="1146556"/>
                    <a:pt x="0" y="73863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A329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251200" cy="149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91E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GITWOLVES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292215" y="2520315"/>
            <a:ext cx="2091690" cy="994410"/>
            <a:chOff x="0" y="0"/>
            <a:chExt cx="2788920" cy="13258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88920" cy="1325880"/>
            </a:xfrm>
            <a:custGeom>
              <a:avLst/>
              <a:gdLst/>
              <a:ahLst/>
              <a:cxnLst/>
              <a:rect r="r" b="b" t="t" l="l"/>
              <a:pathLst>
                <a:path h="1325880" w="278892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2567940" y="0"/>
                  </a:lnTo>
                  <a:cubicBezTo>
                    <a:pt x="2689987" y="0"/>
                    <a:pt x="2788920" y="98933"/>
                    <a:pt x="2788920" y="220980"/>
                  </a:cubicBezTo>
                  <a:lnTo>
                    <a:pt x="2788920" y="1104900"/>
                  </a:lnTo>
                  <a:cubicBezTo>
                    <a:pt x="2788920" y="1226947"/>
                    <a:pt x="2689987" y="1325880"/>
                    <a:pt x="2567940" y="1325880"/>
                  </a:cubicBezTo>
                  <a:lnTo>
                    <a:pt x="220980" y="1325880"/>
                  </a:lnTo>
                  <a:cubicBezTo>
                    <a:pt x="98933" y="1325880"/>
                    <a:pt x="0" y="1226947"/>
                    <a:pt x="0" y="1104900"/>
                  </a:cubicBezTo>
                  <a:close/>
                </a:path>
              </a:pathLst>
            </a:custGeom>
            <a:solidFill>
              <a:srgbClr val="FFFFFF"/>
            </a:solidFill>
            <a:ln w="34290" cap="sq">
              <a:solidFill>
                <a:srgbClr val="1E508C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6373368" y="2735580"/>
            <a:ext cx="1929384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POTENTIAL</a:t>
            </a:r>
          </a:p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CHALLENGES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858375" y="2520315"/>
            <a:ext cx="2091690" cy="994410"/>
            <a:chOff x="0" y="0"/>
            <a:chExt cx="2788920" cy="13258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88920" cy="1325880"/>
            </a:xfrm>
            <a:custGeom>
              <a:avLst/>
              <a:gdLst/>
              <a:ahLst/>
              <a:cxnLst/>
              <a:rect r="r" b="b" t="t" l="l"/>
              <a:pathLst>
                <a:path h="1325880" w="278892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2567940" y="0"/>
                  </a:lnTo>
                  <a:cubicBezTo>
                    <a:pt x="2689987" y="0"/>
                    <a:pt x="2788920" y="98933"/>
                    <a:pt x="2788920" y="220980"/>
                  </a:cubicBezTo>
                  <a:lnTo>
                    <a:pt x="2788920" y="1104900"/>
                  </a:lnTo>
                  <a:cubicBezTo>
                    <a:pt x="2788920" y="1226947"/>
                    <a:pt x="2689987" y="1325880"/>
                    <a:pt x="2567940" y="1325880"/>
                  </a:cubicBezTo>
                  <a:lnTo>
                    <a:pt x="220980" y="1325880"/>
                  </a:lnTo>
                  <a:cubicBezTo>
                    <a:pt x="98933" y="1325880"/>
                    <a:pt x="0" y="1226947"/>
                    <a:pt x="0" y="1104900"/>
                  </a:cubicBezTo>
                  <a:close/>
                </a:path>
              </a:pathLst>
            </a:custGeom>
            <a:solidFill>
              <a:srgbClr val="FFFFFF"/>
            </a:solidFill>
            <a:ln w="34290" cap="sq">
              <a:solidFill>
                <a:srgbClr val="1E8246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939528" y="2623566"/>
            <a:ext cx="1929384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FEASIBILITY</a:t>
            </a:r>
          </a:p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ANALYSIS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966460" y="3017520"/>
            <a:ext cx="342900" cy="28575"/>
            <a:chOff x="0" y="0"/>
            <a:chExt cx="457200" cy="381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7200" cy="38100"/>
            </a:xfrm>
            <a:custGeom>
              <a:avLst/>
              <a:gdLst/>
              <a:ahLst/>
              <a:cxnLst/>
              <a:rect r="r" b="b" t="t" l="l"/>
              <a:pathLst>
                <a:path h="381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E508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966460" y="2221992"/>
            <a:ext cx="28575" cy="3291840"/>
            <a:chOff x="0" y="0"/>
            <a:chExt cx="38100" cy="43891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100" cy="4389120"/>
            </a:xfrm>
            <a:custGeom>
              <a:avLst/>
              <a:gdLst/>
              <a:ahLst/>
              <a:cxnLst/>
              <a:rect r="r" b="b" t="t" l="l"/>
              <a:pathLst>
                <a:path h="4389120" w="38100">
                  <a:moveTo>
                    <a:pt x="0" y="0"/>
                  </a:moveTo>
                  <a:lnTo>
                    <a:pt x="38100" y="0"/>
                  </a:lnTo>
                  <a:lnTo>
                    <a:pt x="3810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1E508C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623560" y="2221992"/>
            <a:ext cx="342900" cy="28575"/>
            <a:chOff x="0" y="0"/>
            <a:chExt cx="457200" cy="381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7200" cy="38100"/>
            </a:xfrm>
            <a:custGeom>
              <a:avLst/>
              <a:gdLst/>
              <a:ahLst/>
              <a:cxnLst/>
              <a:rect r="r" b="b" t="t" l="l"/>
              <a:pathLst>
                <a:path h="381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980B9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183380" y="2221992"/>
            <a:ext cx="274320" cy="28575"/>
            <a:chOff x="0" y="0"/>
            <a:chExt cx="365760" cy="381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5760" cy="38100"/>
            </a:xfrm>
            <a:custGeom>
              <a:avLst/>
              <a:gdLst/>
              <a:ahLst/>
              <a:cxnLst/>
              <a:rect r="r" b="b" t="t" l="l"/>
              <a:pathLst>
                <a:path h="381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980B9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446270" y="1840230"/>
            <a:ext cx="1737360" cy="777240"/>
            <a:chOff x="0" y="0"/>
            <a:chExt cx="2316480" cy="10363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316480" cy="1036320"/>
            </a:xfrm>
            <a:custGeom>
              <a:avLst/>
              <a:gdLst/>
              <a:ahLst/>
              <a:cxnLst/>
              <a:rect r="r" b="b" t="t" l="l"/>
              <a:pathLst>
                <a:path h="1036320" w="2316480">
                  <a:moveTo>
                    <a:pt x="0" y="172720"/>
                  </a:moveTo>
                  <a:cubicBezTo>
                    <a:pt x="0" y="77343"/>
                    <a:pt x="77343" y="0"/>
                    <a:pt x="172720" y="0"/>
                  </a:cubicBezTo>
                  <a:lnTo>
                    <a:pt x="2143760" y="0"/>
                  </a:lnTo>
                  <a:cubicBezTo>
                    <a:pt x="2239137" y="0"/>
                    <a:pt x="2316480" y="77343"/>
                    <a:pt x="2316480" y="172720"/>
                  </a:cubicBezTo>
                  <a:lnTo>
                    <a:pt x="2316480" y="863600"/>
                  </a:lnTo>
                  <a:cubicBezTo>
                    <a:pt x="2316480" y="958977"/>
                    <a:pt x="2239137" y="1036320"/>
                    <a:pt x="2143760" y="1036320"/>
                  </a:cubicBezTo>
                  <a:lnTo>
                    <a:pt x="172720" y="1036320"/>
                  </a:lnTo>
                  <a:cubicBezTo>
                    <a:pt x="77343" y="1036320"/>
                    <a:pt x="0" y="958977"/>
                    <a:pt x="0" y="863600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2980B9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4521708" y="1924050"/>
            <a:ext cx="158648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Technical</a:t>
            </a:r>
          </a:p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Challenges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541020" y="1775460"/>
            <a:ext cx="3649980" cy="906780"/>
            <a:chOff x="0" y="0"/>
            <a:chExt cx="4866640" cy="1209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866640" cy="1209040"/>
            </a:xfrm>
            <a:custGeom>
              <a:avLst/>
              <a:gdLst/>
              <a:ahLst/>
              <a:cxnLst/>
              <a:rect r="r" b="b" t="t" l="l"/>
              <a:pathLst>
                <a:path h="1209040" w="4866640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4665091" y="0"/>
                  </a:lnTo>
                  <a:cubicBezTo>
                    <a:pt x="4776343" y="0"/>
                    <a:pt x="4866640" y="90170"/>
                    <a:pt x="4866640" y="201549"/>
                  </a:cubicBezTo>
                  <a:lnTo>
                    <a:pt x="4866640" y="1007491"/>
                  </a:lnTo>
                  <a:cubicBezTo>
                    <a:pt x="4866640" y="1118743"/>
                    <a:pt x="4776470" y="1209040"/>
                    <a:pt x="4665091" y="1209040"/>
                  </a:cubicBezTo>
                  <a:lnTo>
                    <a:pt x="201549" y="1209040"/>
                  </a:lnTo>
                  <a:cubicBezTo>
                    <a:pt x="90170" y="1209040"/>
                    <a:pt x="0" y="1118870"/>
                    <a:pt x="0" y="1007491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2980B9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653796" y="1818513"/>
            <a:ext cx="3424428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3"/>
              </a:lnSpc>
            </a:pPr>
            <a:r>
              <a:rPr lang="en-US" sz="1319" b="true">
                <a:solidFill>
                  <a:srgbClr val="191E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Client-Side Compute Limits – Simulating &gt;10 qubits exponentially increases memory; mitigated by client-server simulation splitting and tensor contraction caching.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5623560" y="3319272"/>
            <a:ext cx="342900" cy="28575"/>
            <a:chOff x="0" y="0"/>
            <a:chExt cx="457200" cy="381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57200" cy="38100"/>
            </a:xfrm>
            <a:custGeom>
              <a:avLst/>
              <a:gdLst/>
              <a:ahLst/>
              <a:cxnLst/>
              <a:rect r="r" b="b" t="t" l="l"/>
              <a:pathLst>
                <a:path h="381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6A085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183380" y="3319272"/>
            <a:ext cx="274320" cy="28575"/>
            <a:chOff x="0" y="0"/>
            <a:chExt cx="365760" cy="381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65760" cy="38100"/>
            </a:xfrm>
            <a:custGeom>
              <a:avLst/>
              <a:gdLst/>
              <a:ahLst/>
              <a:cxnLst/>
              <a:rect r="r" b="b" t="t" l="l"/>
              <a:pathLst>
                <a:path h="381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6A085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4446270" y="2937510"/>
            <a:ext cx="1737360" cy="777240"/>
            <a:chOff x="0" y="0"/>
            <a:chExt cx="2316480" cy="10363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316480" cy="1036320"/>
            </a:xfrm>
            <a:custGeom>
              <a:avLst/>
              <a:gdLst/>
              <a:ahLst/>
              <a:cxnLst/>
              <a:rect r="r" b="b" t="t" l="l"/>
              <a:pathLst>
                <a:path h="1036320" w="2316480">
                  <a:moveTo>
                    <a:pt x="0" y="172720"/>
                  </a:moveTo>
                  <a:cubicBezTo>
                    <a:pt x="0" y="77343"/>
                    <a:pt x="77343" y="0"/>
                    <a:pt x="172720" y="0"/>
                  </a:cubicBezTo>
                  <a:lnTo>
                    <a:pt x="2143760" y="0"/>
                  </a:lnTo>
                  <a:cubicBezTo>
                    <a:pt x="2239137" y="0"/>
                    <a:pt x="2316480" y="77343"/>
                    <a:pt x="2316480" y="172720"/>
                  </a:cubicBezTo>
                  <a:lnTo>
                    <a:pt x="2316480" y="863600"/>
                  </a:lnTo>
                  <a:cubicBezTo>
                    <a:pt x="2316480" y="958977"/>
                    <a:pt x="2239137" y="1036320"/>
                    <a:pt x="2143760" y="1036320"/>
                  </a:cubicBezTo>
                  <a:lnTo>
                    <a:pt x="172720" y="1036320"/>
                  </a:lnTo>
                  <a:cubicBezTo>
                    <a:pt x="77343" y="1036320"/>
                    <a:pt x="0" y="958977"/>
                    <a:pt x="0" y="863600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16A085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4521708" y="3021330"/>
            <a:ext cx="158648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Data &amp; Software</a:t>
            </a:r>
          </a:p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Challenges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541020" y="2872740"/>
            <a:ext cx="3649980" cy="906780"/>
            <a:chOff x="0" y="0"/>
            <a:chExt cx="4866640" cy="12090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866640" cy="1209040"/>
            </a:xfrm>
            <a:custGeom>
              <a:avLst/>
              <a:gdLst/>
              <a:ahLst/>
              <a:cxnLst/>
              <a:rect r="r" b="b" t="t" l="l"/>
              <a:pathLst>
                <a:path h="1209040" w="4866640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4665091" y="0"/>
                  </a:lnTo>
                  <a:cubicBezTo>
                    <a:pt x="4776343" y="0"/>
                    <a:pt x="4866640" y="90170"/>
                    <a:pt x="4866640" y="201549"/>
                  </a:cubicBezTo>
                  <a:lnTo>
                    <a:pt x="4866640" y="1007491"/>
                  </a:lnTo>
                  <a:cubicBezTo>
                    <a:pt x="4866640" y="1118743"/>
                    <a:pt x="4776470" y="1209040"/>
                    <a:pt x="4665091" y="1209040"/>
                  </a:cubicBezTo>
                  <a:lnTo>
                    <a:pt x="201549" y="1209040"/>
                  </a:lnTo>
                  <a:cubicBezTo>
                    <a:pt x="90170" y="1209040"/>
                    <a:pt x="0" y="1118870"/>
                    <a:pt x="0" y="1007491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16A085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653796" y="2915793"/>
            <a:ext cx="3424428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3"/>
              </a:lnSpc>
            </a:pPr>
            <a:r>
              <a:rPr lang="en-US" sz="1319" b="true">
                <a:solidFill>
                  <a:srgbClr val="191E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Quantum SDK Incompatibilities – Divergent circuit representations across Qiskit/Cirq; mitigated by unified Abstract Circuit Schema (ACS) and OpenQASM 3.0.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5623560" y="4416552"/>
            <a:ext cx="342900" cy="28575"/>
            <a:chOff x="0" y="0"/>
            <a:chExt cx="457200" cy="381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57200" cy="38100"/>
            </a:xfrm>
            <a:custGeom>
              <a:avLst/>
              <a:gdLst/>
              <a:ahLst/>
              <a:cxnLst/>
              <a:rect r="r" b="b" t="t" l="l"/>
              <a:pathLst>
                <a:path h="381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3540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183380" y="4416552"/>
            <a:ext cx="274320" cy="28575"/>
            <a:chOff x="0" y="0"/>
            <a:chExt cx="365760" cy="381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65760" cy="38100"/>
            </a:xfrm>
            <a:custGeom>
              <a:avLst/>
              <a:gdLst/>
              <a:ahLst/>
              <a:cxnLst/>
              <a:rect r="r" b="b" t="t" l="l"/>
              <a:pathLst>
                <a:path h="381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3540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4446270" y="4034790"/>
            <a:ext cx="1737360" cy="777240"/>
            <a:chOff x="0" y="0"/>
            <a:chExt cx="2316480" cy="10363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316480" cy="1036320"/>
            </a:xfrm>
            <a:custGeom>
              <a:avLst/>
              <a:gdLst/>
              <a:ahLst/>
              <a:cxnLst/>
              <a:rect r="r" b="b" t="t" l="l"/>
              <a:pathLst>
                <a:path h="1036320" w="2316480">
                  <a:moveTo>
                    <a:pt x="0" y="172720"/>
                  </a:moveTo>
                  <a:cubicBezTo>
                    <a:pt x="0" y="77343"/>
                    <a:pt x="77343" y="0"/>
                    <a:pt x="172720" y="0"/>
                  </a:cubicBezTo>
                  <a:lnTo>
                    <a:pt x="2143760" y="0"/>
                  </a:lnTo>
                  <a:cubicBezTo>
                    <a:pt x="2239137" y="0"/>
                    <a:pt x="2316480" y="77343"/>
                    <a:pt x="2316480" y="172720"/>
                  </a:cubicBezTo>
                  <a:lnTo>
                    <a:pt x="2316480" y="863600"/>
                  </a:lnTo>
                  <a:cubicBezTo>
                    <a:pt x="2316480" y="958977"/>
                    <a:pt x="2239137" y="1036320"/>
                    <a:pt x="2143760" y="1036320"/>
                  </a:cubicBezTo>
                  <a:lnTo>
                    <a:pt x="172720" y="1036320"/>
                  </a:lnTo>
                  <a:cubicBezTo>
                    <a:pt x="77343" y="1036320"/>
                    <a:pt x="0" y="958977"/>
                    <a:pt x="0" y="863600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D35400"/>
              </a:solidFill>
              <a:prstDash val="solid"/>
              <a:miter/>
            </a:ln>
          </p:spPr>
        </p:sp>
      </p:grpSp>
      <p:sp>
        <p:nvSpPr>
          <p:cNvPr name="TextBox 46" id="46"/>
          <p:cNvSpPr txBox="true"/>
          <p:nvPr/>
        </p:nvSpPr>
        <p:spPr>
          <a:xfrm rot="0">
            <a:off x="4521708" y="4118610"/>
            <a:ext cx="158648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Operational</a:t>
            </a:r>
          </a:p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Challenges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541020" y="3970020"/>
            <a:ext cx="3649980" cy="906780"/>
            <a:chOff x="0" y="0"/>
            <a:chExt cx="4866640" cy="1209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866640" cy="1209040"/>
            </a:xfrm>
            <a:custGeom>
              <a:avLst/>
              <a:gdLst/>
              <a:ahLst/>
              <a:cxnLst/>
              <a:rect r="r" b="b" t="t" l="l"/>
              <a:pathLst>
                <a:path h="1209040" w="4866640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4665091" y="0"/>
                  </a:lnTo>
                  <a:cubicBezTo>
                    <a:pt x="4776343" y="0"/>
                    <a:pt x="4866640" y="90170"/>
                    <a:pt x="4866640" y="201549"/>
                  </a:cubicBezTo>
                  <a:lnTo>
                    <a:pt x="4866640" y="1007491"/>
                  </a:lnTo>
                  <a:cubicBezTo>
                    <a:pt x="4866640" y="1118743"/>
                    <a:pt x="4776470" y="1209040"/>
                    <a:pt x="4665091" y="1209040"/>
                  </a:cubicBezTo>
                  <a:lnTo>
                    <a:pt x="201549" y="1209040"/>
                  </a:lnTo>
                  <a:cubicBezTo>
                    <a:pt x="90170" y="1209040"/>
                    <a:pt x="0" y="1118870"/>
                    <a:pt x="0" y="1007491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35400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653796" y="4013073"/>
            <a:ext cx="3424428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3"/>
              </a:lnSpc>
            </a:pPr>
            <a:r>
              <a:rPr lang="en-US" sz="1319" b="true">
                <a:solidFill>
                  <a:srgbClr val="191E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Steep Learning Curve – High student dropout in abstract linear algebra; mitigated by gamified progressive unlocks from coin-toss to Bell states.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5623560" y="5513832"/>
            <a:ext cx="342900" cy="28575"/>
            <a:chOff x="0" y="0"/>
            <a:chExt cx="457200" cy="381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57200" cy="38100"/>
            </a:xfrm>
            <a:custGeom>
              <a:avLst/>
              <a:gdLst/>
              <a:ahLst/>
              <a:cxnLst/>
              <a:rect r="r" b="b" t="t" l="l"/>
              <a:pathLst>
                <a:path h="381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4183380" y="5513832"/>
            <a:ext cx="274320" cy="28575"/>
            <a:chOff x="0" y="0"/>
            <a:chExt cx="365760" cy="381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65760" cy="38100"/>
            </a:xfrm>
            <a:custGeom>
              <a:avLst/>
              <a:gdLst/>
              <a:ahLst/>
              <a:cxnLst/>
              <a:rect r="r" b="b" t="t" l="l"/>
              <a:pathLst>
                <a:path h="381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4446270" y="5132070"/>
            <a:ext cx="1737360" cy="777240"/>
            <a:chOff x="0" y="0"/>
            <a:chExt cx="2316480" cy="10363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316480" cy="1036320"/>
            </a:xfrm>
            <a:custGeom>
              <a:avLst/>
              <a:gdLst/>
              <a:ahLst/>
              <a:cxnLst/>
              <a:rect r="r" b="b" t="t" l="l"/>
              <a:pathLst>
                <a:path h="1036320" w="2316480">
                  <a:moveTo>
                    <a:pt x="0" y="172720"/>
                  </a:moveTo>
                  <a:cubicBezTo>
                    <a:pt x="0" y="77343"/>
                    <a:pt x="77343" y="0"/>
                    <a:pt x="172720" y="0"/>
                  </a:cubicBezTo>
                  <a:lnTo>
                    <a:pt x="2143760" y="0"/>
                  </a:lnTo>
                  <a:cubicBezTo>
                    <a:pt x="2239137" y="0"/>
                    <a:pt x="2316480" y="77343"/>
                    <a:pt x="2316480" y="172720"/>
                  </a:cubicBezTo>
                  <a:lnTo>
                    <a:pt x="2316480" y="863600"/>
                  </a:lnTo>
                  <a:cubicBezTo>
                    <a:pt x="2316480" y="958977"/>
                    <a:pt x="2239137" y="1036320"/>
                    <a:pt x="2143760" y="1036320"/>
                  </a:cubicBezTo>
                  <a:lnTo>
                    <a:pt x="172720" y="1036320"/>
                  </a:lnTo>
                  <a:cubicBezTo>
                    <a:pt x="77343" y="1036320"/>
                    <a:pt x="0" y="958977"/>
                    <a:pt x="0" y="863600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C0392B"/>
              </a:solidFill>
              <a:prstDash val="solid"/>
              <a:miter/>
            </a:ln>
          </p:spPr>
        </p:sp>
      </p:grpSp>
      <p:sp>
        <p:nvSpPr>
          <p:cNvPr name="TextBox 56" id="56"/>
          <p:cNvSpPr txBox="true"/>
          <p:nvPr/>
        </p:nvSpPr>
        <p:spPr>
          <a:xfrm rot="0">
            <a:off x="4521708" y="5215890"/>
            <a:ext cx="158648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Browser &amp;</a:t>
            </a:r>
          </a:p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Environment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541020" y="5067300"/>
            <a:ext cx="3649980" cy="906780"/>
            <a:chOff x="0" y="0"/>
            <a:chExt cx="4866640" cy="12090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866640" cy="1209040"/>
            </a:xfrm>
            <a:custGeom>
              <a:avLst/>
              <a:gdLst/>
              <a:ahLst/>
              <a:cxnLst/>
              <a:rect r="r" b="b" t="t" l="l"/>
              <a:pathLst>
                <a:path h="1209040" w="4866640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4665091" y="0"/>
                  </a:lnTo>
                  <a:cubicBezTo>
                    <a:pt x="4776343" y="0"/>
                    <a:pt x="4866640" y="90170"/>
                    <a:pt x="4866640" y="201549"/>
                  </a:cubicBezTo>
                  <a:lnTo>
                    <a:pt x="4866640" y="1007491"/>
                  </a:lnTo>
                  <a:cubicBezTo>
                    <a:pt x="4866640" y="1118743"/>
                    <a:pt x="4776470" y="1209040"/>
                    <a:pt x="4665091" y="1209040"/>
                  </a:cubicBezTo>
                  <a:lnTo>
                    <a:pt x="201549" y="1209040"/>
                  </a:lnTo>
                  <a:cubicBezTo>
                    <a:pt x="90170" y="1209040"/>
                    <a:pt x="0" y="1118870"/>
                    <a:pt x="0" y="1007491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C0392B"/>
              </a:solidFill>
              <a:prstDash val="solid"/>
              <a:miter/>
            </a:ln>
          </p:spPr>
        </p:sp>
      </p:grpSp>
      <p:sp>
        <p:nvSpPr>
          <p:cNvPr name="TextBox 59" id="59"/>
          <p:cNvSpPr txBox="true"/>
          <p:nvPr/>
        </p:nvSpPr>
        <p:spPr>
          <a:xfrm rot="0">
            <a:off x="653796" y="5110353"/>
            <a:ext cx="3424428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3"/>
              </a:lnSpc>
            </a:pPr>
            <a:r>
              <a:rPr lang="en-US" sz="1319" b="true">
                <a:solidFill>
                  <a:srgbClr val="191E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Hardware Heterogeneity – Varied student laptop GPU capabilities; mitigated by lightweight WebGL fallback to 2D Canvas SVG rendering mode.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1932920" y="3017520"/>
            <a:ext cx="342900" cy="28575"/>
            <a:chOff x="0" y="0"/>
            <a:chExt cx="457200" cy="381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57200" cy="38100"/>
            </a:xfrm>
            <a:custGeom>
              <a:avLst/>
              <a:gdLst/>
              <a:ahLst/>
              <a:cxnLst/>
              <a:rect r="r" b="b" t="t" l="l"/>
              <a:pathLst>
                <a:path h="381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E8246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275820" y="2221992"/>
            <a:ext cx="28575" cy="3291840"/>
            <a:chOff x="0" y="0"/>
            <a:chExt cx="38100" cy="43891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8100" cy="4389120"/>
            </a:xfrm>
            <a:custGeom>
              <a:avLst/>
              <a:gdLst/>
              <a:ahLst/>
              <a:cxnLst/>
              <a:rect r="r" b="b" t="t" l="l"/>
              <a:pathLst>
                <a:path h="4389120" w="38100">
                  <a:moveTo>
                    <a:pt x="0" y="0"/>
                  </a:moveTo>
                  <a:lnTo>
                    <a:pt x="38100" y="0"/>
                  </a:lnTo>
                  <a:lnTo>
                    <a:pt x="3810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1E8246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2275820" y="2221992"/>
            <a:ext cx="274320" cy="28575"/>
            <a:chOff x="0" y="0"/>
            <a:chExt cx="365760" cy="381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65760" cy="38100"/>
            </a:xfrm>
            <a:custGeom>
              <a:avLst/>
              <a:gdLst/>
              <a:ahLst/>
              <a:cxnLst/>
              <a:rect r="r" b="b" t="t" l="l"/>
              <a:pathLst>
                <a:path h="381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980B9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3853160" y="2221992"/>
            <a:ext cx="274320" cy="28575"/>
            <a:chOff x="0" y="0"/>
            <a:chExt cx="365760" cy="381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65760" cy="38100"/>
            </a:xfrm>
            <a:custGeom>
              <a:avLst/>
              <a:gdLst/>
              <a:ahLst/>
              <a:cxnLst/>
              <a:rect r="r" b="b" t="t" l="l"/>
              <a:pathLst>
                <a:path h="381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980B9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2538710" y="1840230"/>
            <a:ext cx="1737360" cy="777240"/>
            <a:chOff x="0" y="0"/>
            <a:chExt cx="2316480" cy="10363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316480" cy="1036320"/>
            </a:xfrm>
            <a:custGeom>
              <a:avLst/>
              <a:gdLst/>
              <a:ahLst/>
              <a:cxnLst/>
              <a:rect r="r" b="b" t="t" l="l"/>
              <a:pathLst>
                <a:path h="1036320" w="2316480">
                  <a:moveTo>
                    <a:pt x="0" y="172720"/>
                  </a:moveTo>
                  <a:cubicBezTo>
                    <a:pt x="0" y="77343"/>
                    <a:pt x="77343" y="0"/>
                    <a:pt x="172720" y="0"/>
                  </a:cubicBezTo>
                  <a:lnTo>
                    <a:pt x="2143760" y="0"/>
                  </a:lnTo>
                  <a:cubicBezTo>
                    <a:pt x="2239137" y="0"/>
                    <a:pt x="2316480" y="77343"/>
                    <a:pt x="2316480" y="172720"/>
                  </a:cubicBezTo>
                  <a:lnTo>
                    <a:pt x="2316480" y="863600"/>
                  </a:lnTo>
                  <a:cubicBezTo>
                    <a:pt x="2316480" y="958977"/>
                    <a:pt x="2239137" y="1036320"/>
                    <a:pt x="2143760" y="1036320"/>
                  </a:cubicBezTo>
                  <a:lnTo>
                    <a:pt x="172720" y="1036320"/>
                  </a:lnTo>
                  <a:cubicBezTo>
                    <a:pt x="77343" y="1036320"/>
                    <a:pt x="0" y="958977"/>
                    <a:pt x="0" y="863600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2980B9"/>
              </a:solidFill>
              <a:prstDash val="solid"/>
              <a:miter/>
            </a:ln>
          </p:spPr>
        </p:sp>
      </p:grpSp>
      <p:sp>
        <p:nvSpPr>
          <p:cNvPr name="TextBox 70" id="70"/>
          <p:cNvSpPr txBox="true"/>
          <p:nvPr/>
        </p:nvSpPr>
        <p:spPr>
          <a:xfrm rot="0">
            <a:off x="12614148" y="1924050"/>
            <a:ext cx="158648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Technical</a:t>
            </a:r>
          </a:p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Feasibility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4119860" y="1775460"/>
            <a:ext cx="3649980" cy="906780"/>
            <a:chOff x="0" y="0"/>
            <a:chExt cx="4866640" cy="12090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866640" cy="1209040"/>
            </a:xfrm>
            <a:custGeom>
              <a:avLst/>
              <a:gdLst/>
              <a:ahLst/>
              <a:cxnLst/>
              <a:rect r="r" b="b" t="t" l="l"/>
              <a:pathLst>
                <a:path h="1209040" w="4866640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4665091" y="0"/>
                  </a:lnTo>
                  <a:cubicBezTo>
                    <a:pt x="4776343" y="0"/>
                    <a:pt x="4866640" y="90170"/>
                    <a:pt x="4866640" y="201549"/>
                  </a:cubicBezTo>
                  <a:lnTo>
                    <a:pt x="4866640" y="1007491"/>
                  </a:lnTo>
                  <a:cubicBezTo>
                    <a:pt x="4866640" y="1118743"/>
                    <a:pt x="4776470" y="1209040"/>
                    <a:pt x="4665091" y="1209040"/>
                  </a:cubicBezTo>
                  <a:lnTo>
                    <a:pt x="201549" y="1209040"/>
                  </a:lnTo>
                  <a:cubicBezTo>
                    <a:pt x="90170" y="1209040"/>
                    <a:pt x="0" y="1118870"/>
                    <a:pt x="0" y="1007491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2980B9"/>
              </a:solidFill>
              <a:prstDash val="solid"/>
              <a:miter/>
            </a:ln>
          </p:spPr>
        </p:sp>
      </p:grpSp>
      <p:sp>
        <p:nvSpPr>
          <p:cNvPr name="TextBox 73" id="73"/>
          <p:cNvSpPr txBox="true"/>
          <p:nvPr/>
        </p:nvSpPr>
        <p:spPr>
          <a:xfrm rot="0">
            <a:off x="14232636" y="1818513"/>
            <a:ext cx="3424428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3"/>
              </a:lnSpc>
            </a:pPr>
            <a:r>
              <a:rPr lang="en-US" sz="1319" b="true">
                <a:solidFill>
                  <a:srgbClr val="191E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Proven Open-Source Stack – Built on production-grade web technologies (React, Three.js) and battle-tested quantum frameworks (Qiskit, QuTiP).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12275820" y="3319272"/>
            <a:ext cx="274320" cy="28575"/>
            <a:chOff x="0" y="0"/>
            <a:chExt cx="365760" cy="381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65760" cy="38100"/>
            </a:xfrm>
            <a:custGeom>
              <a:avLst/>
              <a:gdLst/>
              <a:ahLst/>
              <a:cxnLst/>
              <a:rect r="r" b="b" t="t" l="l"/>
              <a:pathLst>
                <a:path h="381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7AE60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3853160" y="3319272"/>
            <a:ext cx="274320" cy="28575"/>
            <a:chOff x="0" y="0"/>
            <a:chExt cx="365760" cy="381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65760" cy="38100"/>
            </a:xfrm>
            <a:custGeom>
              <a:avLst/>
              <a:gdLst/>
              <a:ahLst/>
              <a:cxnLst/>
              <a:rect r="r" b="b" t="t" l="l"/>
              <a:pathLst>
                <a:path h="381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7AE60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2538710" y="2937510"/>
            <a:ext cx="1737360" cy="777240"/>
            <a:chOff x="0" y="0"/>
            <a:chExt cx="2316480" cy="10363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316480" cy="1036320"/>
            </a:xfrm>
            <a:custGeom>
              <a:avLst/>
              <a:gdLst/>
              <a:ahLst/>
              <a:cxnLst/>
              <a:rect r="r" b="b" t="t" l="l"/>
              <a:pathLst>
                <a:path h="1036320" w="2316480">
                  <a:moveTo>
                    <a:pt x="0" y="172720"/>
                  </a:moveTo>
                  <a:cubicBezTo>
                    <a:pt x="0" y="77343"/>
                    <a:pt x="77343" y="0"/>
                    <a:pt x="172720" y="0"/>
                  </a:cubicBezTo>
                  <a:lnTo>
                    <a:pt x="2143760" y="0"/>
                  </a:lnTo>
                  <a:cubicBezTo>
                    <a:pt x="2239137" y="0"/>
                    <a:pt x="2316480" y="77343"/>
                    <a:pt x="2316480" y="172720"/>
                  </a:cubicBezTo>
                  <a:lnTo>
                    <a:pt x="2316480" y="863600"/>
                  </a:lnTo>
                  <a:cubicBezTo>
                    <a:pt x="2316480" y="958977"/>
                    <a:pt x="2239137" y="1036320"/>
                    <a:pt x="2143760" y="1036320"/>
                  </a:cubicBezTo>
                  <a:lnTo>
                    <a:pt x="172720" y="1036320"/>
                  </a:lnTo>
                  <a:cubicBezTo>
                    <a:pt x="77343" y="1036320"/>
                    <a:pt x="0" y="958977"/>
                    <a:pt x="0" y="863600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27AE60"/>
              </a:solidFill>
              <a:prstDash val="solid"/>
              <a:miter/>
            </a:ln>
          </p:spPr>
        </p:sp>
      </p:grpSp>
      <p:sp>
        <p:nvSpPr>
          <p:cNvPr name="TextBox 80" id="80"/>
          <p:cNvSpPr txBox="true"/>
          <p:nvPr/>
        </p:nvSpPr>
        <p:spPr>
          <a:xfrm rot="0">
            <a:off x="12614148" y="3021330"/>
            <a:ext cx="158648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Economic</a:t>
            </a:r>
          </a:p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Feasibility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14119860" y="2872740"/>
            <a:ext cx="3649980" cy="906780"/>
            <a:chOff x="0" y="0"/>
            <a:chExt cx="4866640" cy="12090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866640" cy="1209040"/>
            </a:xfrm>
            <a:custGeom>
              <a:avLst/>
              <a:gdLst/>
              <a:ahLst/>
              <a:cxnLst/>
              <a:rect r="r" b="b" t="t" l="l"/>
              <a:pathLst>
                <a:path h="1209040" w="4866640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4665091" y="0"/>
                  </a:lnTo>
                  <a:cubicBezTo>
                    <a:pt x="4776343" y="0"/>
                    <a:pt x="4866640" y="90170"/>
                    <a:pt x="4866640" y="201549"/>
                  </a:cubicBezTo>
                  <a:lnTo>
                    <a:pt x="4866640" y="1007491"/>
                  </a:lnTo>
                  <a:cubicBezTo>
                    <a:pt x="4866640" y="1118743"/>
                    <a:pt x="4776470" y="1209040"/>
                    <a:pt x="4665091" y="1209040"/>
                  </a:cubicBezTo>
                  <a:lnTo>
                    <a:pt x="201549" y="1209040"/>
                  </a:lnTo>
                  <a:cubicBezTo>
                    <a:pt x="90170" y="1209040"/>
                    <a:pt x="0" y="1118870"/>
                    <a:pt x="0" y="1007491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27AE60"/>
              </a:solidFill>
              <a:prstDash val="solid"/>
              <a:miter/>
            </a:ln>
          </p:spPr>
        </p:sp>
      </p:grpSp>
      <p:sp>
        <p:nvSpPr>
          <p:cNvPr name="TextBox 83" id="83"/>
          <p:cNvSpPr txBox="true"/>
          <p:nvPr/>
        </p:nvSpPr>
        <p:spPr>
          <a:xfrm rot="0">
            <a:off x="14232636" y="2915793"/>
            <a:ext cx="3424428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3"/>
              </a:lnSpc>
            </a:pPr>
            <a:r>
              <a:rPr lang="en-US" sz="1319" b="true">
                <a:solidFill>
                  <a:srgbClr val="191E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Zero Proprietary Licenses – 100% open-source software stack with no commercial licensing fees; minimal cloud hosting via client-side compute offload.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12275820" y="4416552"/>
            <a:ext cx="274320" cy="28575"/>
            <a:chOff x="0" y="0"/>
            <a:chExt cx="365760" cy="381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65760" cy="38100"/>
            </a:xfrm>
            <a:custGeom>
              <a:avLst/>
              <a:gdLst/>
              <a:ahLst/>
              <a:cxnLst/>
              <a:rect r="r" b="b" t="t" l="l"/>
              <a:pathLst>
                <a:path h="381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35400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3853160" y="4416552"/>
            <a:ext cx="274320" cy="28575"/>
            <a:chOff x="0" y="0"/>
            <a:chExt cx="365760" cy="381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65760" cy="38100"/>
            </a:xfrm>
            <a:custGeom>
              <a:avLst/>
              <a:gdLst/>
              <a:ahLst/>
              <a:cxnLst/>
              <a:rect r="r" b="b" t="t" l="l"/>
              <a:pathLst>
                <a:path h="381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35400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2538710" y="4034790"/>
            <a:ext cx="1737360" cy="777240"/>
            <a:chOff x="0" y="0"/>
            <a:chExt cx="2316480" cy="103632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316480" cy="1036320"/>
            </a:xfrm>
            <a:custGeom>
              <a:avLst/>
              <a:gdLst/>
              <a:ahLst/>
              <a:cxnLst/>
              <a:rect r="r" b="b" t="t" l="l"/>
              <a:pathLst>
                <a:path h="1036320" w="2316480">
                  <a:moveTo>
                    <a:pt x="0" y="172720"/>
                  </a:moveTo>
                  <a:cubicBezTo>
                    <a:pt x="0" y="77343"/>
                    <a:pt x="77343" y="0"/>
                    <a:pt x="172720" y="0"/>
                  </a:cubicBezTo>
                  <a:lnTo>
                    <a:pt x="2143760" y="0"/>
                  </a:lnTo>
                  <a:cubicBezTo>
                    <a:pt x="2239137" y="0"/>
                    <a:pt x="2316480" y="77343"/>
                    <a:pt x="2316480" y="172720"/>
                  </a:cubicBezTo>
                  <a:lnTo>
                    <a:pt x="2316480" y="863600"/>
                  </a:lnTo>
                  <a:cubicBezTo>
                    <a:pt x="2316480" y="958977"/>
                    <a:pt x="2239137" y="1036320"/>
                    <a:pt x="2143760" y="1036320"/>
                  </a:cubicBezTo>
                  <a:lnTo>
                    <a:pt x="172720" y="1036320"/>
                  </a:lnTo>
                  <a:cubicBezTo>
                    <a:pt x="77343" y="1036320"/>
                    <a:pt x="0" y="958977"/>
                    <a:pt x="0" y="863600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D35400"/>
              </a:solidFill>
              <a:prstDash val="solid"/>
              <a:miter/>
            </a:ln>
          </p:spPr>
        </p:sp>
      </p:grpSp>
      <p:sp>
        <p:nvSpPr>
          <p:cNvPr name="TextBox 90" id="90"/>
          <p:cNvSpPr txBox="true"/>
          <p:nvPr/>
        </p:nvSpPr>
        <p:spPr>
          <a:xfrm rot="0">
            <a:off x="12614148" y="4118610"/>
            <a:ext cx="158648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Operational</a:t>
            </a:r>
          </a:p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Feasibility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14119860" y="3970020"/>
            <a:ext cx="3649980" cy="906780"/>
            <a:chOff x="0" y="0"/>
            <a:chExt cx="4866640" cy="12090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866640" cy="1209040"/>
            </a:xfrm>
            <a:custGeom>
              <a:avLst/>
              <a:gdLst/>
              <a:ahLst/>
              <a:cxnLst/>
              <a:rect r="r" b="b" t="t" l="l"/>
              <a:pathLst>
                <a:path h="1209040" w="4866640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4665091" y="0"/>
                  </a:lnTo>
                  <a:cubicBezTo>
                    <a:pt x="4776343" y="0"/>
                    <a:pt x="4866640" y="90170"/>
                    <a:pt x="4866640" y="201549"/>
                  </a:cubicBezTo>
                  <a:lnTo>
                    <a:pt x="4866640" y="1007491"/>
                  </a:lnTo>
                  <a:cubicBezTo>
                    <a:pt x="4866640" y="1118743"/>
                    <a:pt x="4776470" y="1209040"/>
                    <a:pt x="4665091" y="1209040"/>
                  </a:cubicBezTo>
                  <a:lnTo>
                    <a:pt x="201549" y="1209040"/>
                  </a:lnTo>
                  <a:cubicBezTo>
                    <a:pt x="90170" y="1209040"/>
                    <a:pt x="0" y="1118870"/>
                    <a:pt x="0" y="1007491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35400"/>
              </a:solidFill>
              <a:prstDash val="solid"/>
              <a:miter/>
            </a:ln>
          </p:spPr>
        </p:sp>
      </p:grpSp>
      <p:sp>
        <p:nvSpPr>
          <p:cNvPr name="TextBox 93" id="93"/>
          <p:cNvSpPr txBox="true"/>
          <p:nvPr/>
        </p:nvSpPr>
        <p:spPr>
          <a:xfrm rot="0">
            <a:off x="14232636" y="4013073"/>
            <a:ext cx="3424428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3"/>
              </a:lnSpc>
            </a:pPr>
            <a:r>
              <a:rPr lang="en-US" sz="1319" b="true">
                <a:solidFill>
                  <a:srgbClr val="191E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Instant Zero-Install Access – Runs in any standard browser on campus networks without requiring administrative privileges or Python environments.</a:t>
            </a:r>
          </a:p>
        </p:txBody>
      </p:sp>
      <p:grpSp>
        <p:nvGrpSpPr>
          <p:cNvPr name="Group 94" id="94"/>
          <p:cNvGrpSpPr/>
          <p:nvPr/>
        </p:nvGrpSpPr>
        <p:grpSpPr>
          <a:xfrm rot="0">
            <a:off x="12275820" y="5513832"/>
            <a:ext cx="274320" cy="28575"/>
            <a:chOff x="0" y="0"/>
            <a:chExt cx="365760" cy="381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65760" cy="38100"/>
            </a:xfrm>
            <a:custGeom>
              <a:avLst/>
              <a:gdLst/>
              <a:ahLst/>
              <a:cxnLst/>
              <a:rect r="r" b="b" t="t" l="l"/>
              <a:pathLst>
                <a:path h="381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6A085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3853160" y="5513832"/>
            <a:ext cx="274320" cy="28575"/>
            <a:chOff x="0" y="0"/>
            <a:chExt cx="365760" cy="381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65760" cy="38100"/>
            </a:xfrm>
            <a:custGeom>
              <a:avLst/>
              <a:gdLst/>
              <a:ahLst/>
              <a:cxnLst/>
              <a:rect r="r" b="b" t="t" l="l"/>
              <a:pathLst>
                <a:path h="381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6A085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2538710" y="5132070"/>
            <a:ext cx="1737360" cy="777240"/>
            <a:chOff x="0" y="0"/>
            <a:chExt cx="2316480" cy="103632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316480" cy="1036320"/>
            </a:xfrm>
            <a:custGeom>
              <a:avLst/>
              <a:gdLst/>
              <a:ahLst/>
              <a:cxnLst/>
              <a:rect r="r" b="b" t="t" l="l"/>
              <a:pathLst>
                <a:path h="1036320" w="2316480">
                  <a:moveTo>
                    <a:pt x="0" y="172720"/>
                  </a:moveTo>
                  <a:cubicBezTo>
                    <a:pt x="0" y="77343"/>
                    <a:pt x="77343" y="0"/>
                    <a:pt x="172720" y="0"/>
                  </a:cubicBezTo>
                  <a:lnTo>
                    <a:pt x="2143760" y="0"/>
                  </a:lnTo>
                  <a:cubicBezTo>
                    <a:pt x="2239137" y="0"/>
                    <a:pt x="2316480" y="77343"/>
                    <a:pt x="2316480" y="172720"/>
                  </a:cubicBezTo>
                  <a:lnTo>
                    <a:pt x="2316480" y="863600"/>
                  </a:lnTo>
                  <a:cubicBezTo>
                    <a:pt x="2316480" y="958977"/>
                    <a:pt x="2239137" y="1036320"/>
                    <a:pt x="2143760" y="1036320"/>
                  </a:cubicBezTo>
                  <a:lnTo>
                    <a:pt x="172720" y="1036320"/>
                  </a:lnTo>
                  <a:cubicBezTo>
                    <a:pt x="77343" y="1036320"/>
                    <a:pt x="0" y="958977"/>
                    <a:pt x="0" y="863600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16A085"/>
              </a:solidFill>
              <a:prstDash val="solid"/>
              <a:miter/>
            </a:ln>
          </p:spPr>
        </p:sp>
      </p:grpSp>
      <p:sp>
        <p:nvSpPr>
          <p:cNvPr name="TextBox 100" id="100"/>
          <p:cNvSpPr txBox="true"/>
          <p:nvPr/>
        </p:nvSpPr>
        <p:spPr>
          <a:xfrm rot="0">
            <a:off x="12614148" y="5215890"/>
            <a:ext cx="158648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Pedagogical</a:t>
            </a:r>
          </a:p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Viability</a:t>
            </a:r>
          </a:p>
        </p:txBody>
      </p:sp>
      <p:grpSp>
        <p:nvGrpSpPr>
          <p:cNvPr name="Group 101" id="101"/>
          <p:cNvGrpSpPr/>
          <p:nvPr/>
        </p:nvGrpSpPr>
        <p:grpSpPr>
          <a:xfrm rot="0">
            <a:off x="14119860" y="5067300"/>
            <a:ext cx="3649980" cy="906780"/>
            <a:chOff x="0" y="0"/>
            <a:chExt cx="4866640" cy="12090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866640" cy="1209040"/>
            </a:xfrm>
            <a:custGeom>
              <a:avLst/>
              <a:gdLst/>
              <a:ahLst/>
              <a:cxnLst/>
              <a:rect r="r" b="b" t="t" l="l"/>
              <a:pathLst>
                <a:path h="1209040" w="4866640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4665091" y="0"/>
                  </a:lnTo>
                  <a:cubicBezTo>
                    <a:pt x="4776343" y="0"/>
                    <a:pt x="4866640" y="90170"/>
                    <a:pt x="4866640" y="201549"/>
                  </a:cubicBezTo>
                  <a:lnTo>
                    <a:pt x="4866640" y="1007491"/>
                  </a:lnTo>
                  <a:cubicBezTo>
                    <a:pt x="4866640" y="1118743"/>
                    <a:pt x="4776470" y="1209040"/>
                    <a:pt x="4665091" y="1209040"/>
                  </a:cubicBezTo>
                  <a:lnTo>
                    <a:pt x="201549" y="1209040"/>
                  </a:lnTo>
                  <a:cubicBezTo>
                    <a:pt x="90170" y="1209040"/>
                    <a:pt x="0" y="1118870"/>
                    <a:pt x="0" y="1007491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16A085"/>
              </a:solidFill>
              <a:prstDash val="solid"/>
              <a:miter/>
            </a:ln>
          </p:spPr>
        </p:sp>
      </p:grpSp>
      <p:sp>
        <p:nvSpPr>
          <p:cNvPr name="TextBox 103" id="103"/>
          <p:cNvSpPr txBox="true"/>
          <p:nvPr/>
        </p:nvSpPr>
        <p:spPr>
          <a:xfrm rot="0">
            <a:off x="14232636" y="5110353"/>
            <a:ext cx="3424428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3"/>
              </a:lnSpc>
            </a:pPr>
            <a:r>
              <a:rPr lang="en-US" sz="1319" b="true">
                <a:solidFill>
                  <a:srgbClr val="191E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Curriculum Ready – Directly maps to standard undergraduate university physics/CS syllabi and India's National Quantum Mission skill roadmaps.</a:t>
            </a:r>
          </a:p>
        </p:txBody>
      </p:sp>
      <p:grpSp>
        <p:nvGrpSpPr>
          <p:cNvPr name="Group 104" id="104"/>
          <p:cNvGrpSpPr/>
          <p:nvPr/>
        </p:nvGrpSpPr>
        <p:grpSpPr>
          <a:xfrm rot="0">
            <a:off x="7738110" y="6366510"/>
            <a:ext cx="2834640" cy="571500"/>
            <a:chOff x="0" y="0"/>
            <a:chExt cx="3779520" cy="7620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779520" cy="762000"/>
            </a:xfrm>
            <a:custGeom>
              <a:avLst/>
              <a:gdLst/>
              <a:ahLst/>
              <a:cxnLst/>
              <a:rect r="r" b="b" t="t" l="l"/>
              <a:pathLst>
                <a:path h="762000" w="377952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3652520" y="0"/>
                  </a:lnTo>
                  <a:cubicBezTo>
                    <a:pt x="3722624" y="0"/>
                    <a:pt x="3779520" y="56896"/>
                    <a:pt x="3779520" y="127000"/>
                  </a:cubicBezTo>
                  <a:lnTo>
                    <a:pt x="3779520" y="635000"/>
                  </a:lnTo>
                  <a:cubicBezTo>
                    <a:pt x="3779520" y="705104"/>
                    <a:pt x="3722624" y="762000"/>
                    <a:pt x="3652520" y="762000"/>
                  </a:cubicBezTo>
                  <a:lnTo>
                    <a:pt x="127000" y="762000"/>
                  </a:lnTo>
                  <a:cubicBezTo>
                    <a:pt x="56896" y="762000"/>
                    <a:pt x="0" y="705104"/>
                    <a:pt x="0" y="635000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191E23"/>
              </a:solidFill>
              <a:prstDash val="solid"/>
              <a:miter/>
            </a:ln>
          </p:spPr>
        </p:sp>
      </p:grpSp>
      <p:sp>
        <p:nvSpPr>
          <p:cNvPr name="TextBox 106" id="106"/>
          <p:cNvSpPr txBox="true"/>
          <p:nvPr/>
        </p:nvSpPr>
        <p:spPr>
          <a:xfrm rot="0">
            <a:off x="7738110" y="6483096"/>
            <a:ext cx="283464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999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Economic Feasibility</a:t>
            </a:r>
          </a:p>
        </p:txBody>
      </p:sp>
      <p:grpSp>
        <p:nvGrpSpPr>
          <p:cNvPr name="Group 107" id="107"/>
          <p:cNvGrpSpPr/>
          <p:nvPr/>
        </p:nvGrpSpPr>
        <p:grpSpPr>
          <a:xfrm rot="0">
            <a:off x="9148572" y="6926580"/>
            <a:ext cx="28575" cy="274320"/>
            <a:chOff x="0" y="0"/>
            <a:chExt cx="38100" cy="36576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8100" cy="365760"/>
            </a:xfrm>
            <a:custGeom>
              <a:avLst/>
              <a:gdLst/>
              <a:ahLst/>
              <a:cxnLst/>
              <a:rect r="r" b="b" t="t" l="l"/>
              <a:pathLst>
                <a:path h="365760" w="38100">
                  <a:moveTo>
                    <a:pt x="0" y="0"/>
                  </a:moveTo>
                  <a:lnTo>
                    <a:pt x="38100" y="0"/>
                  </a:lnTo>
                  <a:lnTo>
                    <a:pt x="3810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191E23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4046220" y="7063740"/>
            <a:ext cx="10149840" cy="28575"/>
            <a:chOff x="0" y="0"/>
            <a:chExt cx="13533120" cy="3810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3533120" cy="38100"/>
            </a:xfrm>
            <a:custGeom>
              <a:avLst/>
              <a:gdLst/>
              <a:ahLst/>
              <a:cxnLst/>
              <a:rect r="r" b="b" t="t" l="l"/>
              <a:pathLst>
                <a:path h="38100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91E23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4046220" y="7063740"/>
            <a:ext cx="28575" cy="137160"/>
            <a:chOff x="0" y="0"/>
            <a:chExt cx="38100" cy="18288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8100" cy="182880"/>
            </a:xfrm>
            <a:custGeom>
              <a:avLst/>
              <a:gdLst/>
              <a:ahLst/>
              <a:cxnLst/>
              <a:rect r="r" b="b" t="t" l="l"/>
              <a:pathLst>
                <a:path h="182880" w="38100">
                  <a:moveTo>
                    <a:pt x="0" y="0"/>
                  </a:moveTo>
                  <a:lnTo>
                    <a:pt x="38100" y="0"/>
                  </a:lnTo>
                  <a:lnTo>
                    <a:pt x="3810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2980B9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9121140" y="7063740"/>
            <a:ext cx="28575" cy="137160"/>
            <a:chOff x="0" y="0"/>
            <a:chExt cx="38100" cy="18288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38100" cy="182880"/>
            </a:xfrm>
            <a:custGeom>
              <a:avLst/>
              <a:gdLst/>
              <a:ahLst/>
              <a:cxnLst/>
              <a:rect r="r" b="b" t="t" l="l"/>
              <a:pathLst>
                <a:path h="182880" w="38100">
                  <a:moveTo>
                    <a:pt x="0" y="0"/>
                  </a:moveTo>
                  <a:lnTo>
                    <a:pt x="38100" y="0"/>
                  </a:lnTo>
                  <a:lnTo>
                    <a:pt x="3810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27AE60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4196060" y="7063740"/>
            <a:ext cx="28575" cy="137160"/>
            <a:chOff x="0" y="0"/>
            <a:chExt cx="38100" cy="18288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38100" cy="182880"/>
            </a:xfrm>
            <a:custGeom>
              <a:avLst/>
              <a:gdLst/>
              <a:ahLst/>
              <a:cxnLst/>
              <a:rect r="r" b="b" t="t" l="l"/>
              <a:pathLst>
                <a:path h="182880" w="38100">
                  <a:moveTo>
                    <a:pt x="0" y="0"/>
                  </a:moveTo>
                  <a:lnTo>
                    <a:pt x="38100" y="0"/>
                  </a:lnTo>
                  <a:lnTo>
                    <a:pt x="3810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2870835" y="7191375"/>
            <a:ext cx="2350770" cy="499110"/>
            <a:chOff x="0" y="0"/>
            <a:chExt cx="3134360" cy="66548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3134360" cy="665480"/>
            </a:xfrm>
            <a:custGeom>
              <a:avLst/>
              <a:gdLst/>
              <a:ahLst/>
              <a:cxnLst/>
              <a:rect r="r" b="b" t="t" l="l"/>
              <a:pathLst>
                <a:path h="665480" w="3134360">
                  <a:moveTo>
                    <a:pt x="0" y="110871"/>
                  </a:moveTo>
                  <a:cubicBezTo>
                    <a:pt x="0" y="49657"/>
                    <a:pt x="49657" y="0"/>
                    <a:pt x="110871" y="0"/>
                  </a:cubicBezTo>
                  <a:lnTo>
                    <a:pt x="3023489" y="0"/>
                  </a:lnTo>
                  <a:cubicBezTo>
                    <a:pt x="3084703" y="0"/>
                    <a:pt x="3134360" y="49657"/>
                    <a:pt x="3134360" y="110871"/>
                  </a:cubicBezTo>
                  <a:lnTo>
                    <a:pt x="3134360" y="554609"/>
                  </a:lnTo>
                  <a:cubicBezTo>
                    <a:pt x="3134360" y="615823"/>
                    <a:pt x="3084703" y="665480"/>
                    <a:pt x="3023489" y="665480"/>
                  </a:cubicBezTo>
                  <a:lnTo>
                    <a:pt x="110871" y="665480"/>
                  </a:lnTo>
                  <a:cubicBezTo>
                    <a:pt x="49657" y="665480"/>
                    <a:pt x="0" y="615823"/>
                    <a:pt x="0" y="5546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980B9"/>
              </a:solidFill>
              <a:prstDash val="solid"/>
              <a:miter/>
            </a:ln>
          </p:spPr>
        </p:sp>
      </p:grpSp>
      <p:sp>
        <p:nvSpPr>
          <p:cNvPr name="TextBox 119" id="119"/>
          <p:cNvSpPr txBox="true"/>
          <p:nvPr/>
        </p:nvSpPr>
        <p:spPr>
          <a:xfrm rot="0">
            <a:off x="2870835" y="7307580"/>
            <a:ext cx="235077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Low CapEx / OpEx</a:t>
            </a:r>
          </a:p>
        </p:txBody>
      </p:sp>
      <p:grpSp>
        <p:nvGrpSpPr>
          <p:cNvPr name="Group 120" id="120"/>
          <p:cNvGrpSpPr/>
          <p:nvPr/>
        </p:nvGrpSpPr>
        <p:grpSpPr>
          <a:xfrm rot="0">
            <a:off x="7945755" y="7191375"/>
            <a:ext cx="2350770" cy="499110"/>
            <a:chOff x="0" y="0"/>
            <a:chExt cx="3134360" cy="66548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3134360" cy="665480"/>
            </a:xfrm>
            <a:custGeom>
              <a:avLst/>
              <a:gdLst/>
              <a:ahLst/>
              <a:cxnLst/>
              <a:rect r="r" b="b" t="t" l="l"/>
              <a:pathLst>
                <a:path h="665480" w="3134360">
                  <a:moveTo>
                    <a:pt x="0" y="110871"/>
                  </a:moveTo>
                  <a:cubicBezTo>
                    <a:pt x="0" y="49657"/>
                    <a:pt x="49657" y="0"/>
                    <a:pt x="110871" y="0"/>
                  </a:cubicBezTo>
                  <a:lnTo>
                    <a:pt x="3023489" y="0"/>
                  </a:lnTo>
                  <a:cubicBezTo>
                    <a:pt x="3084703" y="0"/>
                    <a:pt x="3134360" y="49657"/>
                    <a:pt x="3134360" y="110871"/>
                  </a:cubicBezTo>
                  <a:lnTo>
                    <a:pt x="3134360" y="554609"/>
                  </a:lnTo>
                  <a:cubicBezTo>
                    <a:pt x="3134360" y="615823"/>
                    <a:pt x="3084703" y="665480"/>
                    <a:pt x="3023489" y="665480"/>
                  </a:cubicBezTo>
                  <a:lnTo>
                    <a:pt x="110871" y="665480"/>
                  </a:lnTo>
                  <a:cubicBezTo>
                    <a:pt x="49657" y="665480"/>
                    <a:pt x="0" y="615823"/>
                    <a:pt x="0" y="5546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7AE60"/>
              </a:solidFill>
              <a:prstDash val="solid"/>
              <a:miter/>
            </a:ln>
          </p:spPr>
        </p:sp>
      </p:grpSp>
      <p:sp>
        <p:nvSpPr>
          <p:cNvPr name="TextBox 122" id="122"/>
          <p:cNvSpPr txBox="true"/>
          <p:nvPr/>
        </p:nvSpPr>
        <p:spPr>
          <a:xfrm rot="0">
            <a:off x="7945755" y="7307580"/>
            <a:ext cx="235077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Savings Drivers</a:t>
            </a:r>
          </a:p>
        </p:txBody>
      </p:sp>
      <p:grpSp>
        <p:nvGrpSpPr>
          <p:cNvPr name="Group 123" id="123"/>
          <p:cNvGrpSpPr/>
          <p:nvPr/>
        </p:nvGrpSpPr>
        <p:grpSpPr>
          <a:xfrm rot="0">
            <a:off x="13020675" y="7191375"/>
            <a:ext cx="2350770" cy="499110"/>
            <a:chOff x="0" y="0"/>
            <a:chExt cx="3134360" cy="66548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3134360" cy="665480"/>
            </a:xfrm>
            <a:custGeom>
              <a:avLst/>
              <a:gdLst/>
              <a:ahLst/>
              <a:cxnLst/>
              <a:rect r="r" b="b" t="t" l="l"/>
              <a:pathLst>
                <a:path h="665480" w="3134360">
                  <a:moveTo>
                    <a:pt x="0" y="110871"/>
                  </a:moveTo>
                  <a:cubicBezTo>
                    <a:pt x="0" y="49657"/>
                    <a:pt x="49657" y="0"/>
                    <a:pt x="110871" y="0"/>
                  </a:cubicBezTo>
                  <a:lnTo>
                    <a:pt x="3023489" y="0"/>
                  </a:lnTo>
                  <a:cubicBezTo>
                    <a:pt x="3084703" y="0"/>
                    <a:pt x="3134360" y="49657"/>
                    <a:pt x="3134360" y="110871"/>
                  </a:cubicBezTo>
                  <a:lnTo>
                    <a:pt x="3134360" y="554609"/>
                  </a:lnTo>
                  <a:cubicBezTo>
                    <a:pt x="3134360" y="615823"/>
                    <a:pt x="3084703" y="665480"/>
                    <a:pt x="3023489" y="665480"/>
                  </a:cubicBezTo>
                  <a:lnTo>
                    <a:pt x="110871" y="665480"/>
                  </a:lnTo>
                  <a:cubicBezTo>
                    <a:pt x="49657" y="665480"/>
                    <a:pt x="0" y="615823"/>
                    <a:pt x="0" y="5546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0392B"/>
              </a:solidFill>
              <a:prstDash val="solid"/>
              <a:miter/>
            </a:ln>
          </p:spPr>
        </p:sp>
      </p:grpSp>
      <p:sp>
        <p:nvSpPr>
          <p:cNvPr name="TextBox 125" id="125"/>
          <p:cNvSpPr txBox="true"/>
          <p:nvPr/>
        </p:nvSpPr>
        <p:spPr>
          <a:xfrm rot="0">
            <a:off x="13020675" y="7307580"/>
            <a:ext cx="235077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Institutional &amp; Rural Fit</a:t>
            </a:r>
          </a:p>
        </p:txBody>
      </p:sp>
      <p:grpSp>
        <p:nvGrpSpPr>
          <p:cNvPr name="Group 126" id="126"/>
          <p:cNvGrpSpPr/>
          <p:nvPr/>
        </p:nvGrpSpPr>
        <p:grpSpPr>
          <a:xfrm rot="0">
            <a:off x="4046220" y="7680960"/>
            <a:ext cx="28575" cy="205740"/>
            <a:chOff x="0" y="0"/>
            <a:chExt cx="38100" cy="27432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38100" cy="274320"/>
            </a:xfrm>
            <a:custGeom>
              <a:avLst/>
              <a:gdLst/>
              <a:ahLst/>
              <a:cxnLst/>
              <a:rect r="r" b="b" t="t" l="l"/>
              <a:pathLst>
                <a:path h="274320" w="38100">
                  <a:moveTo>
                    <a:pt x="0" y="0"/>
                  </a:moveTo>
                  <a:lnTo>
                    <a:pt x="38100" y="0"/>
                  </a:lnTo>
                  <a:lnTo>
                    <a:pt x="38100" y="274320"/>
                  </a:lnTo>
                  <a:lnTo>
                    <a:pt x="0" y="274320"/>
                  </a:lnTo>
                  <a:close/>
                </a:path>
              </a:pathLst>
            </a:custGeom>
            <a:solidFill>
              <a:srgbClr val="2980B9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9121140" y="7680960"/>
            <a:ext cx="28575" cy="205740"/>
            <a:chOff x="0" y="0"/>
            <a:chExt cx="38100" cy="27432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38100" cy="274320"/>
            </a:xfrm>
            <a:custGeom>
              <a:avLst/>
              <a:gdLst/>
              <a:ahLst/>
              <a:cxnLst/>
              <a:rect r="r" b="b" t="t" l="l"/>
              <a:pathLst>
                <a:path h="274320" w="38100">
                  <a:moveTo>
                    <a:pt x="0" y="0"/>
                  </a:moveTo>
                  <a:lnTo>
                    <a:pt x="38100" y="0"/>
                  </a:lnTo>
                  <a:lnTo>
                    <a:pt x="38100" y="274320"/>
                  </a:lnTo>
                  <a:lnTo>
                    <a:pt x="0" y="274320"/>
                  </a:lnTo>
                  <a:close/>
                </a:path>
              </a:pathLst>
            </a:custGeom>
            <a:solidFill>
              <a:srgbClr val="27AE6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14196060" y="7680960"/>
            <a:ext cx="28575" cy="205740"/>
            <a:chOff x="0" y="0"/>
            <a:chExt cx="38100" cy="27432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38100" cy="274320"/>
            </a:xfrm>
            <a:custGeom>
              <a:avLst/>
              <a:gdLst/>
              <a:ahLst/>
              <a:cxnLst/>
              <a:rect r="r" b="b" t="t" l="l"/>
              <a:pathLst>
                <a:path h="274320" w="38100">
                  <a:moveTo>
                    <a:pt x="0" y="0"/>
                  </a:moveTo>
                  <a:lnTo>
                    <a:pt x="38100" y="0"/>
                  </a:lnTo>
                  <a:lnTo>
                    <a:pt x="38100" y="274320"/>
                  </a:lnTo>
                  <a:lnTo>
                    <a:pt x="0" y="27432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1362075" y="7877175"/>
            <a:ext cx="4956810" cy="1596390"/>
            <a:chOff x="0" y="0"/>
            <a:chExt cx="6609080" cy="212852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66090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6609080">
                  <a:moveTo>
                    <a:pt x="0" y="354711"/>
                  </a:moveTo>
                  <a:cubicBezTo>
                    <a:pt x="0" y="158877"/>
                    <a:pt x="158877" y="0"/>
                    <a:pt x="354711" y="0"/>
                  </a:cubicBezTo>
                  <a:lnTo>
                    <a:pt x="6254369" y="0"/>
                  </a:lnTo>
                  <a:cubicBezTo>
                    <a:pt x="6450330" y="0"/>
                    <a:pt x="6609080" y="158877"/>
                    <a:pt x="6609080" y="354711"/>
                  </a:cubicBezTo>
                  <a:lnTo>
                    <a:pt x="6609080" y="1773809"/>
                  </a:lnTo>
                  <a:cubicBezTo>
                    <a:pt x="6609080" y="1969770"/>
                    <a:pt x="6450203" y="2128520"/>
                    <a:pt x="6254369" y="2128520"/>
                  </a:cubicBezTo>
                  <a:lnTo>
                    <a:pt x="354711" y="2128520"/>
                  </a:lnTo>
                  <a:cubicBezTo>
                    <a:pt x="158877" y="2128520"/>
                    <a:pt x="0" y="1969643"/>
                    <a:pt x="0" y="1773809"/>
                  </a:cubicBezTo>
                  <a:close/>
                </a:path>
              </a:pathLst>
            </a:custGeom>
            <a:solidFill>
              <a:srgbClr val="F0F6FF"/>
            </a:solidFill>
            <a:ln w="19050" cap="sq">
              <a:solidFill>
                <a:srgbClr val="2980B9"/>
              </a:solidFill>
              <a:prstDash val="solid"/>
              <a:miter/>
            </a:ln>
          </p:spPr>
        </p:sp>
      </p:grpSp>
      <p:sp>
        <p:nvSpPr>
          <p:cNvPr name="TextBox 134" id="134"/>
          <p:cNvSpPr txBox="true"/>
          <p:nvPr/>
        </p:nvSpPr>
        <p:spPr>
          <a:xfrm rot="0">
            <a:off x="1362075" y="8220075"/>
            <a:ext cx="4947285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Based on open-source commodity software (React, Three.js, Qiskit, QuTiP, FastAPI) and avoiding any recurring software licensing fees and institutional set-up costs almost zero.</a:t>
            </a:r>
          </a:p>
        </p:txBody>
      </p:sp>
      <p:grpSp>
        <p:nvGrpSpPr>
          <p:cNvPr name="Group 135" id="135"/>
          <p:cNvGrpSpPr/>
          <p:nvPr/>
        </p:nvGrpSpPr>
        <p:grpSpPr>
          <a:xfrm rot="0">
            <a:off x="6642735" y="7877175"/>
            <a:ext cx="4956810" cy="1596390"/>
            <a:chOff x="0" y="0"/>
            <a:chExt cx="6609080" cy="212852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6090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6609080">
                  <a:moveTo>
                    <a:pt x="0" y="354711"/>
                  </a:moveTo>
                  <a:cubicBezTo>
                    <a:pt x="0" y="158877"/>
                    <a:pt x="158877" y="0"/>
                    <a:pt x="354711" y="0"/>
                  </a:cubicBezTo>
                  <a:lnTo>
                    <a:pt x="6254369" y="0"/>
                  </a:lnTo>
                  <a:cubicBezTo>
                    <a:pt x="6450330" y="0"/>
                    <a:pt x="6609080" y="158877"/>
                    <a:pt x="6609080" y="354711"/>
                  </a:cubicBezTo>
                  <a:lnTo>
                    <a:pt x="6609080" y="1773809"/>
                  </a:lnTo>
                  <a:cubicBezTo>
                    <a:pt x="6609080" y="1969770"/>
                    <a:pt x="6450203" y="2128520"/>
                    <a:pt x="6254369" y="2128520"/>
                  </a:cubicBezTo>
                  <a:lnTo>
                    <a:pt x="354711" y="2128520"/>
                  </a:lnTo>
                  <a:cubicBezTo>
                    <a:pt x="158877" y="2128520"/>
                    <a:pt x="0" y="1969643"/>
                    <a:pt x="0" y="1773809"/>
                  </a:cubicBezTo>
                  <a:close/>
                </a:path>
              </a:pathLst>
            </a:custGeom>
            <a:solidFill>
              <a:srgbClr val="EEFCF0"/>
            </a:solidFill>
            <a:ln w="19050" cap="sq">
              <a:solidFill>
                <a:srgbClr val="27AE60"/>
              </a:solidFill>
              <a:prstDash val="solid"/>
              <a:miter/>
            </a:ln>
          </p:spPr>
        </p:sp>
      </p:grpSp>
      <p:sp>
        <p:nvSpPr>
          <p:cNvPr name="TextBox 137" id="137"/>
          <p:cNvSpPr txBox="true"/>
          <p:nvPr/>
        </p:nvSpPr>
        <p:spPr>
          <a:xfrm rot="0">
            <a:off x="6840283" y="8220075"/>
            <a:ext cx="459028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Client-Side WebGL technology moves around 85% or more of the compute load involved in quantum simulations off central servers and onto student browser threads.</a:t>
            </a:r>
          </a:p>
        </p:txBody>
      </p:sp>
      <p:grpSp>
        <p:nvGrpSpPr>
          <p:cNvPr name="Group 138" id="138"/>
          <p:cNvGrpSpPr/>
          <p:nvPr/>
        </p:nvGrpSpPr>
        <p:grpSpPr>
          <a:xfrm rot="0">
            <a:off x="11923395" y="7877175"/>
            <a:ext cx="4956810" cy="1596390"/>
            <a:chOff x="0" y="0"/>
            <a:chExt cx="6609080" cy="212852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66090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6609080">
                  <a:moveTo>
                    <a:pt x="0" y="354711"/>
                  </a:moveTo>
                  <a:cubicBezTo>
                    <a:pt x="0" y="158877"/>
                    <a:pt x="158877" y="0"/>
                    <a:pt x="354711" y="0"/>
                  </a:cubicBezTo>
                  <a:lnTo>
                    <a:pt x="6254369" y="0"/>
                  </a:lnTo>
                  <a:cubicBezTo>
                    <a:pt x="6450330" y="0"/>
                    <a:pt x="6609080" y="158877"/>
                    <a:pt x="6609080" y="354711"/>
                  </a:cubicBezTo>
                  <a:lnTo>
                    <a:pt x="6609080" y="1773809"/>
                  </a:lnTo>
                  <a:cubicBezTo>
                    <a:pt x="6609080" y="1969770"/>
                    <a:pt x="6450203" y="2128520"/>
                    <a:pt x="6254369" y="2128520"/>
                  </a:cubicBezTo>
                  <a:lnTo>
                    <a:pt x="354711" y="2128520"/>
                  </a:lnTo>
                  <a:cubicBezTo>
                    <a:pt x="158877" y="2128520"/>
                    <a:pt x="0" y="1969643"/>
                    <a:pt x="0" y="1773809"/>
                  </a:cubicBezTo>
                  <a:close/>
                </a:path>
              </a:pathLst>
            </a:custGeom>
            <a:solidFill>
              <a:srgbClr val="FEF2F2"/>
            </a:solidFill>
            <a:ln w="19050" cap="sq">
              <a:solidFill>
                <a:srgbClr val="C0392B"/>
              </a:solidFill>
              <a:prstDash val="solid"/>
              <a:miter/>
            </a:ln>
          </p:spPr>
        </p:sp>
      </p:grpSp>
      <p:sp>
        <p:nvSpPr>
          <p:cNvPr name="TextBox 140" id="140"/>
          <p:cNvSpPr txBox="true"/>
          <p:nvPr/>
        </p:nvSpPr>
        <p:spPr>
          <a:xfrm rot="0">
            <a:off x="12123420" y="8172450"/>
            <a:ext cx="459028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Developed for traditional computer laboratories on campus and laptop computers that don’t require powerful GPUs, thereby making quantum education accessible to all colleges across the country.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6100" y="246888"/>
            <a:ext cx="11795760" cy="1165860"/>
            <a:chOff x="0" y="0"/>
            <a:chExt cx="15727680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2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5727680" cy="1640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99"/>
                </a:lnSpc>
              </a:pPr>
              <a:r>
                <a:rPr lang="en-US" sz="4499" b="true">
                  <a:solidFill>
                    <a:srgbClr val="0E2A47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IMPACT AND BENEFITS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9590" y="310134"/>
            <a:ext cx="2438400" cy="1107948"/>
            <a:chOff x="0" y="0"/>
            <a:chExt cx="3251200" cy="1477264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251200" cy="1477264"/>
            </a:xfrm>
            <a:custGeom>
              <a:avLst/>
              <a:gdLst/>
              <a:ahLst/>
              <a:cxnLst/>
              <a:rect r="r" b="b" t="t" l="l"/>
              <a:pathLst>
                <a:path h="1477264" w="3251200">
                  <a:moveTo>
                    <a:pt x="0" y="738632"/>
                  </a:moveTo>
                  <a:cubicBezTo>
                    <a:pt x="0" y="330708"/>
                    <a:pt x="727837" y="0"/>
                    <a:pt x="1625600" y="0"/>
                  </a:cubicBezTo>
                  <a:cubicBezTo>
                    <a:pt x="2523363" y="0"/>
                    <a:pt x="3251200" y="330708"/>
                    <a:pt x="3251200" y="738632"/>
                  </a:cubicBezTo>
                  <a:cubicBezTo>
                    <a:pt x="3251200" y="1146556"/>
                    <a:pt x="2523363" y="1477264"/>
                    <a:pt x="1625600" y="1477264"/>
                  </a:cubicBezTo>
                  <a:cubicBezTo>
                    <a:pt x="727837" y="1477264"/>
                    <a:pt x="0" y="1146556"/>
                    <a:pt x="0" y="73863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A329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251200" cy="149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91E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GITWOLVES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468880" y="1851660"/>
            <a:ext cx="2263140" cy="2263140"/>
            <a:chOff x="0" y="0"/>
            <a:chExt cx="3017520" cy="3017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17520" cy="3017520"/>
            </a:xfrm>
            <a:custGeom>
              <a:avLst/>
              <a:gdLst/>
              <a:ahLst/>
              <a:cxnLst/>
              <a:rect r="r" b="b" t="t" l="l"/>
              <a:pathLst>
                <a:path h="3017520" w="3017520">
                  <a:moveTo>
                    <a:pt x="0" y="1508760"/>
                  </a:moveTo>
                  <a:cubicBezTo>
                    <a:pt x="0" y="675513"/>
                    <a:pt x="675513" y="0"/>
                    <a:pt x="1508760" y="0"/>
                  </a:cubicBezTo>
                  <a:cubicBezTo>
                    <a:pt x="2342007" y="0"/>
                    <a:pt x="3017520" y="675513"/>
                    <a:pt x="3017520" y="1508760"/>
                  </a:cubicBezTo>
                  <a:cubicBezTo>
                    <a:pt x="3017520" y="2342007"/>
                    <a:pt x="2342007" y="3017520"/>
                    <a:pt x="1508760" y="3017520"/>
                  </a:cubicBezTo>
                  <a:cubicBezTo>
                    <a:pt x="675513" y="3017520"/>
                    <a:pt x="0" y="2342007"/>
                    <a:pt x="0" y="1508760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574036" y="2212086"/>
            <a:ext cx="2052828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9"/>
              </a:lnSpc>
            </a:pPr>
            <a:r>
              <a:rPr lang="en-US" sz="40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85%</a:t>
            </a:r>
          </a:p>
          <a:p>
            <a:pPr algn="ctr">
              <a:lnSpc>
                <a:spcPts val="2039"/>
              </a:lnSpc>
            </a:pPr>
            <a:r>
              <a:rPr lang="en-US" sz="16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MASTERY GAIN</a:t>
            </a:r>
          </a:p>
          <a:p>
            <a:pPr algn="ctr">
              <a:lnSpc>
                <a:spcPts val="1823"/>
              </a:lnSpc>
            </a:pPr>
            <a:r>
              <a:rPr lang="en-US" sz="1519" b="true">
                <a:solidFill>
                  <a:srgbClr val="E6FFE6"/>
                </a:solidFill>
                <a:latin typeface="Arial Bold"/>
                <a:ea typeface="Arial Bold"/>
                <a:cs typeface="Arial Bold"/>
                <a:sym typeface="Arial Bold"/>
              </a:rPr>
              <a:t>PEDAGOGICAL METRIC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31136" y="4191381"/>
            <a:ext cx="273862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9"/>
              </a:lnSpc>
            </a:pPr>
            <a:r>
              <a:rPr lang="en-US" sz="1849" b="true">
                <a:solidFill>
                  <a:srgbClr val="0E2A47"/>
                </a:solidFill>
                <a:latin typeface="Arial Bold"/>
                <a:ea typeface="Arial Bold"/>
                <a:cs typeface="Arial Bold"/>
                <a:sym typeface="Arial Bold"/>
              </a:rPr>
              <a:t>ACADEMIC IMPACT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023860" y="1851660"/>
            <a:ext cx="2263140" cy="2263140"/>
            <a:chOff x="0" y="0"/>
            <a:chExt cx="3017520" cy="3017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17520" cy="3017520"/>
            </a:xfrm>
            <a:custGeom>
              <a:avLst/>
              <a:gdLst/>
              <a:ahLst/>
              <a:cxnLst/>
              <a:rect r="r" b="b" t="t" l="l"/>
              <a:pathLst>
                <a:path h="3017520" w="3017520">
                  <a:moveTo>
                    <a:pt x="0" y="1508760"/>
                  </a:moveTo>
                  <a:cubicBezTo>
                    <a:pt x="0" y="675513"/>
                    <a:pt x="675513" y="0"/>
                    <a:pt x="1508760" y="0"/>
                  </a:cubicBezTo>
                  <a:cubicBezTo>
                    <a:pt x="2342007" y="0"/>
                    <a:pt x="3017520" y="675513"/>
                    <a:pt x="3017520" y="1508760"/>
                  </a:cubicBezTo>
                  <a:cubicBezTo>
                    <a:pt x="3017520" y="2342007"/>
                    <a:pt x="2342007" y="3017520"/>
                    <a:pt x="1508760" y="3017520"/>
                  </a:cubicBezTo>
                  <a:cubicBezTo>
                    <a:pt x="675513" y="3017520"/>
                    <a:pt x="0" y="2342007"/>
                    <a:pt x="0" y="1508760"/>
                  </a:cubicBezTo>
                  <a:close/>
                </a:path>
              </a:pathLst>
            </a:custGeom>
            <a:solidFill>
              <a:srgbClr val="2E7D32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129016" y="2212086"/>
            <a:ext cx="2052828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9"/>
              </a:lnSpc>
            </a:pPr>
            <a:r>
              <a:rPr lang="en-US" sz="40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100%</a:t>
            </a:r>
          </a:p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ZERO COST</a:t>
            </a:r>
          </a:p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E6FFE6"/>
                </a:solidFill>
                <a:latin typeface="Arial Bold"/>
                <a:ea typeface="Arial Bold"/>
                <a:cs typeface="Arial Bold"/>
                <a:sym typeface="Arial Bold"/>
              </a:rPr>
              <a:t>FINANCIAL METRIC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04176" y="4191381"/>
            <a:ext cx="349300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9"/>
              </a:lnSpc>
            </a:pPr>
            <a:r>
              <a:rPr lang="en-US" sz="1849" b="true">
                <a:solidFill>
                  <a:srgbClr val="0E2A47"/>
                </a:solidFill>
                <a:latin typeface="Arial Bold"/>
                <a:ea typeface="Arial Bold"/>
                <a:cs typeface="Arial Bold"/>
                <a:sym typeface="Arial Bold"/>
              </a:rPr>
              <a:t>METHODS &amp; ASSUMPTIONS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578840" y="1851660"/>
            <a:ext cx="2263140" cy="2263140"/>
            <a:chOff x="0" y="0"/>
            <a:chExt cx="3017520" cy="3017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17520" cy="3017520"/>
            </a:xfrm>
            <a:custGeom>
              <a:avLst/>
              <a:gdLst/>
              <a:ahLst/>
              <a:cxnLst/>
              <a:rect r="r" b="b" t="t" l="l"/>
              <a:pathLst>
                <a:path h="3017520" w="3017520">
                  <a:moveTo>
                    <a:pt x="0" y="1508760"/>
                  </a:moveTo>
                  <a:cubicBezTo>
                    <a:pt x="0" y="675513"/>
                    <a:pt x="675513" y="0"/>
                    <a:pt x="1508760" y="0"/>
                  </a:cubicBezTo>
                  <a:cubicBezTo>
                    <a:pt x="2342007" y="0"/>
                    <a:pt x="3017520" y="675513"/>
                    <a:pt x="3017520" y="1508760"/>
                  </a:cubicBezTo>
                  <a:cubicBezTo>
                    <a:pt x="3017520" y="2342007"/>
                    <a:pt x="2342007" y="3017520"/>
                    <a:pt x="1508760" y="3017520"/>
                  </a:cubicBezTo>
                  <a:cubicBezTo>
                    <a:pt x="675513" y="3017520"/>
                    <a:pt x="0" y="2342007"/>
                    <a:pt x="0" y="1508760"/>
                  </a:cubicBezTo>
                  <a:close/>
                </a:path>
              </a:pathLst>
            </a:custGeom>
            <a:solidFill>
              <a:srgbClr val="0F5132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3687425" y="2193036"/>
            <a:ext cx="2052828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50,000+</a:t>
            </a:r>
          </a:p>
          <a:p>
            <a:pPr algn="ctr">
              <a:lnSpc>
                <a:spcPts val="1920"/>
              </a:lnSpc>
            </a:pPr>
            <a:r>
              <a:rPr lang="en-US" sz="16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STUDENTS REACHED</a:t>
            </a:r>
          </a:p>
          <a:p>
            <a:pPr algn="ctr">
              <a:lnSpc>
                <a:spcPts val="1920"/>
              </a:lnSpc>
            </a:pPr>
            <a:r>
              <a:rPr lang="en-US" sz="1600" b="true">
                <a:solidFill>
                  <a:srgbClr val="E6FFE6"/>
                </a:solidFill>
                <a:latin typeface="Arial Bold"/>
                <a:ea typeface="Arial Bold"/>
                <a:cs typeface="Arial Bold"/>
                <a:sym typeface="Arial Bold"/>
              </a:rPr>
              <a:t>NATIONAL METRIC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94978" y="4191381"/>
            <a:ext cx="337376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9"/>
              </a:lnSpc>
            </a:pPr>
            <a:r>
              <a:rPr lang="en-US" sz="1849" b="true">
                <a:solidFill>
                  <a:srgbClr val="0E2A47"/>
                </a:solidFill>
                <a:latin typeface="Arial Bold"/>
                <a:ea typeface="Arial Bold"/>
                <a:cs typeface="Arial Bold"/>
                <a:sym typeface="Arial Bold"/>
              </a:rPr>
              <a:t>NATIONAL WORKFORCE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85850" y="5143500"/>
            <a:ext cx="4960620" cy="2423160"/>
            <a:chOff x="0" y="0"/>
            <a:chExt cx="6614160" cy="32308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614160" cy="3230880"/>
            </a:xfrm>
            <a:custGeom>
              <a:avLst/>
              <a:gdLst/>
              <a:ahLst/>
              <a:cxnLst/>
              <a:rect r="r" b="b" t="t" l="l"/>
              <a:pathLst>
                <a:path h="3230880" w="6614160">
                  <a:moveTo>
                    <a:pt x="0" y="538480"/>
                  </a:moveTo>
                  <a:cubicBezTo>
                    <a:pt x="0" y="241046"/>
                    <a:pt x="241046" y="0"/>
                    <a:pt x="538480" y="0"/>
                  </a:cubicBezTo>
                  <a:lnTo>
                    <a:pt x="6075680" y="0"/>
                  </a:lnTo>
                  <a:cubicBezTo>
                    <a:pt x="6373114" y="0"/>
                    <a:pt x="6614160" y="241046"/>
                    <a:pt x="6614160" y="538480"/>
                  </a:cubicBezTo>
                  <a:lnTo>
                    <a:pt x="6614160" y="2692400"/>
                  </a:lnTo>
                  <a:cubicBezTo>
                    <a:pt x="6614160" y="2989834"/>
                    <a:pt x="6373114" y="3230880"/>
                    <a:pt x="6075680" y="3230880"/>
                  </a:cubicBezTo>
                  <a:lnTo>
                    <a:pt x="538480" y="3230880"/>
                  </a:lnTo>
                  <a:cubicBezTo>
                    <a:pt x="241046" y="3230880"/>
                    <a:pt x="0" y="2989834"/>
                    <a:pt x="0" y="2692400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70AD47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271016" y="5290566"/>
            <a:ext cx="4590288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"/>
              </a:lnSpc>
            </a:pPr>
            <a:r>
              <a:rPr lang="en-US" sz="1828" b="true">
                <a:solidFill>
                  <a:srgbClr val="2E7D3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Intuitive Spatial Pedagogy:</a:t>
            </a:r>
          </a:p>
          <a:p>
            <a:pPr algn="l">
              <a:lnSpc>
                <a:spcPts val="2194"/>
              </a:lnSpc>
            </a:pPr>
          </a:p>
          <a:p>
            <a:pPr algn="l">
              <a:lnSpc>
                <a:spcPts val="2051"/>
              </a:lnSpc>
            </a:pPr>
            <a:r>
              <a:rPr lang="en-US" sz="1709">
                <a:solidFill>
                  <a:srgbClr val="191E23"/>
                </a:solidFill>
                <a:latin typeface="Calibri (MS)"/>
                <a:ea typeface="Calibri (MS)"/>
                <a:cs typeface="Calibri (MS)"/>
                <a:sym typeface="Calibri (MS)"/>
              </a:rPr>
              <a:t>• Replaces passive linear algebra rote learning with active 3D Bloch vector manipulation.</a:t>
            </a:r>
          </a:p>
          <a:p>
            <a:pPr algn="l">
              <a:lnSpc>
                <a:spcPts val="2051"/>
              </a:lnSpc>
            </a:pPr>
            <a:r>
              <a:rPr lang="en-US" sz="1709">
                <a:solidFill>
                  <a:srgbClr val="191E23"/>
                </a:solidFill>
                <a:latin typeface="Calibri (MS)"/>
                <a:ea typeface="Calibri (MS)"/>
                <a:cs typeface="Calibri (MS)"/>
                <a:sym typeface="Calibri (MS)"/>
              </a:rPr>
              <a:t>• Closes the gap between quantum theory and practical software engineering.</a:t>
            </a:r>
          </a:p>
          <a:p>
            <a:pPr algn="l">
              <a:lnSpc>
                <a:spcPts val="2051"/>
              </a:lnSpc>
            </a:pPr>
            <a:r>
              <a:rPr lang="en-US" sz="1709">
                <a:solidFill>
                  <a:srgbClr val="191E23"/>
                </a:solidFill>
                <a:latin typeface="Calibri (MS)"/>
                <a:ea typeface="Calibri (MS)"/>
                <a:cs typeface="Calibri (MS)"/>
                <a:sym typeface="Calibri (MS)"/>
              </a:rPr>
              <a:t>• Proven Bloom 2-Sigma mastery gains via step-by-step Socratic AI debugging.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640830" y="5143500"/>
            <a:ext cx="4960620" cy="2423160"/>
            <a:chOff x="0" y="0"/>
            <a:chExt cx="6614160" cy="32308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614160" cy="3230880"/>
            </a:xfrm>
            <a:custGeom>
              <a:avLst/>
              <a:gdLst/>
              <a:ahLst/>
              <a:cxnLst/>
              <a:rect r="r" b="b" t="t" l="l"/>
              <a:pathLst>
                <a:path h="3230880" w="6614160">
                  <a:moveTo>
                    <a:pt x="0" y="538480"/>
                  </a:moveTo>
                  <a:cubicBezTo>
                    <a:pt x="0" y="241046"/>
                    <a:pt x="241046" y="0"/>
                    <a:pt x="538480" y="0"/>
                  </a:cubicBezTo>
                  <a:lnTo>
                    <a:pt x="6075680" y="0"/>
                  </a:lnTo>
                  <a:cubicBezTo>
                    <a:pt x="6373114" y="0"/>
                    <a:pt x="6614160" y="241046"/>
                    <a:pt x="6614160" y="538480"/>
                  </a:cubicBezTo>
                  <a:lnTo>
                    <a:pt x="6614160" y="2692400"/>
                  </a:lnTo>
                  <a:cubicBezTo>
                    <a:pt x="6614160" y="2989834"/>
                    <a:pt x="6373114" y="3230880"/>
                    <a:pt x="6075680" y="3230880"/>
                  </a:cubicBezTo>
                  <a:lnTo>
                    <a:pt x="538480" y="3230880"/>
                  </a:lnTo>
                  <a:cubicBezTo>
                    <a:pt x="241046" y="3230880"/>
                    <a:pt x="0" y="2989834"/>
                    <a:pt x="0" y="2692400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2E7D32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850380" y="5353050"/>
            <a:ext cx="2141220" cy="906780"/>
            <a:chOff x="0" y="0"/>
            <a:chExt cx="2854960" cy="1209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854960" cy="1209040"/>
            </a:xfrm>
            <a:custGeom>
              <a:avLst/>
              <a:gdLst/>
              <a:ahLst/>
              <a:cxnLst/>
              <a:rect r="r" b="b" t="t" l="l"/>
              <a:pathLst>
                <a:path h="1209040" w="2854960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2653411" y="0"/>
                  </a:lnTo>
                  <a:cubicBezTo>
                    <a:pt x="2764663" y="0"/>
                    <a:pt x="2854960" y="90170"/>
                    <a:pt x="2854960" y="201549"/>
                  </a:cubicBezTo>
                  <a:lnTo>
                    <a:pt x="2854960" y="1007491"/>
                  </a:lnTo>
                  <a:cubicBezTo>
                    <a:pt x="2854960" y="1118743"/>
                    <a:pt x="2764790" y="1209040"/>
                    <a:pt x="2653411" y="1209040"/>
                  </a:cubicBezTo>
                  <a:lnTo>
                    <a:pt x="201549" y="1209040"/>
                  </a:lnTo>
                  <a:cubicBezTo>
                    <a:pt x="90170" y="1209040"/>
                    <a:pt x="0" y="1118870"/>
                    <a:pt x="0" y="1007491"/>
                  </a:cubicBezTo>
                  <a:close/>
                </a:path>
              </a:pathLst>
            </a:custGeom>
            <a:solidFill>
              <a:srgbClr val="F5FCF5"/>
            </a:solidFill>
            <a:ln w="15240" cap="sq">
              <a:solidFill>
                <a:srgbClr val="A3D9B1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6963156" y="5579134"/>
            <a:ext cx="191566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9"/>
              </a:lnSpc>
            </a:pPr>
            <a:r>
              <a:rPr lang="en-US" sz="1449" b="true">
                <a:solidFill>
                  <a:srgbClr val="155724"/>
                </a:solidFill>
                <a:latin typeface="Arial Bold"/>
                <a:ea typeface="Arial Bold"/>
                <a:cs typeface="Arial Bold"/>
                <a:sym typeface="Arial Bold"/>
              </a:rPr>
              <a:t>Bloom 2σ Model:</a:t>
            </a:r>
          </a:p>
          <a:p>
            <a:pPr algn="ctr">
              <a:lnSpc>
                <a:spcPts val="1739"/>
              </a:lnSpc>
            </a:pPr>
            <a:r>
              <a:rPr lang="en-US" sz="1449" b="true">
                <a:solidFill>
                  <a:srgbClr val="155724"/>
                </a:solidFill>
                <a:latin typeface="Arial Bold"/>
                <a:ea typeface="Arial Bold"/>
                <a:cs typeface="Arial Bold"/>
                <a:sym typeface="Arial Bold"/>
              </a:rPr>
              <a:t>1-on-1 AI Tutoring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250680" y="5353050"/>
            <a:ext cx="2141220" cy="906780"/>
            <a:chOff x="0" y="0"/>
            <a:chExt cx="2854960" cy="12090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854960" cy="1209040"/>
            </a:xfrm>
            <a:custGeom>
              <a:avLst/>
              <a:gdLst/>
              <a:ahLst/>
              <a:cxnLst/>
              <a:rect r="r" b="b" t="t" l="l"/>
              <a:pathLst>
                <a:path h="1209040" w="2854960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2653411" y="0"/>
                  </a:lnTo>
                  <a:cubicBezTo>
                    <a:pt x="2764663" y="0"/>
                    <a:pt x="2854960" y="90170"/>
                    <a:pt x="2854960" y="201549"/>
                  </a:cubicBezTo>
                  <a:lnTo>
                    <a:pt x="2854960" y="1007491"/>
                  </a:lnTo>
                  <a:cubicBezTo>
                    <a:pt x="2854960" y="1118743"/>
                    <a:pt x="2764790" y="1209040"/>
                    <a:pt x="2653411" y="1209040"/>
                  </a:cubicBezTo>
                  <a:lnTo>
                    <a:pt x="201549" y="1209040"/>
                  </a:lnTo>
                  <a:cubicBezTo>
                    <a:pt x="90170" y="1209040"/>
                    <a:pt x="0" y="1118870"/>
                    <a:pt x="0" y="1007491"/>
                  </a:cubicBezTo>
                  <a:close/>
                </a:path>
              </a:pathLst>
            </a:custGeom>
            <a:solidFill>
              <a:srgbClr val="F5FCF5"/>
            </a:solidFill>
            <a:ln w="15240" cap="sq">
              <a:solidFill>
                <a:srgbClr val="A3D9B1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9363456" y="5579134"/>
            <a:ext cx="191566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9"/>
              </a:lnSpc>
            </a:pPr>
            <a:r>
              <a:rPr lang="en-US" sz="1449" b="true">
                <a:solidFill>
                  <a:srgbClr val="155724"/>
                </a:solidFill>
                <a:latin typeface="Arial Bold"/>
                <a:ea typeface="Arial Bold"/>
                <a:cs typeface="Arial Bold"/>
                <a:sym typeface="Arial Bold"/>
              </a:rPr>
              <a:t>Zero-Cost Stack:</a:t>
            </a:r>
          </a:p>
          <a:p>
            <a:pPr algn="ctr">
              <a:lnSpc>
                <a:spcPts val="1739"/>
              </a:lnSpc>
            </a:pPr>
            <a:r>
              <a:rPr lang="en-US" sz="1449" b="true">
                <a:solidFill>
                  <a:srgbClr val="155724"/>
                </a:solidFill>
                <a:latin typeface="Arial Bold"/>
                <a:ea typeface="Arial Bold"/>
                <a:cs typeface="Arial Bold"/>
                <a:sym typeface="Arial Bold"/>
              </a:rPr>
              <a:t>100% Open-Source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894576" y="6387846"/>
            <a:ext cx="445312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1"/>
              </a:lnSpc>
            </a:pPr>
            <a:r>
              <a:rPr lang="en-US" sz="1709">
                <a:solidFill>
                  <a:srgbClr val="191E23"/>
                </a:solidFill>
                <a:latin typeface="Calibri (MS)"/>
                <a:ea typeface="Calibri (MS)"/>
                <a:cs typeface="Calibri (MS)"/>
                <a:sym typeface="Calibri (MS)"/>
              </a:rPr>
              <a:t>Assumes standard browser access across campus lab environments with zero hardware investment. Validated against university curriculum learning rubrics.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2195810" y="5143500"/>
            <a:ext cx="4960620" cy="2423160"/>
            <a:chOff x="0" y="0"/>
            <a:chExt cx="6614160" cy="32308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614160" cy="3230880"/>
            </a:xfrm>
            <a:custGeom>
              <a:avLst/>
              <a:gdLst/>
              <a:ahLst/>
              <a:cxnLst/>
              <a:rect r="r" b="b" t="t" l="l"/>
              <a:pathLst>
                <a:path h="3230880" w="6614160">
                  <a:moveTo>
                    <a:pt x="0" y="538480"/>
                  </a:moveTo>
                  <a:cubicBezTo>
                    <a:pt x="0" y="241046"/>
                    <a:pt x="241046" y="0"/>
                    <a:pt x="538480" y="0"/>
                  </a:cubicBezTo>
                  <a:lnTo>
                    <a:pt x="6075680" y="0"/>
                  </a:lnTo>
                  <a:cubicBezTo>
                    <a:pt x="6373114" y="0"/>
                    <a:pt x="6614160" y="241046"/>
                    <a:pt x="6614160" y="538480"/>
                  </a:cubicBezTo>
                  <a:lnTo>
                    <a:pt x="6614160" y="2692400"/>
                  </a:lnTo>
                  <a:cubicBezTo>
                    <a:pt x="6614160" y="2989834"/>
                    <a:pt x="6373114" y="3230880"/>
                    <a:pt x="6075680" y="3230880"/>
                  </a:cubicBezTo>
                  <a:lnTo>
                    <a:pt x="538480" y="3230880"/>
                  </a:lnTo>
                  <a:cubicBezTo>
                    <a:pt x="241046" y="3230880"/>
                    <a:pt x="0" y="2989834"/>
                    <a:pt x="0" y="2692400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0F5132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12380976" y="5290566"/>
            <a:ext cx="4590288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"/>
              </a:lnSpc>
            </a:pPr>
            <a:r>
              <a:rPr lang="en-US" sz="1828" b="true">
                <a:solidFill>
                  <a:srgbClr val="0F513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National Quantum Mission (NQM) Fit:</a:t>
            </a:r>
          </a:p>
          <a:p>
            <a:pPr algn="l">
              <a:lnSpc>
                <a:spcPts val="2194"/>
              </a:lnSpc>
            </a:pPr>
          </a:p>
          <a:p>
            <a:pPr algn="l">
              <a:lnSpc>
                <a:spcPts val="2051"/>
              </a:lnSpc>
            </a:pPr>
            <a:r>
              <a:rPr lang="en-US" sz="1709">
                <a:solidFill>
                  <a:srgbClr val="191E23"/>
                </a:solidFill>
                <a:latin typeface="Calibri (MS)"/>
                <a:ea typeface="Calibri (MS)"/>
                <a:cs typeface="Calibri (MS)"/>
                <a:sym typeface="Calibri (MS)"/>
              </a:rPr>
              <a:t>• Direct catalyst for India's ₹6,003 Cr NQM talent pipeline across 23 Thematic Hubs.</a:t>
            </a:r>
          </a:p>
          <a:p>
            <a:pPr algn="l">
              <a:lnSpc>
                <a:spcPts val="2051"/>
              </a:lnSpc>
            </a:pPr>
            <a:r>
              <a:rPr lang="en-US" sz="1709">
                <a:solidFill>
                  <a:srgbClr val="191E23"/>
                </a:solidFill>
                <a:latin typeface="Calibri (MS)"/>
                <a:ea typeface="Calibri (MS)"/>
                <a:cs typeface="Calibri (MS)"/>
                <a:sym typeface="Calibri (MS)"/>
              </a:rPr>
              <a:t>• Prepares 50,000+ STEM graduates for quantum computing and cryptography careers.</a:t>
            </a:r>
          </a:p>
          <a:p>
            <a:pPr algn="l">
              <a:lnSpc>
                <a:spcPts val="2051"/>
              </a:lnSpc>
            </a:pPr>
            <a:r>
              <a:rPr lang="en-US" sz="1709">
                <a:solidFill>
                  <a:srgbClr val="191E23"/>
                </a:solidFill>
                <a:latin typeface="Calibri (MS)"/>
                <a:ea typeface="Calibri (MS)"/>
                <a:cs typeface="Calibri (MS)"/>
                <a:sym typeface="Calibri (MS)"/>
              </a:rPr>
              <a:t>• Democratizes access to tier-2 &amp; tier-3 engineering colleges nationwide.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028700" y="8706993"/>
            <a:ext cx="16230600" cy="1006602"/>
            <a:chOff x="0" y="0"/>
            <a:chExt cx="21640800" cy="13421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640800" cy="1342136"/>
            </a:xfrm>
            <a:custGeom>
              <a:avLst/>
              <a:gdLst/>
              <a:ahLst/>
              <a:cxnLst/>
              <a:rect r="r" b="b" t="t" l="l"/>
              <a:pathLst>
                <a:path h="1342136" w="21640800">
                  <a:moveTo>
                    <a:pt x="0" y="223647"/>
                  </a:moveTo>
                  <a:cubicBezTo>
                    <a:pt x="0" y="100203"/>
                    <a:pt x="126900" y="0"/>
                    <a:pt x="283232" y="0"/>
                  </a:cubicBezTo>
                  <a:lnTo>
                    <a:pt x="21357569" y="0"/>
                  </a:lnTo>
                  <a:cubicBezTo>
                    <a:pt x="21514062" y="0"/>
                    <a:pt x="21640800" y="100203"/>
                    <a:pt x="21640800" y="223647"/>
                  </a:cubicBezTo>
                  <a:lnTo>
                    <a:pt x="21640800" y="1118489"/>
                  </a:lnTo>
                  <a:cubicBezTo>
                    <a:pt x="21640800" y="1242060"/>
                    <a:pt x="21513901" y="1342136"/>
                    <a:pt x="21357569" y="1342136"/>
                  </a:cubicBezTo>
                  <a:lnTo>
                    <a:pt x="283232" y="1342136"/>
                  </a:lnTo>
                  <a:cubicBezTo>
                    <a:pt x="126900" y="1342136"/>
                    <a:pt x="0" y="1241933"/>
                    <a:pt x="0" y="1118489"/>
                  </a:cubicBezTo>
                  <a:close/>
                </a:path>
              </a:pathLst>
            </a:custGeom>
            <a:solidFill>
              <a:srgbClr val="1B4D3E"/>
            </a:solidFill>
            <a:ln w="19050" cap="sq">
              <a:solidFill>
                <a:srgbClr val="C8F0D2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3033522" y="8901303"/>
            <a:ext cx="12175236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sz="224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Intuition. Innovation. Inclusion.</a:t>
            </a:r>
          </a:p>
          <a:p>
            <a:pPr algn="ctr">
              <a:lnSpc>
                <a:spcPts val="1979"/>
              </a:lnSpc>
            </a:pPr>
            <a:r>
              <a:rPr lang="en-US" sz="1649" b="true">
                <a:solidFill>
                  <a:srgbClr val="DCF5E1"/>
                </a:solidFill>
                <a:latin typeface="Arial Bold"/>
                <a:ea typeface="Arial Bold"/>
                <a:cs typeface="Arial Bold"/>
                <a:sym typeface="Arial Bold"/>
              </a:rPr>
              <a:t>Democratizing Quantum Education for India's Future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6100" y="246888"/>
            <a:ext cx="11795760" cy="1165860"/>
            <a:chOff x="0" y="0"/>
            <a:chExt cx="15727680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2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5727680" cy="1640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99"/>
                </a:lnSpc>
              </a:pPr>
              <a:r>
                <a:rPr lang="en-US" sz="4499" b="true">
                  <a:solidFill>
                    <a:srgbClr val="0E2A47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RESEARCH AND REFERENCES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9590" y="310134"/>
            <a:ext cx="2438400" cy="1107948"/>
            <a:chOff x="0" y="0"/>
            <a:chExt cx="3251200" cy="1477264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251200" cy="1477264"/>
            </a:xfrm>
            <a:custGeom>
              <a:avLst/>
              <a:gdLst/>
              <a:ahLst/>
              <a:cxnLst/>
              <a:rect r="r" b="b" t="t" l="l"/>
              <a:pathLst>
                <a:path h="1477264" w="3251200">
                  <a:moveTo>
                    <a:pt x="0" y="738632"/>
                  </a:moveTo>
                  <a:cubicBezTo>
                    <a:pt x="0" y="330708"/>
                    <a:pt x="727837" y="0"/>
                    <a:pt x="1625600" y="0"/>
                  </a:cubicBezTo>
                  <a:cubicBezTo>
                    <a:pt x="2523363" y="0"/>
                    <a:pt x="3251200" y="330708"/>
                    <a:pt x="3251200" y="738632"/>
                  </a:cubicBezTo>
                  <a:cubicBezTo>
                    <a:pt x="3251200" y="1146556"/>
                    <a:pt x="2523363" y="1477264"/>
                    <a:pt x="1625600" y="1477264"/>
                  </a:cubicBezTo>
                  <a:cubicBezTo>
                    <a:pt x="727837" y="1477264"/>
                    <a:pt x="0" y="1146556"/>
                    <a:pt x="0" y="73863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A329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251200" cy="149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91E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GITWOLVES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22476" y="2044351"/>
            <a:ext cx="13147653" cy="707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Quantum Foundations &amp; Simulator Engines:</a:t>
            </a:r>
          </a:p>
          <a:p>
            <a:pPr algn="l">
              <a:lnSpc>
                <a:spcPts val="3119"/>
              </a:lnSpc>
            </a:pPr>
          </a:p>
          <a:p>
            <a:pPr algn="l">
              <a:lnSpc>
                <a:spcPts val="2489"/>
              </a:lnSpc>
            </a:pPr>
            <a:r>
              <a:rPr lang="en-US" sz="2074">
                <a:solidFill>
                  <a:srgbClr val="191E23"/>
                </a:solidFill>
                <a:latin typeface="Arial"/>
                <a:ea typeface="Arial"/>
                <a:cs typeface="Arial"/>
                <a:sym typeface="Arial"/>
              </a:rPr>
              <a:t>• Nielsen, M. A. &amp; Chuang, I. L. (2010). Quantum Computation and Quantum Information – Cambridge Univ. Press.</a:t>
            </a:r>
          </a:p>
          <a:p>
            <a:pPr algn="l">
              <a:lnSpc>
                <a:spcPts val="2489"/>
              </a:lnSpc>
            </a:pPr>
            <a:r>
              <a:rPr lang="en-US" sz="2074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rPr>
              <a:t>• IBM Quantum Team – Qiskit: An Open-Source Framework for Quantum Computing: https://qiskit.org</a:t>
            </a:r>
          </a:p>
          <a:p>
            <a:pPr algn="l">
              <a:lnSpc>
                <a:spcPts val="2489"/>
              </a:lnSpc>
            </a:pPr>
            <a:r>
              <a:rPr lang="en-US" sz="2074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rPr>
              <a:t>• Xanadu Quantum Technologies – PennyLane Differentiable Quantum Programming: https://pennylane.ai</a:t>
            </a:r>
          </a:p>
          <a:p>
            <a:pPr algn="l">
              <a:lnSpc>
                <a:spcPts val="2489"/>
              </a:lnSpc>
            </a:pPr>
            <a:r>
              <a:rPr lang="en-US" sz="2074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rPr>
              <a:t>• Google Quantum AI – Cirq: A Python Framework for NISQ Algorithms: https://quantumai.google/cirq</a:t>
            </a:r>
          </a:p>
          <a:p>
            <a:pPr algn="l">
              <a:lnSpc>
                <a:spcPts val="2489"/>
              </a:lnSpc>
            </a:pPr>
          </a:p>
          <a:p>
            <a:pPr algn="l">
              <a:lnSpc>
                <a:spcPts val="3119"/>
              </a:lnSpc>
            </a:pPr>
            <a:r>
              <a:rPr lang="en-US" sz="2599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National Policy &amp; Pedagogical Frameworks:</a:t>
            </a:r>
          </a:p>
          <a:p>
            <a:pPr algn="l">
              <a:lnSpc>
                <a:spcPts val="3119"/>
              </a:lnSpc>
            </a:pPr>
          </a:p>
          <a:p>
            <a:pPr algn="l">
              <a:lnSpc>
                <a:spcPts val="2489"/>
              </a:lnSpc>
            </a:pPr>
            <a:r>
              <a:rPr lang="en-US" sz="2074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rPr>
              <a:t>• National Quantum Mission (NQM) – Department of Science &amp; Technology, Govt. of India: https://dst.gov.in</a:t>
            </a:r>
          </a:p>
          <a:p>
            <a:pPr algn="l">
              <a:lnSpc>
                <a:spcPts val="2489"/>
              </a:lnSpc>
            </a:pPr>
            <a:r>
              <a:rPr lang="en-US" sz="2074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rPr>
              <a:t>• Quantum Economic Development Consortium (QED-C) – Quantum Workforce Report: https://quantumconsortium.org</a:t>
            </a:r>
          </a:p>
          <a:p>
            <a:pPr algn="l">
              <a:lnSpc>
                <a:spcPts val="2489"/>
              </a:lnSpc>
            </a:pPr>
            <a:r>
              <a:rPr lang="en-US" sz="2074">
                <a:solidFill>
                  <a:srgbClr val="191E23"/>
                </a:solidFill>
                <a:latin typeface="Arial"/>
                <a:ea typeface="Arial"/>
                <a:cs typeface="Arial"/>
                <a:sym typeface="Arial"/>
              </a:rPr>
              <a:t>• Bloom, Benjamin S. (1984). The 2 Sigma Problem: Search for Effective Methods of Group Instruction.</a:t>
            </a:r>
          </a:p>
          <a:p>
            <a:pPr algn="l">
              <a:lnSpc>
                <a:spcPts val="2489"/>
              </a:lnSpc>
            </a:pPr>
          </a:p>
          <a:p>
            <a:pPr algn="l">
              <a:lnSpc>
                <a:spcPts val="3119"/>
              </a:lnSpc>
            </a:pPr>
            <a:r>
              <a:rPr lang="en-US" sz="2599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Web Technologies &amp; Interactive Math Engines:</a:t>
            </a:r>
          </a:p>
          <a:p>
            <a:pPr algn="l">
              <a:lnSpc>
                <a:spcPts val="3119"/>
              </a:lnSpc>
            </a:pPr>
          </a:p>
          <a:p>
            <a:pPr algn="l">
              <a:lnSpc>
                <a:spcPts val="2489"/>
              </a:lnSpc>
            </a:pPr>
            <a:r>
              <a:rPr lang="en-US" sz="2074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rPr>
              <a:t>• Three.js WebGL 3D Graphics Documentation &amp; Spherical Geometry: https://threejs.org</a:t>
            </a:r>
          </a:p>
          <a:p>
            <a:pPr algn="l">
              <a:lnSpc>
                <a:spcPts val="2489"/>
              </a:lnSpc>
            </a:pPr>
            <a:r>
              <a:rPr lang="en-US" sz="2074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rPr>
              <a:t>• FastAPI Asynchronous High-Performance Web Framework: https://fastapi.tiangolo.com</a:t>
            </a:r>
          </a:p>
          <a:p>
            <a:pPr algn="l">
              <a:lnSpc>
                <a:spcPts val="2489"/>
              </a:lnSpc>
            </a:pPr>
            <a:r>
              <a:rPr lang="en-US" sz="2074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rPr>
              <a:t>• KaTeX Fast Mathematical Typesetting for the Web: https://katex.org</a:t>
            </a:r>
          </a:p>
          <a:p>
            <a:pPr algn="l">
              <a:lnSpc>
                <a:spcPts val="2489"/>
              </a:lnSpc>
            </a:pPr>
            <a:r>
              <a:rPr lang="en-US" sz="2074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rPr>
              <a:t>• React 18 &amp; TypeScript Modern Component Architecture: https://react.dev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DAHU6XYzYKc</dc:identifier>
  <dcterms:modified xsi:type="dcterms:W3CDTF">2011-08-01T06:04:30Z</dcterms:modified>
  <cp:revision>1</cp:revision>
  <dc:title>QuantumLeap_SIH2026_Gitwolves_FINAL.pptx</dc:title>
</cp:coreProperties>
</file>