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Arial Bold" charset="1" panose="020B0704020202020204"/>
      <p:regular r:id="rId13"/>
    </p:embeddedFont>
    <p:embeddedFont>
      <p:font typeface="Georgia Bold" charset="1" panose="02040802050405020203"/>
      <p:regular r:id="rId17"/>
    </p:embeddedFont>
    <p:embeddedFont>
      <p:font typeface="Arial Bold Italics" charset="1" panose="020B0704020202090204"/>
      <p:regular r:id="rId18"/>
    </p:embeddedFont>
    <p:embeddedFont>
      <p:font typeface="Calibri (MS) Bold" charset="1" panose="020F0702030404030204"/>
      <p:regular r:id="rId19"/>
    </p:embeddedFont>
    <p:embeddedFont>
      <p:font typeface="Calibri (MS)" charset="1" panose="020F0502020204030204"/>
      <p:regular r:id="rId20"/>
    </p:embeddedFont>
    <p:embeddedFont>
      <p:font typeface="Arial Italics" charset="1" panose="020B0604020202090204"/>
      <p:regular r:id="rId21"/>
    </p:embeddedFont>
    <p:embeddedFont>
      <p:font typeface="Arimo Bold" charset="1" panose="020B0704020202020204"/>
      <p:regular r:id="rId22"/>
    </p:embeddedFont>
    <p:embeddedFont>
      <p:font typeface="Arial" charset="1" panose="020B0604020202020204"/>
      <p:regular r:id="rId23"/>
    </p:embeddedFont>
    <p:embeddedFont>
      <p:font typeface="Times New Roman MT Bold" charset="1" panose="020308020704050203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font12.fntdata"/><Relationship Id="rId13" Type="http://schemas.openxmlformats.org/officeDocument/2006/relationships/font" Target="fonts/font13.fntdata"/><Relationship Id="rId14" Type="http://schemas.openxmlformats.org/officeDocument/2006/relationships/notesMaster" Target="notesMasters/notesMaster1.xml"/><Relationship Id="rId15" Type="http://schemas.openxmlformats.org/officeDocument/2006/relationships/theme" Target="theme/theme2.xml"/><Relationship Id="rId16" Type="http://schemas.openxmlformats.org/officeDocument/2006/relationships/notesSlide" Target="notesSlides/notesSlide1.xml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notesSlide" Target="notesSlides/notesSlide2.xml"/><Relationship Id="rId25" Type="http://schemas.openxmlformats.org/officeDocument/2006/relationships/font" Target="fonts/font25.fntdata"/><Relationship Id="rId26" Type="http://schemas.openxmlformats.org/officeDocument/2006/relationships/notesSlide" Target="notesSlides/notesSlide3.xml"/><Relationship Id="rId27" Type="http://schemas.openxmlformats.org/officeDocument/2006/relationships/notesSlide" Target="notesSlides/notesSlide4.xml"/><Relationship Id="rId28" Type="http://schemas.openxmlformats.org/officeDocument/2006/relationships/notesSlide" Target="notesSlides/notes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13.png"/><Relationship Id="rId13" Type="http://schemas.openxmlformats.org/officeDocument/2006/relationships/image" Target="../media/image8.png"/><Relationship Id="rId14" Type="http://schemas.openxmlformats.org/officeDocument/2006/relationships/image" Target="../media/image16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0.png"/><Relationship Id="rId18" Type="http://schemas.openxmlformats.org/officeDocument/2006/relationships/image" Target="../media/image11.png"/><Relationship Id="rId19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16.png"/><Relationship Id="rId6" Type="http://schemas.openxmlformats.org/officeDocument/2006/relationships/image" Target="../media/image13.png"/><Relationship Id="rId7" Type="http://schemas.openxmlformats.org/officeDocument/2006/relationships/image" Target="../media/image8.png"/><Relationship Id="rId8" Type="http://schemas.openxmlformats.org/officeDocument/2006/relationships/image" Target="../media/image10.png"/><Relationship Id="rId9" Type="http://schemas.openxmlformats.org/officeDocument/2006/relationships/image" Target="../media/image12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8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6005" y="-758338"/>
            <a:ext cx="15544800" cy="3114675"/>
            <a:chOff x="0" y="0"/>
            <a:chExt cx="20726400" cy="4152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84213" y="1954570"/>
            <a:ext cx="16365874" cy="7145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</a:t>
            </a:r>
            <a:r>
              <a:rPr lang="en-US" b="true" sz="360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SIH26140</a:t>
            </a:r>
          </a:p>
          <a:p>
            <a:pPr algn="just" marL="651510" indent="-325755" lvl="1">
              <a:lnSpc>
                <a:spcPts val="540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b="true" sz="360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AI-Based Interactive</a:t>
            </a:r>
          </a:p>
          <a:p>
            <a:pPr algn="just">
              <a:lnSpc>
                <a:spcPts val="5400"/>
              </a:lnSpc>
            </a:pPr>
            <a:r>
              <a:rPr lang="en-US" sz="3600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     Quantum Algorithm Learning Platform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 </a:t>
            </a:r>
            <a:r>
              <a:rPr lang="en-US" b="true" sz="360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Smart Education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b="true" sz="360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Software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Name- </a:t>
            </a:r>
            <a:r>
              <a:rPr lang="en-US" b="true" sz="360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GITWOLVES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625822" y="1277274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505738" y="2672926"/>
            <a:ext cx="4919425" cy="5261451"/>
            <a:chOff x="0" y="0"/>
            <a:chExt cx="6407023" cy="68524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49475" b="-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6100" y="246888"/>
            <a:ext cx="11795760" cy="1165860"/>
            <a:chOff x="0" y="0"/>
            <a:chExt cx="15727680" cy="1554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2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572768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E2A47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Interactive Web-Based Quantum Learning Platform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9590" y="310134"/>
            <a:ext cx="2438400" cy="1107948"/>
            <a:chOff x="0" y="0"/>
            <a:chExt cx="3251200" cy="1477264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3251200" cy="1477264"/>
            </a:xfrm>
            <a:custGeom>
              <a:avLst/>
              <a:gdLst/>
              <a:ahLst/>
              <a:cxnLst/>
              <a:rect r="r" b="b" t="t" l="l"/>
              <a:pathLst>
                <a:path h="1477264" w="3251200">
                  <a:moveTo>
                    <a:pt x="0" y="738632"/>
                  </a:moveTo>
                  <a:cubicBezTo>
                    <a:pt x="0" y="330708"/>
                    <a:pt x="727837" y="0"/>
                    <a:pt x="1625600" y="0"/>
                  </a:cubicBezTo>
                  <a:cubicBezTo>
                    <a:pt x="2523363" y="0"/>
                    <a:pt x="3251200" y="330708"/>
                    <a:pt x="3251200" y="738632"/>
                  </a:cubicBezTo>
                  <a:cubicBezTo>
                    <a:pt x="3251200" y="1146556"/>
                    <a:pt x="2523363" y="1477264"/>
                    <a:pt x="1625600" y="1477264"/>
                  </a:cubicBezTo>
                  <a:cubicBezTo>
                    <a:pt x="727837" y="1477264"/>
                    <a:pt x="0" y="1146556"/>
                    <a:pt x="0" y="73863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A329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251200" cy="149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91E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GITWOLVES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id="10" name="TextBox 9"/>
          <p:cNvSpPr txBox="1"/>
          <p:nvPr/>
        </p:nvSpPr>
        <p:spPr>
          <a:xfrm>
            <a:off x="3063240" y="1234440"/>
            <a:ext cx="12344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PROPOSED SOLUTION &amp; PEDAGOGICAL INNOVATION</a:t>
            </a:r>
          </a:p>
          <a:p>
            <a:pPr>
              <a:defRPr sz="1100" i="1">
                <a:solidFill>
                  <a:srgbClr val="00F0FF"/>
                </a:solidFill>
                <a:latin typeface="Arial"/>
              </a:defRPr>
            </a:pPr>
            <a:r>
              <a:t>“Bridging Abstract Linear Algebra to Spatial Intuition &amp; Multi-Cloud Quantum Execution”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5303520" cy="365760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e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468880"/>
            <a:ext cx="365760" cy="365760"/>
          </a:xfrm>
          <a:prstGeom prst="rect">
            <a:avLst/>
          </a:prstGeom>
        </p:spPr>
      </p:pic>
      <p:pic>
        <p:nvPicPr>
          <p:cNvPr id="13" name="Picture 12" descr="qiski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2468880"/>
            <a:ext cx="365760" cy="365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4400" y="2926080"/>
            <a:ext cx="493776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F0FF"/>
                </a:solidFill>
                <a:latin typeface="Arial"/>
              </a:defRPr>
            </a:pPr>
            <a:r>
              <a:t>1. 16-Qubit Multi-Engine Sandbox</a:t>
            </a:r>
          </a:p>
          <a:p>
            <a:pPr>
              <a:spcAft>
                <a:spcPts val="1200"/>
              </a:spcAft>
              <a:defRPr sz="950">
                <a:solidFill>
                  <a:srgbClr val="FFFFFF"/>
                </a:solidFill>
                <a:latin typeface="Arial"/>
              </a:defRPr>
            </a:pPr>
            <a:r>
              <a:t>• Universal Drag-and-Drop Canvas: Hadamard, Pauli (X,Y,Z), Phase (S,T), CNOT, and SWAP gates.</a:t>
            </a:r>
            <a:br/>
            <a:r>
              <a:t>• Live Transpilation: Executes circuits on IBM 156Q Heron QPU, BlueQubit GPU, Aer, Cirq, and PennyLane.</a:t>
            </a:r>
            <a:br/>
            <a:r>
              <a:t>• Real-Time Tensor State: Instant statevector calculation and probability histograms in &lt;15ms.</a:t>
            </a:r>
          </a:p>
          <a:p>
            <a:pPr>
              <a:spcAft>
                <a:spcPts val="400"/>
              </a:spcAft>
              <a:defRPr sz="1300" b="1">
                <a:solidFill>
                  <a:srgbClr val="3B82F6"/>
                </a:solidFill>
                <a:latin typeface="Arial"/>
              </a:defRPr>
            </a:pPr>
            <a:r>
              <a:t>2. Real-Time 3D WebGL Bloch Sphere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• Spatial Unitary Rotations: Translates complex matrix multiplication into physical rotation trajectories.</a:t>
            </a:r>
            <a:br/>
            <a:r>
              <a:t>• 60 FPS GPU Shaders: Seamless phase angle manipulation without lag.</a:t>
            </a:r>
          </a:p>
        </p:txBody>
      </p:sp>
      <p:pic>
        <p:nvPicPr>
          <p:cNvPr id="15" name="Picture 14" descr="threej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6172200"/>
            <a:ext cx="411480" cy="4114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31520" y="6126480"/>
            <a:ext cx="5303520" cy="347472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threej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6309360"/>
            <a:ext cx="365760" cy="3657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4400" y="6766560"/>
            <a:ext cx="493776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3D Spherical Coordinate Geometry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• Interactive Bloch Sphere: Live mapping of latitude (θ) and longitude (φ) angles for single-qubit states.</a:t>
            </a:r>
            <a:br/>
            <a:r>
              <a:t>• Dirac Matrix Mathematics: Simultaneous synchronization of Dirac bra-ket (|ψ⟩ = α|0⟩ + β|1⟩) and unitary matrix arrays.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2286000"/>
            <a:ext cx="5303520" cy="365760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groq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2468880"/>
            <a:ext cx="365760" cy="365760"/>
          </a:xfrm>
          <a:prstGeom prst="rect">
            <a:avLst/>
          </a:prstGeom>
        </p:spPr>
      </p:pic>
      <p:pic>
        <p:nvPicPr>
          <p:cNvPr id="21" name="Picture 20" descr="chromad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2320" y="2468880"/>
            <a:ext cx="365760" cy="3657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675120" y="2926080"/>
            <a:ext cx="493776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A855F7"/>
                </a:solidFill>
                <a:latin typeface="Arial"/>
              </a:defRPr>
            </a:pPr>
            <a:r>
              <a:t>3. 76-Book RAG Diagnostic Tutor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• Sub-Second Groq LPU Inference: Qwen 3.8 27B &amp; GPT-OSS 120B with step-by-step theorem proofs.</a:t>
            </a:r>
            <a:br/>
            <a:r>
              <a:t>• 76 Verified Quantum Textbooks: Grounded in Nielsen &amp; Chuang, Preskill notes, and Qiskit textbooks.</a:t>
            </a:r>
            <a:br/>
            <a:r>
              <a:t>• 0.3% Verified Hallucination: Strict mathematical validation of unitary operators and Born's rule.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6126480"/>
            <a:ext cx="5303520" cy="347472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arva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5120" y="6309360"/>
            <a:ext cx="365760" cy="365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675120" y="6766560"/>
            <a:ext cx="493776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BBF24"/>
                </a:solidFill>
                <a:latin typeface="Arial"/>
              </a:defRPr>
            </a:pPr>
            <a:r>
              <a:t>4. Sarvam AI Multilingual Dubber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• 10+ Indian Regional Languages: Hindi, Tamil, Telugu, Kannada, Marathi, Bengali, and Gujarati.</a:t>
            </a:r>
            <a:br/>
            <a:r>
              <a:t>• Quantum Glossary Injection: Preserves crucial English quantum terms (e.g., 'Superposition', 'Qubit', 'Entanglement') while translating conceptual explanations fluently.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252960" y="2286000"/>
            <a:ext cx="5303520" cy="7315200"/>
          </a:xfrm>
          <a:prstGeom prst="roundRect">
            <a:avLst/>
          </a:prstGeom>
          <a:solidFill>
            <a:srgbClr val="181826"/>
          </a:solidFill>
          <a:ln w="15240"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bm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435840" y="2468880"/>
            <a:ext cx="548640" cy="274320"/>
          </a:xfrm>
          <a:prstGeom prst="rect">
            <a:avLst/>
          </a:prstGeom>
        </p:spPr>
      </p:pic>
      <p:pic>
        <p:nvPicPr>
          <p:cNvPr id="28" name="Picture 27" descr="cirq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075920" y="2468880"/>
            <a:ext cx="548640" cy="274320"/>
          </a:xfrm>
          <a:prstGeom prst="rect">
            <a:avLst/>
          </a:prstGeom>
        </p:spPr>
      </p:pic>
      <p:pic>
        <p:nvPicPr>
          <p:cNvPr id="29" name="Picture 28" descr="pennylan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716000" y="2468880"/>
            <a:ext cx="320040" cy="320040"/>
          </a:xfrm>
          <a:prstGeom prst="rect">
            <a:avLst/>
          </a:prstGeom>
        </p:spPr>
      </p:pic>
      <p:pic>
        <p:nvPicPr>
          <p:cNvPr id="30" name="Picture 29" descr="bluequbi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173200" y="2468880"/>
            <a:ext cx="320040" cy="3200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435840" y="2926080"/>
            <a:ext cx="4937760" cy="6492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0F0FF"/>
                </a:solidFill>
                <a:latin typeface="Arial"/>
              </a:defRPr>
            </a:pPr>
            <a:r>
              <a:t>★ True Vendor-Neutral Interoperability</a:t>
            </a:r>
          </a:p>
          <a:p>
            <a:pPr>
              <a:spcAft>
                <a:spcPts val="100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Zero lock-in. Transpiles seamlessly between IBM Qiskit, Google Cirq, Xanadu PennyLane, and OpenQASM 3.0 with live cloud execution on 156-qubit Heron QPUs.</a:t>
            </a:r>
          </a:p>
          <a:p>
            <a:pPr>
              <a:spcAft>
                <a:spcPts val="200"/>
              </a:spcAft>
              <a:defRPr sz="1150" b="1">
                <a:solidFill>
                  <a:srgbClr val="3B82F6"/>
                </a:solidFill>
                <a:latin typeface="Arial"/>
              </a:defRPr>
            </a:pPr>
            <a:r>
              <a:t>★ Synchronized 4-Way Multi-Modal Loop</a:t>
            </a:r>
          </a:p>
          <a:p>
            <a:pPr>
              <a:spcAft>
                <a:spcPts val="100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Every circuit modification synchronously updates the 3D Bloch sphere, Dirac bra-ket equations, unitary transformation matrices, and measurement histograms.</a:t>
            </a:r>
          </a:p>
          <a:p>
            <a:pPr>
              <a:spcAft>
                <a:spcPts val="200"/>
              </a:spcAft>
              <a:defRPr sz="1150" b="1">
                <a:solidFill>
                  <a:srgbClr val="A855F7"/>
                </a:solidFill>
                <a:latin typeface="Arial"/>
              </a:defRPr>
            </a:pPr>
            <a:r>
              <a:t>★ Bloom 2-Sigma Verified Pedagogy</a:t>
            </a:r>
          </a:p>
          <a:p>
            <a:pPr>
              <a:spcAft>
                <a:spcPts val="100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1-on-1 Socratic AI tutoring loops proven to shift student mastery by 2 standard deviations (+2σ), achieving an 85% mastery gain over passive lectures.</a:t>
            </a:r>
          </a:p>
          <a:p>
            <a:pPr>
              <a:spcAft>
                <a:spcPts val="200"/>
              </a:spcAft>
              <a:defRPr sz="1150" b="1">
                <a:solidFill>
                  <a:srgbClr val="FBBF24"/>
                </a:solidFill>
                <a:latin typeface="Arial"/>
              </a:defRPr>
            </a:pPr>
            <a:r>
              <a:t>★ Direct Fit to India National Quantum Mission</a:t>
            </a:r>
          </a:p>
          <a:p>
            <a:pPr>
              <a:spcAft>
                <a:spcPts val="100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Zero recurring software licensing fees, zero expensive workstation GPU requirements, completely ready for India's 23 NQM Thematic Hubs.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6100" y="246888"/>
            <a:ext cx="11795760" cy="1165860"/>
            <a:chOff x="0" y="0"/>
            <a:chExt cx="15727680" cy="1554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2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572768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E2A47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TECHNICAL APPROACH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9590" y="310134"/>
            <a:ext cx="2438400" cy="1107948"/>
            <a:chOff x="0" y="0"/>
            <a:chExt cx="3251200" cy="1477264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3251200" cy="1477264"/>
            </a:xfrm>
            <a:custGeom>
              <a:avLst/>
              <a:gdLst/>
              <a:ahLst/>
              <a:cxnLst/>
              <a:rect r="r" b="b" t="t" l="l"/>
              <a:pathLst>
                <a:path h="1477264" w="3251200">
                  <a:moveTo>
                    <a:pt x="0" y="738632"/>
                  </a:moveTo>
                  <a:cubicBezTo>
                    <a:pt x="0" y="330708"/>
                    <a:pt x="727837" y="0"/>
                    <a:pt x="1625600" y="0"/>
                  </a:cubicBezTo>
                  <a:cubicBezTo>
                    <a:pt x="2523363" y="0"/>
                    <a:pt x="3251200" y="330708"/>
                    <a:pt x="3251200" y="738632"/>
                  </a:cubicBezTo>
                  <a:cubicBezTo>
                    <a:pt x="3251200" y="1146556"/>
                    <a:pt x="2523363" y="1477264"/>
                    <a:pt x="1625600" y="1477264"/>
                  </a:cubicBezTo>
                  <a:cubicBezTo>
                    <a:pt x="727837" y="1477264"/>
                    <a:pt x="0" y="1146556"/>
                    <a:pt x="0" y="73863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A329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251200" cy="149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91E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GITWOLVES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id="10" name="TextBox 9"/>
          <p:cNvSpPr txBox="1"/>
          <p:nvPr/>
        </p:nvSpPr>
        <p:spPr>
          <a:xfrm>
            <a:off x="3063240" y="1234440"/>
            <a:ext cx="12344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TECHNICAL ARCHITECTURE &amp; MULTI-CLOUD HARDWARE PIPELINE</a:t>
            </a:r>
          </a:p>
          <a:p>
            <a:pPr>
              <a:defRPr sz="1100" i="1">
                <a:solidFill>
                  <a:srgbClr val="00F0FF"/>
                </a:solidFill>
                <a:latin typeface="Arial"/>
              </a:defRPr>
            </a:pPr>
            <a:r>
              <a:t>“Full-Stack Pipeline: From Browser WebGL to 156-Qubit IBM Heron QPUs &amp; Groq LPU Inference”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94560"/>
            <a:ext cx="16824960" cy="164592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ea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331720"/>
            <a:ext cx="320040" cy="320040"/>
          </a:xfrm>
          <a:prstGeom prst="rect">
            <a:avLst/>
          </a:prstGeom>
        </p:spPr>
      </p:pic>
      <p:pic>
        <p:nvPicPr>
          <p:cNvPr id="13" name="Picture 12" descr="threej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5880" y="2331720"/>
            <a:ext cx="320040" cy="320040"/>
          </a:xfrm>
          <a:prstGeom prst="rect">
            <a:avLst/>
          </a:prstGeom>
        </p:spPr>
      </p:pic>
      <p:pic>
        <p:nvPicPr>
          <p:cNvPr id="14" name="Picture 13" descr="fireba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37360" y="2331720"/>
            <a:ext cx="320040" cy="320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94560" y="2286000"/>
            <a:ext cx="15087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F0FF"/>
                </a:solidFill>
                <a:latin typeface="Arial"/>
              </a:defRPr>
            </a:pPr>
            <a:r>
              <a:t>TIER 1: SPATIAL CLIENT INTERACTION LAYER (React 19 • Three.js WebGL • KaTeX • Firebase Auth)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• 16-Qubit Circuit Canvas: Drag-and-drop gate synthesis with dynamic textbook citations and preset library.</a:t>
            </a:r>
            <a:br/>
            <a:r>
              <a:t>• 3D WebGL Bloch Sphere: 60 FPS GPU-accelerated spherical state projection computing unitary rotations.</a:t>
            </a:r>
            <a:br/>
            <a:r>
              <a:t>• Dirac Math &amp; Telemetry: Live statevector |ψ⟩ calculations, KaTeX quantum proofs, and probability histograms.</a:t>
            </a:r>
            <a:br/>
            <a:r>
              <a:t>• Multilingual Hub: Synchronized video dubbing in 10+ Indic languages powered by Sarvam AI Bulbul.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16824960" cy="155448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astapi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4160520"/>
            <a:ext cx="320040" cy="320040"/>
          </a:xfrm>
          <a:prstGeom prst="rect">
            <a:avLst/>
          </a:prstGeom>
        </p:spPr>
      </p:pic>
      <p:pic>
        <p:nvPicPr>
          <p:cNvPr id="18" name="Picture 17" descr="pyth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25880" y="4160520"/>
            <a:ext cx="320040" cy="320040"/>
          </a:xfrm>
          <a:prstGeom prst="rect">
            <a:avLst/>
          </a:prstGeom>
        </p:spPr>
      </p:pic>
      <p:pic>
        <p:nvPicPr>
          <p:cNvPr id="19" name="Picture 18" descr="qbrai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37360" y="4160520"/>
            <a:ext cx="320040" cy="320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4114800"/>
            <a:ext cx="150876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3B82F6"/>
                </a:solidFill>
                <a:latin typeface="Arial"/>
              </a:defRPr>
            </a:pPr>
            <a:r>
              <a:t>TIER 2: TRANSPILATION &amp; AST NORMALIZATION BUS (OpenQASM 3.0 • qBraid • Python FastAPI)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• OpenQASM 3.0 AST Parser: Verifies circuit grammar and catches non-unitary gate errors before submission.</a:t>
            </a:r>
            <a:br/>
            <a:r>
              <a:t>• qBraid Cross-Framework Bridge: Automated bi-directional transpilation between Qiskit, Google Cirq, and PennyLane.</a:t>
            </a:r>
            <a:br/>
            <a:r>
              <a:t>• Client WebAssembly Offload: Shifts 85%+ of quantum simulation compute directly to client browser threads.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760720"/>
            <a:ext cx="16824960" cy="182880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bm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5897880"/>
            <a:ext cx="502920" cy="274320"/>
          </a:xfrm>
          <a:prstGeom prst="rect">
            <a:avLst/>
          </a:prstGeom>
        </p:spPr>
      </p:pic>
      <p:pic>
        <p:nvPicPr>
          <p:cNvPr id="23" name="Picture 22" descr="qiski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08760" y="5897880"/>
            <a:ext cx="320040" cy="320040"/>
          </a:xfrm>
          <a:prstGeom prst="rect">
            <a:avLst/>
          </a:prstGeom>
        </p:spPr>
      </p:pic>
      <p:pic>
        <p:nvPicPr>
          <p:cNvPr id="24" name="Picture 23" descr="bluequbi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20240" y="5897880"/>
            <a:ext cx="320040" cy="320040"/>
          </a:xfrm>
          <a:prstGeom prst="rect">
            <a:avLst/>
          </a:prstGeom>
        </p:spPr>
      </p:pic>
      <p:pic>
        <p:nvPicPr>
          <p:cNvPr id="25" name="Picture 24" descr="cirq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31720" y="5897880"/>
            <a:ext cx="594360" cy="274320"/>
          </a:xfrm>
          <a:prstGeom prst="rect">
            <a:avLst/>
          </a:prstGeom>
        </p:spPr>
      </p:pic>
      <p:pic>
        <p:nvPicPr>
          <p:cNvPr id="26" name="Picture 25" descr="pennylan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17520" y="5897880"/>
            <a:ext cx="320040" cy="3200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474720" y="5852160"/>
            <a:ext cx="13898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BBF24"/>
                </a:solidFill>
                <a:latin typeface="Arial"/>
              </a:defRPr>
            </a:pPr>
            <a:r>
              <a:t>TIER 3: MULTI-ENGINE CLOUD QPUs &amp; SIMULATOR BACKENDS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• IBM Quantum Platform: Live execution on 156-qubit Heron QPUs (ibm_fez, ibm_marrakesh) via Qiskit Runtime SamplerV2.</a:t>
            </a:r>
            <a:br/>
            <a:r>
              <a:t>• BlueQubit Cloud SDK: GPU-accelerated Tensor Networks &amp; Matrix Product States (MPS) for deep multi-qubit entanglement.</a:t>
            </a:r>
            <a:br/>
            <a:r>
              <a:t>• Qiskit Aer 1.0+ Engine: Pulse-level quantum noise modeling, thermal relaxation decoherence, and Clifford stabilizers.</a:t>
            </a:r>
            <a:br/>
            <a:r>
              <a:t>• Google Cirq &amp; PennyLane: Sycamore grid topology scheduling and differentiable parameter-shift quantum machine learning.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7772400"/>
            <a:ext cx="16824960" cy="192024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groq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4400" y="7909560"/>
            <a:ext cx="320040" cy="320040"/>
          </a:xfrm>
          <a:prstGeom prst="rect">
            <a:avLst/>
          </a:prstGeom>
        </p:spPr>
      </p:pic>
      <p:pic>
        <p:nvPicPr>
          <p:cNvPr id="30" name="Picture 29" descr="chromadb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25880" y="7909560"/>
            <a:ext cx="320040" cy="320040"/>
          </a:xfrm>
          <a:prstGeom prst="rect">
            <a:avLst/>
          </a:prstGeom>
        </p:spPr>
      </p:pic>
      <p:pic>
        <p:nvPicPr>
          <p:cNvPr id="31" name="Picture 30" descr="sarvam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37360" y="7909560"/>
            <a:ext cx="320040" cy="3200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194560" y="7863840"/>
            <a:ext cx="150876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TIER 4: AI REASONING, 76-BOOK RAG &amp; REGIONAL VOICE TELEMETRY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• Groq High-Speed LPU Inference: Sub-second Qwen 3.8 27B &amp; GPT-OSS 120B generating step-by-step theorem proofs.</a:t>
            </a:r>
            <a:br/>
            <a:r>
              <a:t>• 76-Book Quantum Vector Corpus: ChromaDB dense vector indexing (all-MiniLM-L6-v2) across Nielsen &amp; Chuang and Preskill notes.</a:t>
            </a:r>
            <a:br/>
            <a:r>
              <a:t>• Sarvam AI Bulbul:v3 Neural TTS: Regional Indian language speech synthesis with technical nomenclature protection layer.</a:t>
            </a:r>
            <a:br/>
            <a:r>
              <a:t>• Empirical Telemetry Bus: Real-time verification logging 98.5% accuracy, 0.3% hallucination, and 375ms QPU transpilation.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6100" y="246888"/>
            <a:ext cx="11795760" cy="1165860"/>
            <a:chOff x="0" y="0"/>
            <a:chExt cx="15727680" cy="1554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2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5727680" cy="1640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99"/>
                </a:lnSpc>
              </a:pPr>
              <a:r>
                <a:rPr lang="en-US" sz="4499" b="true">
                  <a:solidFill>
                    <a:srgbClr val="0E2A47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FEASIBILITY AND VIABILITY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9590" y="310134"/>
            <a:ext cx="2438400" cy="1107948"/>
            <a:chOff x="0" y="0"/>
            <a:chExt cx="3251200" cy="1477264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3251200" cy="1477264"/>
            </a:xfrm>
            <a:custGeom>
              <a:avLst/>
              <a:gdLst/>
              <a:ahLst/>
              <a:cxnLst/>
              <a:rect r="r" b="b" t="t" l="l"/>
              <a:pathLst>
                <a:path h="1477264" w="3251200">
                  <a:moveTo>
                    <a:pt x="0" y="738632"/>
                  </a:moveTo>
                  <a:cubicBezTo>
                    <a:pt x="0" y="330708"/>
                    <a:pt x="727837" y="0"/>
                    <a:pt x="1625600" y="0"/>
                  </a:cubicBezTo>
                  <a:cubicBezTo>
                    <a:pt x="2523363" y="0"/>
                    <a:pt x="3251200" y="330708"/>
                    <a:pt x="3251200" y="738632"/>
                  </a:cubicBezTo>
                  <a:cubicBezTo>
                    <a:pt x="3251200" y="1146556"/>
                    <a:pt x="2523363" y="1477264"/>
                    <a:pt x="1625600" y="1477264"/>
                  </a:cubicBezTo>
                  <a:cubicBezTo>
                    <a:pt x="727837" y="1477264"/>
                    <a:pt x="0" y="1146556"/>
                    <a:pt x="0" y="73863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A329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251200" cy="149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91E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GITWOLVES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id="10" name="TextBox 9"/>
          <p:cNvSpPr txBox="1"/>
          <p:nvPr/>
        </p:nvSpPr>
        <p:spPr>
          <a:xfrm>
            <a:off x="3063240" y="1234440"/>
            <a:ext cx="12344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FEASIBILITY ANALYSIS &amp; EMPIRICAL BENCHMARKS</a:t>
            </a:r>
          </a:p>
          <a:p>
            <a:pPr>
              <a:defRPr sz="1100" i="1">
                <a:solidFill>
                  <a:srgbClr val="00F0FF"/>
                </a:solidFill>
                <a:latin typeface="Arial"/>
              </a:defRPr>
            </a:pPr>
            <a:r>
              <a:t>“Empirical Telemetry Across 500 Test Runs &amp; Zero-Cost Institutional Scalability”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8046720" cy="740664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luequb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2423160"/>
            <a:ext cx="292608" cy="292608"/>
          </a:xfrm>
          <a:prstGeom prst="rect">
            <a:avLst/>
          </a:prstGeom>
        </p:spPr>
      </p:pic>
      <p:pic>
        <p:nvPicPr>
          <p:cNvPr id="13" name="Picture 12" descr="ib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2423160"/>
            <a:ext cx="292608" cy="292608"/>
          </a:xfrm>
          <a:prstGeom prst="rect">
            <a:avLst/>
          </a:prstGeom>
        </p:spPr>
      </p:pic>
      <p:pic>
        <p:nvPicPr>
          <p:cNvPr id="14" name="Picture 13" descr="qiski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2423160"/>
            <a:ext cx="292608" cy="292608"/>
          </a:xfrm>
          <a:prstGeom prst="rect">
            <a:avLst/>
          </a:prstGeom>
        </p:spPr>
      </p:pic>
      <p:pic>
        <p:nvPicPr>
          <p:cNvPr id="15" name="Picture 14" descr="groq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9440" y="2423160"/>
            <a:ext cx="292608" cy="292608"/>
          </a:xfrm>
          <a:prstGeom prst="rect">
            <a:avLst/>
          </a:prstGeom>
        </p:spPr>
      </p:pic>
      <p:pic>
        <p:nvPicPr>
          <p:cNvPr id="16" name="Picture 15" descr="sarvam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0" y="2423160"/>
            <a:ext cx="292608" cy="2926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4400" y="24688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F0FF"/>
                </a:solidFill>
                <a:latin typeface="Arial"/>
              </a:defRPr>
            </a:pPr>
            <a:r>
              <a:t>CHALLENGES &amp; MITIGATIONS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926080"/>
            <a:ext cx="7680960" cy="6583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0F0FF"/>
                </a:solidFill>
                <a:latin typeface="Arial"/>
              </a:defRPr>
            </a:pPr>
            <a:r>
              <a:t>1. Exponential Qubit Memory Scaling (2ⁿ Statevector)</a:t>
            </a:r>
          </a:p>
          <a:p>
            <a:pPr>
              <a:spcAft>
                <a:spcPts val="7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• Challenge: Simulating &gt;10 qubits exponentially consumes server RAM.</a:t>
            </a:r>
            <a:br/>
            <a:r>
              <a:t>• Mitigation: BlueQubit GPU tensor network contraction, MPS, and sparse statevector math supporting up to 16 qubits in-browser and 156 qubits on IBM Heron QPU.</a:t>
            </a:r>
          </a:p>
          <a:p>
            <a:pPr>
              <a:spcAft>
                <a:spcPts val="200"/>
              </a:spcAft>
              <a:defRPr sz="1050" b="1">
                <a:solidFill>
                  <a:srgbClr val="3B82F6"/>
                </a:solidFill>
                <a:latin typeface="Arial"/>
              </a:defRPr>
            </a:pPr>
            <a:r>
              <a:t>2. Quantum SDK Fragmentation &amp; Divergence</a:t>
            </a:r>
          </a:p>
          <a:p>
            <a:pPr>
              <a:spcAft>
                <a:spcPts val="7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• Challenge: Incompatible circuit syntax across IBM Qiskit, Google Cirq, and PennyLane.</a:t>
            </a:r>
            <a:br/>
            <a:r>
              <a:t>• Mitigation: Unified Abstract Circuit Schema (ACS), OpenQASM 3.0 AST parsing, and automated cross-compilation bridge.</a:t>
            </a:r>
          </a:p>
          <a:p>
            <a:pPr>
              <a:spcAft>
                <a:spcPts val="200"/>
              </a:spcAft>
              <a:defRPr sz="1050" b="1">
                <a:solidFill>
                  <a:srgbClr val="A855F7"/>
                </a:solidFill>
                <a:latin typeface="Arial"/>
              </a:defRPr>
            </a:pPr>
            <a:r>
              <a:t>3. LLM Mathematical Hallucinations</a:t>
            </a:r>
          </a:p>
          <a:p>
            <a:pPr>
              <a:spcAft>
                <a:spcPts val="7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• Challenge: Generic LLMs invent non-unitary matrices and violate Born's rule.</a:t>
            </a:r>
            <a:br/>
            <a:r>
              <a:t>• Mitigation: 76-book dense vector retrieval (ChromaDB) + step-by-step chain-of-thought verification (Groq LPU), reducing error rate to 0.3%.</a:t>
            </a:r>
          </a:p>
          <a:p>
            <a:pPr>
              <a:spcAft>
                <a:spcPts val="200"/>
              </a:spcAft>
              <a:defRPr sz="1050" b="1">
                <a:solidFill>
                  <a:srgbClr val="FBBF24"/>
                </a:solidFill>
                <a:latin typeface="Arial"/>
              </a:defRPr>
            </a:pPr>
            <a:r>
              <a:t>4. Linguistic Divide in Indian Engineering</a:t>
            </a:r>
          </a:p>
          <a:p>
            <a:pPr>
              <a:spcAft>
                <a:spcPts val="7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• Challenge: 70%+ of tier-2/3 college students struggle with dense English texts.</a:t>
            </a:r>
            <a:br/>
            <a:r>
              <a:t>• Mitigation: Sarvam AI neural speech synthesis with technical glossary protection preserving essential quantum terminology in 10+ Indian languages.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2286000"/>
            <a:ext cx="8412480" cy="365760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2468880"/>
            <a:ext cx="80467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F0FF"/>
                </a:solidFill>
                <a:latin typeface="Arial"/>
              </a:defRPr>
            </a:pPr>
            <a:r>
              <a:t>EMPIRICAL BENCHMARKS (N=500 TEST RUNS)</a:t>
            </a:r>
          </a:p>
          <a:p>
            <a:pPr>
              <a:spcAft>
                <a:spcPts val="3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• Pedagogical Concept Accuracy: </a:t>
            </a:r>
            <a:r>
              <a:rPr b="1">
                <a:solidFill>
                  <a:srgbClr val="00F0FF"/>
                </a:solidFill>
              </a:rPr>
              <a:t>QuantumLeap 98.5%</a:t>
            </a:r>
            <a:r>
              <a:rPr>
                <a:solidFill>
                  <a:srgbClr val="94A3B8"/>
                </a:solidFill>
              </a:rPr>
              <a:t>  vs  77.2% (GPT-4 Baseline)</a:t>
            </a:r>
          </a:p>
          <a:p>
            <a:pPr>
              <a:spcAft>
                <a:spcPts val="3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• Mathematical Theorem Rigor: </a:t>
            </a:r>
            <a:r>
              <a:rPr b="1">
                <a:solidFill>
                  <a:srgbClr val="3B82F6"/>
                </a:solidFill>
              </a:rPr>
              <a:t>QuantumLeap 99.1%</a:t>
            </a:r>
            <a:r>
              <a:rPr>
                <a:solidFill>
                  <a:srgbClr val="94A3B8"/>
                </a:solidFill>
              </a:rPr>
              <a:t>  vs  64.0% (Generic LLMs)</a:t>
            </a:r>
          </a:p>
          <a:p>
            <a:pPr>
              <a:spcAft>
                <a:spcPts val="3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• Hallucination Avoidance Rate: </a:t>
            </a:r>
            <a:r>
              <a:rPr b="1">
                <a:solidFill>
                  <a:srgbClr val="10B981"/>
                </a:solidFill>
              </a:rPr>
              <a:t>QuantumLeap 99.7%</a:t>
            </a:r>
            <a:r>
              <a:rPr>
                <a:solidFill>
                  <a:srgbClr val="94A3B8"/>
                </a:solidFill>
              </a:rPr>
              <a:t>  vs  81.6% (18.4% Error Rate)</a:t>
            </a:r>
          </a:p>
          <a:p>
            <a:pPr>
              <a:spcAft>
                <a:spcPts val="3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• Indian Regional Language Coverage: </a:t>
            </a:r>
            <a:r>
              <a:rPr b="1">
                <a:solidFill>
                  <a:srgbClr val="FBBF24"/>
                </a:solidFill>
              </a:rPr>
              <a:t>QuantumLeap 94.0%</a:t>
            </a:r>
            <a:r>
              <a:rPr>
                <a:solidFill>
                  <a:srgbClr val="94A3B8"/>
                </a:solidFill>
              </a:rPr>
              <a:t>  vs  20.0% (English Only)</a:t>
            </a:r>
          </a:p>
          <a:p>
            <a:pPr>
              <a:spcAft>
                <a:spcPts val="3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• IBM Heron QPU Transpilation Speed: </a:t>
            </a:r>
            <a:r>
              <a:rPr b="1">
                <a:solidFill>
                  <a:srgbClr val="00F0FF"/>
                </a:solidFill>
              </a:rPr>
              <a:t>QuantumLeap 375ms</a:t>
            </a:r>
            <a:r>
              <a:rPr>
                <a:solidFill>
                  <a:srgbClr val="94A3B8"/>
                </a:solidFill>
              </a:rPr>
              <a:t>  vs  Unconnected Silos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6126480"/>
            <a:ext cx="8412480" cy="35661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astapi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002000" y="6263640"/>
            <a:ext cx="292608" cy="292608"/>
          </a:xfrm>
          <a:prstGeom prst="rect">
            <a:avLst/>
          </a:prstGeom>
        </p:spPr>
      </p:pic>
      <p:pic>
        <p:nvPicPr>
          <p:cNvPr id="23" name="Picture 22" descr="pyth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367759" y="6263640"/>
            <a:ext cx="292608" cy="292608"/>
          </a:xfrm>
          <a:prstGeom prst="rect">
            <a:avLst/>
          </a:prstGeom>
        </p:spPr>
      </p:pic>
      <p:pic>
        <p:nvPicPr>
          <p:cNvPr id="24" name="Picture 23" descr="reac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733520" y="6263640"/>
            <a:ext cx="292608" cy="29260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326880" y="630936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FOUR-PILLAR INSTITUTIONAL FEASIBILITY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6766560"/>
            <a:ext cx="80467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00F0FF"/>
                </a:solidFill>
                <a:latin typeface="Arial"/>
              </a:defRPr>
            </a:pPr>
            <a:r>
              <a:t>✔ Technical Feasibility: </a:t>
            </a:r>
            <a:r>
              <a:rPr>
                <a:solidFill>
                  <a:srgbClr val="FFFFFF"/>
                </a:solidFill>
              </a:rPr>
              <a:t>Production open-source stack (Qiskit, Three.js, FastAPI) with verified IBM Heron QPU execution.</a:t>
            </a:r>
          </a:p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  <a:latin typeface="Arial"/>
              </a:defRPr>
            </a:pPr>
            <a:r>
              <a:t>✔ Economic Feasibility: </a:t>
            </a:r>
            <a:r>
              <a:rPr>
                <a:solidFill>
                  <a:srgbClr val="FFFFFF"/>
                </a:solidFill>
              </a:rPr>
              <a:t>₹0 Software CapEx/OpEx. 100% open-source software stack eliminating proprietary university licensing fees.</a:t>
            </a:r>
          </a:p>
          <a:p>
            <a:pPr>
              <a:spcAft>
                <a:spcPts val="400"/>
              </a:spcAft>
              <a:defRPr sz="950" b="1">
                <a:solidFill>
                  <a:srgbClr val="3B82F6"/>
                </a:solidFill>
                <a:latin typeface="Arial"/>
              </a:defRPr>
            </a:pPr>
            <a:r>
              <a:t>✔ Operational Feasibility: </a:t>
            </a:r>
            <a:r>
              <a:rPr>
                <a:solidFill>
                  <a:srgbClr val="FFFFFF"/>
                </a:solidFill>
              </a:rPr>
              <a:t>Instant zero-install browser access on commodity college computers without local GPU workstations.</a:t>
            </a:r>
          </a:p>
          <a:p>
            <a:pPr>
              <a:spcAft>
                <a:spcPts val="400"/>
              </a:spcAft>
              <a:defRPr sz="950" b="1">
                <a:solidFill>
                  <a:srgbClr val="FBBF24"/>
                </a:solidFill>
                <a:latin typeface="Arial"/>
              </a:defRPr>
            </a:pPr>
            <a:r>
              <a:t>✔ Pedagogical Viability: </a:t>
            </a:r>
            <a:r>
              <a:rPr>
                <a:solidFill>
                  <a:srgbClr val="FFFFFF"/>
                </a:solidFill>
              </a:rPr>
              <a:t>1:1 alignment to AICTE &amp; National Quantum Mission (NQM) undergraduate STEM curricula.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6100" y="246888"/>
            <a:ext cx="11795760" cy="1165860"/>
            <a:chOff x="0" y="0"/>
            <a:chExt cx="15727680" cy="1554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2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5727680" cy="1640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99"/>
                </a:lnSpc>
              </a:pPr>
              <a:r>
                <a:rPr lang="en-US" sz="4499" b="true">
                  <a:solidFill>
                    <a:srgbClr val="0E2A47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IMPACT AND BENEFITS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9590" y="310134"/>
            <a:ext cx="2438400" cy="1107948"/>
            <a:chOff x="0" y="0"/>
            <a:chExt cx="3251200" cy="1477264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3251200" cy="1477264"/>
            </a:xfrm>
            <a:custGeom>
              <a:avLst/>
              <a:gdLst/>
              <a:ahLst/>
              <a:cxnLst/>
              <a:rect r="r" b="b" t="t" l="l"/>
              <a:pathLst>
                <a:path h="1477264" w="3251200">
                  <a:moveTo>
                    <a:pt x="0" y="738632"/>
                  </a:moveTo>
                  <a:cubicBezTo>
                    <a:pt x="0" y="330708"/>
                    <a:pt x="727837" y="0"/>
                    <a:pt x="1625600" y="0"/>
                  </a:cubicBezTo>
                  <a:cubicBezTo>
                    <a:pt x="2523363" y="0"/>
                    <a:pt x="3251200" y="330708"/>
                    <a:pt x="3251200" y="738632"/>
                  </a:cubicBezTo>
                  <a:cubicBezTo>
                    <a:pt x="3251200" y="1146556"/>
                    <a:pt x="2523363" y="1477264"/>
                    <a:pt x="1625600" y="1477264"/>
                  </a:cubicBezTo>
                  <a:cubicBezTo>
                    <a:pt x="727837" y="1477264"/>
                    <a:pt x="0" y="1146556"/>
                    <a:pt x="0" y="73863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A329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251200" cy="149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91E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GITWOLVES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id="10" name="TextBox 9"/>
          <p:cNvSpPr txBox="1"/>
          <p:nvPr/>
        </p:nvSpPr>
        <p:spPr>
          <a:xfrm>
            <a:off x="3063240" y="1234440"/>
            <a:ext cx="12344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ACADEMIC, SOCIETAL &amp; NATIONAL WORKFORCE IMPACT</a:t>
            </a:r>
          </a:p>
          <a:p>
            <a:pPr>
              <a:defRPr sz="1100" i="1">
                <a:solidFill>
                  <a:srgbClr val="00F0FF"/>
                </a:solidFill>
                <a:latin typeface="Arial"/>
              </a:defRPr>
            </a:pPr>
            <a:r>
              <a:t>“Democratizing Deep-Tech Quantum Education for India’s ₹6,003 Cr National Quantum Mission”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5303520" cy="292608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68880"/>
            <a:ext cx="49377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3600" b="1">
                <a:solidFill>
                  <a:srgbClr val="00F0FF"/>
                </a:solidFill>
                <a:latin typeface="Arial"/>
              </a:defRPr>
            </a:pPr>
            <a:r>
              <a:t>85%</a:t>
            </a:r>
          </a:p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MASTERY GAIN</a:t>
            </a:r>
          </a:p>
          <a:p>
            <a:pPr>
              <a:spcAft>
                <a:spcPts val="400"/>
              </a:spcAft>
              <a:defRPr sz="950" b="1">
                <a:solidFill>
                  <a:srgbClr val="00F0FF"/>
                </a:solidFill>
                <a:latin typeface="Arial"/>
              </a:defRPr>
            </a:pPr>
            <a:r>
              <a:t>Bloom 2-Sigma Effect Size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Proven 1-on-1 Socratic AI tutoring replacing passive linear algebra rote learning with active 3D spatial vector manipulation.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286000"/>
            <a:ext cx="5303520" cy="292608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468880"/>
            <a:ext cx="49377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3600" b="1">
                <a:solidFill>
                  <a:srgbClr val="10B981"/>
                </a:solidFill>
                <a:latin typeface="Arial"/>
              </a:defRPr>
            </a:pPr>
            <a:r>
              <a:t>₹0</a:t>
            </a:r>
          </a:p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INSTITUTIONAL COST</a:t>
            </a:r>
          </a:p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  <a:latin typeface="Arial"/>
              </a:defRPr>
            </a:pPr>
            <a:r>
              <a:t>100% Open-Source Stack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Eliminates expensive proprietary university licensing fees; runs on ordinary campus computers without local workstation GPUs.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252960" y="2286000"/>
            <a:ext cx="5303520" cy="292608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35840" y="2468880"/>
            <a:ext cx="49377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3600" b="1">
                <a:solidFill>
                  <a:srgbClr val="A855F7"/>
                </a:solidFill>
                <a:latin typeface="Arial"/>
              </a:defRPr>
            </a:pPr>
            <a:r>
              <a:t>50,000+</a:t>
            </a:r>
          </a:p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STUDENTS TRAINED</a:t>
            </a:r>
          </a:p>
          <a:p>
            <a:pPr>
              <a:spcAft>
                <a:spcPts val="400"/>
              </a:spcAft>
              <a:defRPr sz="950" b="1">
                <a:solidFill>
                  <a:srgbClr val="A855F7"/>
                </a:solidFill>
                <a:latin typeface="Arial"/>
              </a:defRPr>
            </a:pPr>
            <a:r>
              <a:t>National Talent Pipeline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Prepares STEM graduates across tier-2 and tier-3 engineering colleges for high-value careers in quantum hardware, AI, and cryptography.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486400"/>
            <a:ext cx="8229600" cy="420624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groq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5623560"/>
            <a:ext cx="320040" cy="320040"/>
          </a:xfrm>
          <a:prstGeom prst="rect">
            <a:avLst/>
          </a:prstGeom>
        </p:spPr>
      </p:pic>
      <p:pic>
        <p:nvPicPr>
          <p:cNvPr id="19" name="Picture 18" descr="chromad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5623560"/>
            <a:ext cx="320040" cy="320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4400" y="56692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BLOOM 2-SIGMA PEDAGOGICAL SHIFT (+2σ)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126480"/>
            <a:ext cx="786384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50">
                <a:solidFill>
                  <a:srgbClr val="FFFFFF"/>
                </a:solidFill>
                <a:latin typeface="Arial"/>
              </a:defRPr>
            </a:pPr>
            <a:r>
              <a:t>• The 2-Sigma Problem (Bloom, 1984): The average student tutored 1-on-1 achieves mastery two standard deviations (+2σ) above students taught in standard classrooms (moving from 50th to 98th percentile).</a:t>
            </a:r>
            <a:br/>
            <a:r>
              <a:t>• AI Socratic Coaching: QuantumLeap delivers this personalized 1-on-1 guidance at zero marginal cost using Groq LPU inference and 76-book RAG grounding.</a:t>
            </a:r>
            <a:br/>
            <a:r>
              <a:t>• Dirac Competency Badges: Gamified milestones validate student proficiency from basic superposition to Bell states, Grover search, and Shor's algorithm.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5486400"/>
            <a:ext cx="8229600" cy="420624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arva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84880" y="5623560"/>
            <a:ext cx="320040" cy="320040"/>
          </a:xfrm>
          <a:prstGeom prst="rect">
            <a:avLst/>
          </a:prstGeom>
        </p:spPr>
      </p:pic>
      <p:pic>
        <p:nvPicPr>
          <p:cNvPr id="24" name="Picture 23" descr="ib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42080" y="5623560"/>
            <a:ext cx="320040" cy="3200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509760" y="56692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Arial"/>
              </a:defRPr>
            </a:pPr>
            <a:r>
              <a:t>INDIA NATIONAL QUANTUM MISSION (₹6,003 Cr) FIT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6126480"/>
            <a:ext cx="786384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• 23 Thematic Quantum Hubs (T-Hubs): Ready-to-deploy lab modules covering quantum computing, communication, sensing, and quantum materials.</a:t>
            </a:r>
            <a:br/>
            <a:r>
              <a:t>• Democratizing Deep-Tech in Tier-2/3 Colleges: Sarvam AI regional dubbing in 10+ languages breaks the language barrier, empowering students across non-metro universities.</a:t>
            </a:r>
            <a:br/>
            <a:r>
              <a:t>• Sovereign Talent Pipeline: Prepares India's engineering workforce for global leadership in quantum hardware and quantum cybersecurity.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6100" y="246888"/>
            <a:ext cx="11795760" cy="1165860"/>
            <a:chOff x="0" y="0"/>
            <a:chExt cx="15727680" cy="1554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2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5727680" cy="1640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99"/>
                </a:lnSpc>
              </a:pPr>
              <a:r>
                <a:rPr lang="en-US" sz="4499" b="true">
                  <a:solidFill>
                    <a:srgbClr val="0E2A47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RESEARCH AND REFERENCES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9590" y="310134"/>
            <a:ext cx="2438400" cy="1107948"/>
            <a:chOff x="0" y="0"/>
            <a:chExt cx="3251200" cy="1477264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3251200" cy="1477264"/>
            </a:xfrm>
            <a:custGeom>
              <a:avLst/>
              <a:gdLst/>
              <a:ahLst/>
              <a:cxnLst/>
              <a:rect r="r" b="b" t="t" l="l"/>
              <a:pathLst>
                <a:path h="1477264" w="3251200">
                  <a:moveTo>
                    <a:pt x="0" y="738632"/>
                  </a:moveTo>
                  <a:cubicBezTo>
                    <a:pt x="0" y="330708"/>
                    <a:pt x="727837" y="0"/>
                    <a:pt x="1625600" y="0"/>
                  </a:cubicBezTo>
                  <a:cubicBezTo>
                    <a:pt x="2523363" y="0"/>
                    <a:pt x="3251200" y="330708"/>
                    <a:pt x="3251200" y="738632"/>
                  </a:cubicBezTo>
                  <a:cubicBezTo>
                    <a:pt x="3251200" y="1146556"/>
                    <a:pt x="2523363" y="1477264"/>
                    <a:pt x="1625600" y="1477264"/>
                  </a:cubicBezTo>
                  <a:cubicBezTo>
                    <a:pt x="727837" y="1477264"/>
                    <a:pt x="0" y="1146556"/>
                    <a:pt x="0" y="73863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A329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251200" cy="149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91E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GITWOLVES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id="10" name="TextBox 9"/>
          <p:cNvSpPr txBox="1"/>
          <p:nvPr/>
        </p:nvSpPr>
        <p:spPr>
          <a:xfrm>
            <a:off x="3063240" y="1234440"/>
            <a:ext cx="12344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REFERENCES, RESEARCH CITATIONS &amp; STANDARDS</a:t>
            </a:r>
          </a:p>
          <a:p>
            <a:pPr>
              <a:defRPr sz="1100" i="1">
                <a:solidFill>
                  <a:srgbClr val="00F0FF"/>
                </a:solidFill>
                <a:latin typeface="Arial"/>
              </a:defRPr>
            </a:pPr>
            <a:r>
              <a:t>“Grounding in Foundational Quantum Literature, Industrial SDKs &amp; National Policy”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5303520" cy="740664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b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2468880"/>
            <a:ext cx="320040" cy="320040"/>
          </a:xfrm>
          <a:prstGeom prst="rect">
            <a:avLst/>
          </a:prstGeom>
        </p:spPr>
      </p:pic>
      <p:pic>
        <p:nvPicPr>
          <p:cNvPr id="13" name="Picture 12" descr="qiski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7320" y="2468880"/>
            <a:ext cx="320040" cy="320040"/>
          </a:xfrm>
          <a:prstGeom prst="rect">
            <a:avLst/>
          </a:prstGeom>
        </p:spPr>
      </p:pic>
      <p:pic>
        <p:nvPicPr>
          <p:cNvPr id="14" name="Picture 13" descr="cirq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0" y="2468880"/>
            <a:ext cx="320040" cy="320040"/>
          </a:xfrm>
          <a:prstGeom prst="rect">
            <a:avLst/>
          </a:prstGeom>
        </p:spPr>
      </p:pic>
      <p:pic>
        <p:nvPicPr>
          <p:cNvPr id="15" name="Picture 14" descr="pennyla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0280" y="2468880"/>
            <a:ext cx="320040" cy="320040"/>
          </a:xfrm>
          <a:prstGeom prst="rect">
            <a:avLst/>
          </a:prstGeom>
        </p:spPr>
      </p:pic>
      <p:pic>
        <p:nvPicPr>
          <p:cNvPr id="16" name="Picture 15" descr="bluequbi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1760" y="2468880"/>
            <a:ext cx="320040" cy="320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4400" y="2926080"/>
            <a:ext cx="4937760" cy="6217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F0FF"/>
                </a:solidFill>
                <a:latin typeface="Arial"/>
              </a:defRPr>
            </a:pPr>
            <a:r>
              <a:t>1. Quantum Foundations &amp; Hardware Platforms</a:t>
            </a:r>
          </a:p>
          <a:p>
            <a:pPr>
              <a:spcAft>
                <a:spcPts val="1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• IBM Quantum Team (2024)</a:t>
            </a:r>
          </a:p>
          <a:p>
            <a:pPr>
              <a:spcAft>
                <a:spcPts val="5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IBM Quantum Heron: 156-Qubit Heavy-Hex Architecture &amp; Qiskit Runtime 1.0 Platform (quantum.ibm.com).</a:t>
            </a:r>
          </a:p>
          <a:p>
            <a:pPr>
              <a:spcAft>
                <a:spcPts val="1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• Nielsen, M. A. &amp; Chuang, I. L. (2010)</a:t>
            </a:r>
          </a:p>
          <a:p>
            <a:pPr>
              <a:spcAft>
                <a:spcPts val="5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Quantum Computation and Quantum Information – 10th Anniversary Edition, Cambridge University Press.</a:t>
            </a:r>
          </a:p>
          <a:p>
            <a:pPr>
              <a:spcAft>
                <a:spcPts val="1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• Bergholm, V. et al. (2022)</a:t>
            </a:r>
          </a:p>
          <a:p>
            <a:pPr>
              <a:spcAft>
                <a:spcPts val="5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PennyLane: Automatic differentiation and machine learning of quantum computers. arXiv:1811.04968.</a:t>
            </a:r>
          </a:p>
          <a:p>
            <a:pPr>
              <a:spcAft>
                <a:spcPts val="1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• Google Quantum AI (2023)</a:t>
            </a:r>
          </a:p>
          <a:p>
            <a:pPr>
              <a:spcAft>
                <a:spcPts val="5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Cirq: A Python Framework for NISQ Algorithms &amp; Sycamore Topologies (quantumai.google/cirq).</a:t>
            </a:r>
          </a:p>
          <a:p>
            <a:pPr>
              <a:spcAft>
                <a:spcPts val="1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• BlueQubit Inc. (2024)</a:t>
            </a:r>
          </a:p>
          <a:p>
            <a:pPr>
              <a:spcAft>
                <a:spcPts val="5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GPU-Accelerated Quantum Circuit Simulation &amp; Tensor Network Contraction (bluequbit.io).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2286000"/>
            <a:ext cx="5303520" cy="740664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groq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6559" y="2468880"/>
            <a:ext cx="320040" cy="320040"/>
          </a:xfrm>
          <a:prstGeom prst="rect">
            <a:avLst/>
          </a:prstGeom>
        </p:spPr>
      </p:pic>
      <p:pic>
        <p:nvPicPr>
          <p:cNvPr id="20" name="Picture 19" descr="chromad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78040" y="2468880"/>
            <a:ext cx="320040" cy="320040"/>
          </a:xfrm>
          <a:prstGeom prst="rect">
            <a:avLst/>
          </a:prstGeom>
        </p:spPr>
      </p:pic>
      <p:pic>
        <p:nvPicPr>
          <p:cNvPr id="21" name="Picture 20" descr="sarvam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89519" y="2468880"/>
            <a:ext cx="320040" cy="3200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675120" y="2926080"/>
            <a:ext cx="4937760" cy="6217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2. AI Inference, Knowledge Graphs &amp; Speech</a:t>
            </a:r>
          </a:p>
          <a:p>
            <a:pPr>
              <a:spcAft>
                <a:spcPts val="1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• Groq Inc. (2024)</a:t>
            </a:r>
          </a:p>
          <a:p>
            <a:pPr>
              <a:spcAft>
                <a:spcPts val="5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Language Processing Unit (LPU) Inference Engine Architecture for Real-Time LLM Serving (groq.com).</a:t>
            </a:r>
          </a:p>
          <a:p>
            <a:pPr>
              <a:spcAft>
                <a:spcPts val="1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• Sarvam AI (2024)</a:t>
            </a:r>
          </a:p>
          <a:p>
            <a:pPr>
              <a:spcAft>
                <a:spcPts val="5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Bulbul &amp; Saaras: Foundation Models for Indian Language Speech Synthesis and Translation (sarvam.ai).</a:t>
            </a:r>
          </a:p>
          <a:p>
            <a:pPr>
              <a:spcAft>
                <a:spcPts val="1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• ChromaDB Team (2024)</a:t>
            </a:r>
          </a:p>
          <a:p>
            <a:pPr>
              <a:spcAft>
                <a:spcPts val="5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Open-Source Embedding Database for High-Precision Domain-Specific RAG (trychroma.com).</a:t>
            </a:r>
          </a:p>
          <a:p>
            <a:pPr>
              <a:spcAft>
                <a:spcPts val="1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• Preskill, J. (2018)</a:t>
            </a:r>
          </a:p>
          <a:p>
            <a:pPr>
              <a:spcAft>
                <a:spcPts val="5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Quantum Computing in the NISQ era and beyond. Quantum, 2, 79 (Caltech Lecture Notes).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252960" y="2286000"/>
            <a:ext cx="5303520" cy="740664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435840" y="2468880"/>
            <a:ext cx="4937760" cy="6675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A855F7"/>
                </a:solidFill>
                <a:latin typeface="Arial"/>
              </a:defRPr>
            </a:pPr>
            <a:r>
              <a:t>3. National Policy, Pedagogy &amp; Standards</a:t>
            </a:r>
          </a:p>
          <a:p>
            <a:pPr>
              <a:spcAft>
                <a:spcPts val="1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• DST, Govt. of India (2023–2026)</a:t>
            </a:r>
          </a:p>
          <a:p>
            <a:pPr>
              <a:spcAft>
                <a:spcPts val="5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National Quantum Mission (NQM) Policy &amp; Human Resource Development Roadmap (₹6,003 Cr).</a:t>
            </a:r>
          </a:p>
          <a:p>
            <a:pPr>
              <a:spcAft>
                <a:spcPts val="1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• Bloom, Benjamin S. (1984)</a:t>
            </a:r>
          </a:p>
          <a:p>
            <a:pPr>
              <a:spcAft>
                <a:spcPts val="5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The 2 Sigma Problem: Search for Methods of Instruction Effective as 1-on-1 Tutoring. Educational Researcher.</a:t>
            </a:r>
          </a:p>
          <a:p>
            <a:pPr>
              <a:spcAft>
                <a:spcPts val="1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• QED-C (2023)</a:t>
            </a:r>
          </a:p>
          <a:p>
            <a:pPr>
              <a:spcAft>
                <a:spcPts val="5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Quantum Workforce Development Guidelines for Undergraduate Engineering Education.</a:t>
            </a:r>
          </a:p>
          <a:p>
            <a:pPr>
              <a:spcAft>
                <a:spcPts val="1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• AICTE &amp; UGC (2024)</a:t>
            </a:r>
          </a:p>
          <a:p>
            <a:pPr>
              <a:spcAft>
                <a:spcPts val="5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National Education Policy (NEP 2020) Technical Guidelines for Quantum Curricula.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DAHU6XYzYKc</dc:identifier>
  <dcterms:modified xsi:type="dcterms:W3CDTF">2011-08-01T06:04:30Z</dcterms:modified>
  <cp:revision>1</cp:revision>
  <dc:title>QuantumLeap_SIH2026_Gitwolves_FINAL.pptx</dc:title>
</cp:coreProperties>
</file>