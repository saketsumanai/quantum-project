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4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Arial Bold" charset="1" panose="020B0704020202020204"/>
      <p:regular r:id="rId13"/>
    </p:embeddedFont>
    <p:embeddedFont>
      <p:font typeface="Georgia Bold" charset="1" panose="02040802050405020203"/>
      <p:regular r:id="rId17"/>
    </p:embeddedFont>
    <p:embeddedFont>
      <p:font typeface="Arial Bold Italics" charset="1" panose="020B0704020202090204"/>
      <p:regular r:id="rId18"/>
    </p:embeddedFont>
    <p:embeddedFont>
      <p:font typeface="Calibri (MS) Bold" charset="1" panose="020F0702030404030204"/>
      <p:regular r:id="rId19"/>
    </p:embeddedFont>
    <p:embeddedFont>
      <p:font typeface="Calibri (MS)" charset="1" panose="020F0502020204030204"/>
      <p:regular r:id="rId20"/>
    </p:embeddedFont>
    <p:embeddedFont>
      <p:font typeface="Arial Italics" charset="1" panose="020B0604020202090204"/>
      <p:regular r:id="rId21"/>
    </p:embeddedFont>
    <p:embeddedFont>
      <p:font typeface="Arimo Bold" charset="1" panose="020B0704020202020204"/>
      <p:regular r:id="rId22"/>
    </p:embeddedFont>
    <p:embeddedFont>
      <p:font typeface="Arial" charset="1" panose="020B0604020202020204"/>
      <p:regular r:id="rId23"/>
    </p:embeddedFont>
    <p:embeddedFont>
      <p:font typeface="Times New Roman MT Bold" charset="1" panose="02030802070405020303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notesMaster" Target="notesMasters/notesMaster1.xml"/><Relationship Id="rId15" Type="http://schemas.openxmlformats.org/officeDocument/2006/relationships/theme" Target="theme/theme2.xml"/><Relationship Id="rId16" Type="http://schemas.openxmlformats.org/officeDocument/2006/relationships/notesSlide" Target="notesSlides/notesSlide1.xml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notesSlide" Target="notesSlides/notesSlide2.xml"/><Relationship Id="rId25" Type="http://schemas.openxmlformats.org/officeDocument/2006/relationships/font" Target="fonts/font25.fntdata"/><Relationship Id="rId26" Type="http://schemas.openxmlformats.org/officeDocument/2006/relationships/notesSlide" Target="notesSlides/notesSlide3.xml"/><Relationship Id="rId27" Type="http://schemas.openxmlformats.org/officeDocument/2006/relationships/notesSlide" Target="notesSlides/notesSlide4.xml"/><Relationship Id="rId28" Type="http://schemas.openxmlformats.org/officeDocument/2006/relationships/notesSlide" Target="notesSlides/notes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6005" y="-758338"/>
            <a:ext cx="15544800" cy="3114675"/>
            <a:chOff x="0" y="0"/>
            <a:chExt cx="20726400" cy="41529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4213" y="1954570"/>
            <a:ext cx="16365874" cy="7145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SIH26140</a:t>
            </a:r>
          </a:p>
          <a:p>
            <a:pPr algn="just" marL="651510" indent="-325755" lvl="1">
              <a:lnSpc>
                <a:spcPts val="540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AI-Based Interactive</a:t>
            </a:r>
          </a:p>
          <a:p>
            <a:pPr algn="just">
              <a:lnSpc>
                <a:spcPts val="5400"/>
              </a:lnSpc>
            </a:pPr>
            <a:r>
              <a:rPr lang="en-US" sz="3600" b="true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     Quantum Algorithm Learning Platform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Smart Education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Software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Name-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GITWOLVES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0625822" y="1277274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2"/>
                </a:lnTo>
                <a:lnTo>
                  <a:pt x="0" y="77324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2505738" y="2672926"/>
            <a:ext cx="4919425" cy="5261451"/>
            <a:chOff x="0" y="0"/>
            <a:chExt cx="6407023" cy="68524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149475" b="-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572768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0E2A47"/>
                  </a:solidFill>
                  <a:latin typeface="Georgia Bold"/>
                  <a:ea typeface="Georgia Bold"/>
                  <a:cs typeface="Georgia Bold"/>
                  <a:sym typeface="Georgia Bold"/>
                </a:rPr>
                <a:t>Interactive Web-Based Quantum Learning Platform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122676" y="1320546"/>
            <a:ext cx="11722608" cy="837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defRPr sz="2000" b="1">
                <a:solidFill>
                  <a:srgbClr val="FFFFFF"/>
                </a:solidFill>
                <a:latin typeface="Arial"/>
              </a:defRPr>
            </a:pPr>
            <a:r>
              <a:t>PROPOSED SOLUTION &amp; PEDAGOGICAL INNOVATION</a:t>
            </a:r>
          </a:p>
          <a:p>
            <a:pPr>
              <a:defRPr sz="1100" i="1">
                <a:solidFill>
                  <a:srgbClr val="00F0FF"/>
                </a:solidFill>
                <a:latin typeface="Arial"/>
              </a:defRPr>
            </a:pPr>
            <a:r>
              <a:t>“Bridging Abstract Linear Algebra to Spatial &amp; Physical Quantum Intuition”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39115" y="2322195"/>
            <a:ext cx="5025390" cy="7219950"/>
            <a:chOff x="0" y="0"/>
            <a:chExt cx="6700520" cy="9626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700520" cy="9626600"/>
            </a:xfrm>
            <a:custGeom>
              <a:avLst/>
              <a:gdLst/>
              <a:ahLst/>
              <a:cxnLst/>
              <a:rect r="r" b="b" t="t" l="l"/>
              <a:pathLst>
                <a:path h="9626600" w="6700520">
                  <a:moveTo>
                    <a:pt x="0" y="0"/>
                  </a:moveTo>
                  <a:lnTo>
                    <a:pt x="6700520" y="0"/>
                  </a:lnTo>
                  <a:lnTo>
                    <a:pt x="6700520" y="9626600"/>
                  </a:lnTo>
                  <a:lnTo>
                    <a:pt x="0" y="9626600"/>
                  </a:lnTo>
                  <a:close/>
                </a:path>
              </a:pathLst>
            </a:custGeom>
            <a:solidFill>
              <a:srgbClr val="FEEEE6"/>
            </a:solidFill>
            <a:ln w="19050" cap="sq">
              <a:solidFill>
                <a:srgbClr val="F0B99B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790956" y="2486406"/>
            <a:ext cx="4521708" cy="5631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true">
                <a:solidFill>
                  <a:srgbClr val="C05621"/>
                </a:solidFill>
                <a:latin typeface="Georgia Bold"/>
                <a:ea typeface="Georgia Bold"/>
                <a:cs typeface="Georgia Bold"/>
                <a:sym typeface="Georgia Bold"/>
              </a:rPr>
              <a:t>SOLUTIONS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45761" y="3515487"/>
            <a:ext cx="4690144" cy="5779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1680" indent="-200840" lvl="1">
              <a:lnSpc>
                <a:spcPts val="2232"/>
              </a:lnSpc>
              <a:spcAft>
                <a:spcPts val="200"/>
              </a:spcAft>
              <a:buFont typeface="Arial"/>
              <a:buChar char="•"/>
              <a:defRPr sz="1050" b="1">
                <a:solidFill>
                  <a:srgbClr val="00F0FF"/>
                </a:solidFill>
                <a:latin typeface="Arial"/>
              </a:defRPr>
            </a:pPr>
            <a:r>
              <a:t>1. 16-Qubit Multi-Engine Studio</a:t>
            </a:r>
          </a:p>
          <a:p>
            <a:pPr>
              <a:spcAft>
                <a:spcPts val="800"/>
              </a:spcAft>
              <a:defRPr sz="819">
                <a:solidFill>
                  <a:srgbClr val="FFFFFF"/>
                </a:solidFill>
                <a:latin typeface="Arial"/>
              </a:defRPr>
            </a:pPr>
            <a:r>
              <a:t>Drag-and-drop canvas supporting H, Pauli, Phase, CNOT, and SWAP with live dispatch across IBM 156Q Heron QPU, BlueQubit GPU, Aer, Cirq, and PennyLane.</a:t>
            </a:r>
          </a:p>
          <a:p>
            <a:pPr>
              <a:spcAft>
                <a:spcPts val="200"/>
              </a:spcAft>
              <a:defRPr sz="1050" b="1">
                <a:solidFill>
                  <a:srgbClr val="00F0FF"/>
                </a:solidFill>
                <a:latin typeface="Arial"/>
              </a:defRPr>
            </a:pPr>
            <a:r>
              <a:t>2. Real-Time 3D WebGL Bloch Sphere</a:t>
            </a:r>
          </a:p>
          <a:p>
            <a:pPr>
              <a:spcAft>
                <a:spcPts val="800"/>
              </a:spcAft>
              <a:defRPr sz="819">
                <a:solidFill>
                  <a:srgbClr val="FFFFFF"/>
                </a:solidFill>
                <a:latin typeface="Arial"/>
              </a:defRPr>
            </a:pPr>
            <a:r>
              <a:t>GPU-accelerated unitary rotation vectors paired with live KaTeX bra-ket equations and measurement histograms, converting matrix math into spatial intuition.</a:t>
            </a:r>
          </a:p>
          <a:p>
            <a:pPr>
              <a:spcAft>
                <a:spcPts val="200"/>
              </a:spcAft>
              <a:defRPr sz="1050" b="1">
                <a:solidFill>
                  <a:srgbClr val="00F0FF"/>
                </a:solidFill>
                <a:latin typeface="Arial"/>
              </a:defRPr>
            </a:pPr>
            <a:r>
              <a:t>3. Contextual 76-Book RAG Tutor</a:t>
            </a:r>
          </a:p>
          <a:p>
            <a:pPr>
              <a:spcAft>
                <a:spcPts val="800"/>
              </a:spcAft>
              <a:defRPr sz="819">
                <a:solidFill>
                  <a:srgbClr val="FFFFFF"/>
                </a:solidFill>
                <a:latin typeface="Arial"/>
              </a:defRPr>
            </a:pPr>
            <a:r>
              <a:t>Sub-second Groq LPU tutor with chain-of-thought quantum theorem proofs, catching phase errors and non-unitary operations with guided Socratic hints.</a:t>
            </a:r>
          </a:p>
          <a:p>
            <a:pPr>
              <a:spcAft>
                <a:spcPts val="200"/>
              </a:spcAft>
              <a:defRPr sz="1050" b="1">
                <a:solidFill>
                  <a:srgbClr val="00F0FF"/>
                </a:solidFill>
                <a:latin typeface="Arial"/>
              </a:defRPr>
            </a:pPr>
            <a:r>
              <a:t>4. Sarvam AI Multilingual Dubber</a:t>
            </a:r>
          </a:p>
          <a:p>
            <a:pPr>
              <a:spcAft>
                <a:spcPts val="800"/>
              </a:spcAft>
              <a:defRPr sz="819">
                <a:solidFill>
                  <a:srgbClr val="FFFFFF"/>
                </a:solidFill>
                <a:latin typeface="Arial"/>
              </a:defRPr>
            </a:pPr>
            <a:r>
              <a:t>Neural Indic dubbing (Bulbul:v3) preserving English quantum nomenclature across 10+ languages (Hindi, Tamil, Telugu, etc.) for inclusive learning.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534656" y="5503926"/>
            <a:ext cx="3218688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QuantumLeap</a:t>
            </a:r>
          </a:p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005A9C"/>
                </a:solidFill>
                <a:latin typeface="Arial Bold"/>
                <a:ea typeface="Arial Bold"/>
                <a:cs typeface="Arial Bold"/>
                <a:sym typeface="Arial Bold"/>
              </a:rPr>
              <a:t>Interactive Learning Hub</a:t>
            </a:r>
          </a:p>
          <a:p>
            <a:pPr algn="ctr">
              <a:lnSpc>
                <a:spcPts val="1800"/>
              </a:lnSpc>
            </a:pPr>
            <a:r>
              <a:rPr lang="en-US" sz="1500" i="true">
                <a:solidFill>
                  <a:srgbClr val="555F6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Sense • Simulate • See • Master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11796" y="2765870"/>
            <a:ext cx="3218688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Circuit Construction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Drag &amp; drop quantum gates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186416" y="4079558"/>
            <a:ext cx="2052828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Quantum Simulation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Qiskit / QuTiP statevector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186416" y="7165657"/>
            <a:ext cx="2052828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Dynamic 3D Bloch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Real-time state projection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392353" y="8563356"/>
            <a:ext cx="34528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Dirac &amp; Matrix Math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Live mathematical bra-ket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888355" y="7182803"/>
            <a:ext cx="2282190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Contextual AI Tutor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RAG diagnostic coaching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888355" y="4079558"/>
            <a:ext cx="2282190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1400" b="true">
                <a:solidFill>
                  <a:srgbClr val="0E2A47"/>
                </a:solidFill>
                <a:latin typeface="Arimo Bold"/>
                <a:ea typeface="Arimo Bold"/>
                <a:cs typeface="Arimo Bold"/>
                <a:sym typeface="Arimo Bold"/>
              </a:rPr>
              <a:t> Gamified Mastery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Benchmark lab evaluation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1146536" y="5846826"/>
            <a:ext cx="475488" cy="425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1E7E34"/>
                </a:solidFill>
                <a:latin typeface="Arial Bold"/>
                <a:ea typeface="Arial Bold"/>
                <a:cs typeface="Arial Bold"/>
                <a:sym typeface="Arial Bold"/>
              </a:rPr>
              <a:t>⬇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443216" y="8041386"/>
            <a:ext cx="475488" cy="425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1E7E34"/>
                </a:solidFill>
                <a:latin typeface="Arial Bold"/>
                <a:ea typeface="Arial Bold"/>
                <a:cs typeface="Arial Bold"/>
                <a:sym typeface="Arial Bold"/>
              </a:rPr>
              <a:t>⬅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443216" y="3172206"/>
            <a:ext cx="475488" cy="425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1E7E34"/>
                </a:solidFill>
                <a:latin typeface="Arimo Bold"/>
                <a:ea typeface="Arimo Bold"/>
                <a:cs typeface="Arimo Bold"/>
                <a:sym typeface="Arimo Bold"/>
              </a:rPr>
              <a:t>➔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929616" y="2505456"/>
            <a:ext cx="4521708" cy="544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true">
                <a:solidFill>
                  <a:srgbClr val="1E7E34"/>
                </a:solidFill>
                <a:latin typeface="Georgia Bold"/>
                <a:ea typeface="Georgia Bold"/>
                <a:cs typeface="Georgia Bold"/>
                <a:sym typeface="Georgia Bold"/>
              </a:rPr>
              <a:t>UNIQUENESS AND INNOVATION</a:t>
            </a:r>
          </a:p>
        </p:txBody>
      </p:sp>
      <p:pic>
        <p:nvPicPr>
          <p:cNvPr id="45" name="Picture 44" descr="vector_slide2_feedback_lo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2377440"/>
            <a:ext cx="6949440" cy="7132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15727680" cy="1649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TECHNICAL APPROACH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122676" y="1320546"/>
            <a:ext cx="11722608" cy="494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0"/>
              </a:lnSpc>
              <a:defRPr sz="1800" b="1">
                <a:solidFill>
                  <a:srgbClr val="FFFFFF"/>
                </a:solidFill>
                <a:latin typeface="Arial"/>
              </a:defRPr>
            </a:pPr>
            <a:r>
              <a:t>TECHNICAL ARCHITECTURE &amp; MULTI-CLOUD HARDWARE PIPELINE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34352" y="1974533"/>
            <a:ext cx="5789295" cy="7572375"/>
            <a:chOff x="0" y="0"/>
            <a:chExt cx="7719060" cy="10096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719060" cy="10096500"/>
            </a:xfrm>
            <a:custGeom>
              <a:avLst/>
              <a:gdLst/>
              <a:ahLst/>
              <a:cxnLst/>
              <a:rect r="r" b="b" t="t" l="l"/>
              <a:pathLst>
                <a:path h="10096500" w="7719060">
                  <a:moveTo>
                    <a:pt x="0" y="0"/>
                  </a:moveTo>
                  <a:lnTo>
                    <a:pt x="7719060" y="0"/>
                  </a:lnTo>
                  <a:lnTo>
                    <a:pt x="7719060" y="10096500"/>
                  </a:lnTo>
                  <a:lnTo>
                    <a:pt x="0" y="10096500"/>
                  </a:ln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12325A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790956" y="2143506"/>
            <a:ext cx="5276088" cy="425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2325A"/>
                </a:solidFill>
                <a:latin typeface="Arial Bold"/>
                <a:ea typeface="Arial Bold"/>
                <a:cs typeface="Arial Bold"/>
                <a:sym typeface="Arial Bold"/>
              </a:rPr>
              <a:t>IMPLEMENTATION PROCEDURE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50595" y="2733675"/>
            <a:ext cx="4956810" cy="3173730"/>
            <a:chOff x="0" y="0"/>
            <a:chExt cx="6609080" cy="42316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09080" cy="4231640"/>
            </a:xfrm>
            <a:custGeom>
              <a:avLst/>
              <a:gdLst/>
              <a:ahLst/>
              <a:cxnLst/>
              <a:rect r="r" b="b" t="t" l="l"/>
              <a:pathLst>
                <a:path h="4231640" w="6609080">
                  <a:moveTo>
                    <a:pt x="0" y="705231"/>
                  </a:moveTo>
                  <a:cubicBezTo>
                    <a:pt x="0" y="315722"/>
                    <a:pt x="315722" y="0"/>
                    <a:pt x="705231" y="0"/>
                  </a:cubicBezTo>
                  <a:lnTo>
                    <a:pt x="5903849" y="0"/>
                  </a:lnTo>
                  <a:cubicBezTo>
                    <a:pt x="6293358" y="0"/>
                    <a:pt x="6609080" y="315722"/>
                    <a:pt x="6609080" y="705231"/>
                  </a:cubicBezTo>
                  <a:lnTo>
                    <a:pt x="6609080" y="3526409"/>
                  </a:lnTo>
                  <a:cubicBezTo>
                    <a:pt x="6609080" y="3915918"/>
                    <a:pt x="6293358" y="4231640"/>
                    <a:pt x="5903849" y="4231640"/>
                  </a:cubicBezTo>
                  <a:lnTo>
                    <a:pt x="705231" y="4231640"/>
                  </a:lnTo>
                  <a:cubicBezTo>
                    <a:pt x="315722" y="4231640"/>
                    <a:pt x="0" y="3915918"/>
                    <a:pt x="0" y="3526409"/>
                  </a:cubicBezTo>
                  <a:close/>
                </a:path>
              </a:pathLst>
            </a:custGeom>
            <a:solidFill>
              <a:srgbClr val="F8FAFD"/>
            </a:solidFill>
            <a:ln w="19050" cap="sq">
              <a:solidFill>
                <a:srgbClr val="D7DEE6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58240" y="2941320"/>
            <a:ext cx="2004060" cy="906780"/>
            <a:chOff x="0" y="0"/>
            <a:chExt cx="2672080" cy="12090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67208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67208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470531" y="0"/>
                  </a:lnTo>
                  <a:cubicBezTo>
                    <a:pt x="2581783" y="0"/>
                    <a:pt x="2672080" y="90170"/>
                    <a:pt x="2672080" y="201549"/>
                  </a:cubicBezTo>
                  <a:lnTo>
                    <a:pt x="2672080" y="1007491"/>
                  </a:lnTo>
                  <a:cubicBezTo>
                    <a:pt x="2672080" y="1118743"/>
                    <a:pt x="2581910" y="1209040"/>
                    <a:pt x="247053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43584" y="3007614"/>
            <a:ext cx="1847088" cy="768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70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Visual Circuit Input</a:t>
            </a:r>
          </a:p>
          <a:p>
            <a:pPr algn="ctr">
              <a:lnSpc>
                <a:spcPts val="1223"/>
              </a:lnSpc>
            </a:pPr>
            <a:r>
              <a:rPr lang="en-US" sz="1019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Drag-Drop Gates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59836" y="3144774"/>
            <a:ext cx="406908" cy="35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005A9C"/>
                </a:solidFill>
                <a:latin typeface="Arimo Bold"/>
                <a:ea typeface="Arimo Bold"/>
                <a:cs typeface="Arimo Bold"/>
                <a:sym typeface="Arimo Bold"/>
              </a:rPr>
              <a:t>➔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3764280" y="2941320"/>
            <a:ext cx="2004060" cy="906780"/>
            <a:chOff x="0" y="0"/>
            <a:chExt cx="2672080" cy="12090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67208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67208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470531" y="0"/>
                  </a:lnTo>
                  <a:cubicBezTo>
                    <a:pt x="2581783" y="0"/>
                    <a:pt x="2672080" y="90170"/>
                    <a:pt x="2672080" y="201549"/>
                  </a:cubicBezTo>
                  <a:lnTo>
                    <a:pt x="2672080" y="1007491"/>
                  </a:lnTo>
                  <a:cubicBezTo>
                    <a:pt x="2672080" y="1118743"/>
                    <a:pt x="2581910" y="1209040"/>
                    <a:pt x="247053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3849624" y="3007614"/>
            <a:ext cx="1847088" cy="768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70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AST Normalizer</a:t>
            </a:r>
          </a:p>
          <a:p>
            <a:pPr algn="ctr">
              <a:lnSpc>
                <a:spcPts val="1223"/>
              </a:lnSpc>
            </a:pPr>
            <a:r>
              <a:rPr lang="en-US" sz="1019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OpenQASM 3.0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562856" y="3885438"/>
            <a:ext cx="406908" cy="35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005A9C"/>
                </a:solidFill>
                <a:latin typeface="Arial Bold"/>
                <a:ea typeface="Arial Bold"/>
                <a:cs typeface="Arial Bold"/>
                <a:sym typeface="Arial Bold"/>
              </a:rPr>
              <a:t>⬇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3764280" y="4312920"/>
            <a:ext cx="2004060" cy="906780"/>
            <a:chOff x="0" y="0"/>
            <a:chExt cx="2672080" cy="12090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67208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67208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470531" y="0"/>
                  </a:lnTo>
                  <a:cubicBezTo>
                    <a:pt x="2581783" y="0"/>
                    <a:pt x="2672080" y="90170"/>
                    <a:pt x="2672080" y="201549"/>
                  </a:cubicBezTo>
                  <a:lnTo>
                    <a:pt x="2672080" y="1007491"/>
                  </a:lnTo>
                  <a:cubicBezTo>
                    <a:pt x="2672080" y="1118743"/>
                    <a:pt x="2581910" y="1209040"/>
                    <a:pt x="247053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3849624" y="4379214"/>
            <a:ext cx="1847088" cy="768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70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Quantum Sim Engine</a:t>
            </a:r>
          </a:p>
          <a:p>
            <a:pPr algn="ctr">
              <a:lnSpc>
                <a:spcPts val="1223"/>
              </a:lnSpc>
            </a:pPr>
            <a:r>
              <a:rPr lang="en-US" sz="1019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Qiskit / QuTiP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259836" y="4516374"/>
            <a:ext cx="406908" cy="35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005A9C"/>
                </a:solidFill>
                <a:latin typeface="Arial Bold"/>
                <a:ea typeface="Arial Bold"/>
                <a:cs typeface="Arial Bold"/>
                <a:sym typeface="Arial Bold"/>
              </a:rPr>
              <a:t>⬅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58240" y="4312920"/>
            <a:ext cx="2004060" cy="906780"/>
            <a:chOff x="0" y="0"/>
            <a:chExt cx="2672080" cy="12090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67208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67208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470531" y="0"/>
                  </a:lnTo>
                  <a:cubicBezTo>
                    <a:pt x="2581783" y="0"/>
                    <a:pt x="2672080" y="90170"/>
                    <a:pt x="2672080" y="201549"/>
                  </a:cubicBezTo>
                  <a:lnTo>
                    <a:pt x="2672080" y="1007491"/>
                  </a:lnTo>
                  <a:cubicBezTo>
                    <a:pt x="2672080" y="1118743"/>
                    <a:pt x="2581910" y="1209040"/>
                    <a:pt x="247053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243584" y="4379214"/>
            <a:ext cx="1847088" cy="768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70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3D Bloch &amp; Matrix</a:t>
            </a:r>
          </a:p>
          <a:p>
            <a:pPr algn="ctr">
              <a:lnSpc>
                <a:spcPts val="1223"/>
              </a:lnSpc>
            </a:pPr>
            <a:r>
              <a:rPr lang="en-US" sz="1019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Three.js WebGL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65276" y="5298186"/>
            <a:ext cx="4727448" cy="494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30"/>
              </a:lnSpc>
            </a:pPr>
            <a:r>
              <a:rPr lang="en-US" sz="1275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Real-Time Execution Pipeline:</a:t>
            </a:r>
          </a:p>
          <a:p>
            <a:pPr algn="ctr">
              <a:lnSpc>
                <a:spcPts val="1530"/>
              </a:lnSpc>
            </a:pPr>
            <a:r>
              <a:rPr lang="en-US" sz="1275" b="true">
                <a:solidFill>
                  <a:srgbClr val="005A9C"/>
                </a:solidFill>
                <a:latin typeface="Arial Bold"/>
                <a:ea typeface="Arial Bold"/>
                <a:cs typeface="Arial Bold"/>
                <a:sym typeface="Arial Bold"/>
              </a:rPr>
              <a:t>Sense • Simulate • Compute • Master.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59536" y="6111621"/>
            <a:ext cx="5138928" cy="267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0"/>
              </a:lnSpc>
              <a:spcAft>
                <a:spcPts val="200"/>
              </a:spcAft>
              <a:defRPr sz="1000" b="1">
                <a:solidFill>
                  <a:srgbClr val="00F0FF"/>
                </a:solidFill>
                <a:latin typeface="Arial"/>
              </a:defRPr>
            </a:pPr>
            <a:r>
              <a:t>1. Visual Circuit Input &amp; OpenQASM 3.0 AST</a:t>
            </a:r>
          </a:p>
          <a:p>
            <a:pPr>
              <a:spcAft>
                <a:spcPts val="800"/>
              </a:spcAft>
              <a:defRPr sz="800">
                <a:solidFill>
                  <a:srgbClr val="FFFFFF"/>
                </a:solidFill>
                <a:latin typeface="Arial"/>
              </a:defRPr>
            </a:pPr>
            <a:r>
              <a:t>Visual drag-and-drop interface converts user gate operations directly into hardware-agnostic Abstract Syntax Trees (AST) with real-time unitarity checks.</a:t>
            </a:r>
          </a:p>
          <a:p>
            <a:pPr>
              <a:spcAft>
                <a:spcPts val="200"/>
              </a:spcAft>
              <a:defRPr sz="1000" b="1">
                <a:solidFill>
                  <a:srgbClr val="00F0FF"/>
                </a:solidFill>
                <a:latin typeface="Arial"/>
              </a:defRPr>
            </a:pPr>
            <a:r>
              <a:t>2. Multi-Engine Cloud &amp; QPU Dispatch</a:t>
            </a:r>
          </a:p>
          <a:p>
            <a:pPr>
              <a:spcAft>
                <a:spcPts val="800"/>
              </a:spcAft>
              <a:defRPr sz="800">
                <a:solidFill>
                  <a:srgbClr val="FFFFFF"/>
                </a:solidFill>
                <a:latin typeface="Arial"/>
              </a:defRPr>
            </a:pPr>
            <a:r>
              <a:t>Unified orchestrator routes circuits to IBM 156-qubit Heron QPUs (ibm_fez), BlueQubit GPU tensor networks, Qiskit Aer, Google Cirq, or PennyLane.</a:t>
            </a:r>
          </a:p>
          <a:p>
            <a:pPr>
              <a:spcAft>
                <a:spcPts val="200"/>
              </a:spcAft>
              <a:defRPr sz="1000" b="1">
                <a:solidFill>
                  <a:srgbClr val="00F0FF"/>
                </a:solidFill>
                <a:latin typeface="Arial"/>
              </a:defRPr>
            </a:pPr>
            <a:r>
              <a:t>3. GPU-Accelerated 3D Bloch &amp; Matrix Projection</a:t>
            </a:r>
          </a:p>
          <a:p>
            <a:pPr>
              <a:spcAft>
                <a:spcPts val="800"/>
              </a:spcAft>
              <a:defRPr sz="800">
                <a:solidFill>
                  <a:srgbClr val="FFFFFF"/>
                </a:solidFill>
                <a:latin typeface="Arial"/>
              </a:defRPr>
            </a:pPr>
            <a:r>
              <a:t>Three.js WebGL shaders compute statevector transformations in browser threads, rendering real-time Bloch vector trajectories and KaTeX Dirac formulas.</a:t>
            </a:r>
          </a:p>
          <a:p>
            <a:pPr>
              <a:spcAft>
                <a:spcPts val="200"/>
              </a:spcAft>
              <a:defRPr sz="1000" b="1">
                <a:solidFill>
                  <a:srgbClr val="00F0FF"/>
                </a:solidFill>
                <a:latin typeface="Arial"/>
              </a:defRPr>
            </a:pPr>
            <a:r>
              <a:t>4. 76-Book RAG Diagnostic &amp; Multilingual Dubbing</a:t>
            </a:r>
          </a:p>
          <a:p>
            <a:pPr>
              <a:spcAft>
                <a:spcPts val="800"/>
              </a:spcAft>
              <a:defRPr sz="800">
                <a:solidFill>
                  <a:srgbClr val="FFFFFF"/>
                </a:solidFill>
                <a:latin typeface="Arial"/>
              </a:defRPr>
            </a:pPr>
            <a:r>
              <a:t>Sub-second Groq LPU engine diagnoses circuit misalignments against 76 textbooks; Sarvam AI synthesizes regional voice dubs with quantum glossary protection.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688836" y="2006346"/>
            <a:ext cx="5413248" cy="425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SOFTWARE USED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449556" y="2006346"/>
            <a:ext cx="5138928" cy="425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QUANTUM ENGINES &amp; MATH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6644640" y="2529840"/>
            <a:ext cx="1277112" cy="563880"/>
            <a:chOff x="0" y="0"/>
            <a:chExt cx="1702816" cy="7518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F0F5FC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37" id="37"/>
          <p:cNvSpPr txBox="true"/>
          <p:nvPr/>
        </p:nvSpPr>
        <p:spPr>
          <a:xfrm rot="0">
            <a:off x="6716268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React 19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7988808" y="2529840"/>
            <a:ext cx="1277112" cy="563880"/>
            <a:chOff x="0" y="0"/>
            <a:chExt cx="1702816" cy="7518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F0F5FC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40" id="40"/>
          <p:cNvSpPr txBox="true"/>
          <p:nvPr/>
        </p:nvSpPr>
        <p:spPr>
          <a:xfrm rot="0">
            <a:off x="8060436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TypeScript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9332976" y="2529840"/>
            <a:ext cx="1277112" cy="563880"/>
            <a:chOff x="0" y="0"/>
            <a:chExt cx="1702816" cy="7518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F0F5FC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43" id="43"/>
          <p:cNvSpPr txBox="true"/>
          <p:nvPr/>
        </p:nvSpPr>
        <p:spPr>
          <a:xfrm rot="0">
            <a:off x="9404604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Three.js WebGL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0677144" y="2529840"/>
            <a:ext cx="1277112" cy="563880"/>
            <a:chOff x="0" y="0"/>
            <a:chExt cx="1702816" cy="7518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F0F5FC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46" id="46"/>
          <p:cNvSpPr txBox="true"/>
          <p:nvPr/>
        </p:nvSpPr>
        <p:spPr>
          <a:xfrm rot="0">
            <a:off x="10748772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Python 3.12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2405360" y="2529840"/>
            <a:ext cx="1277112" cy="563880"/>
            <a:chOff x="0" y="0"/>
            <a:chExt cx="1702816" cy="7518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EBFAF0"/>
            </a:solidFill>
            <a:ln w="15240" cap="sq">
              <a:solidFill>
                <a:srgbClr val="1E7E3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2476988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IBM 156Q Heron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749528" y="2529840"/>
            <a:ext cx="1277112" cy="563880"/>
            <a:chOff x="0" y="0"/>
            <a:chExt cx="1702816" cy="7518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EBFAF0"/>
            </a:solidFill>
            <a:ln w="15240" cap="sq">
              <a:solidFill>
                <a:srgbClr val="1E7E34"/>
              </a:solidFill>
              <a:prstDash val="solid"/>
              <a:miter/>
            </a:ln>
          </p:spPr>
        </p:sp>
      </p:grpSp>
      <p:sp>
        <p:nvSpPr>
          <p:cNvPr name="TextBox 52" id="52"/>
          <p:cNvSpPr txBox="true"/>
          <p:nvPr/>
        </p:nvSpPr>
        <p:spPr>
          <a:xfrm rot="0">
            <a:off x="13821156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BlueQubit GPU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5093696" y="2529840"/>
            <a:ext cx="1277112" cy="563880"/>
            <a:chOff x="0" y="0"/>
            <a:chExt cx="1702816" cy="75184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EBFAF0"/>
            </a:solidFill>
            <a:ln w="15240" cap="sq">
              <a:solidFill>
                <a:srgbClr val="1E7E34"/>
              </a:solidFill>
              <a:prstDash val="solid"/>
              <a:miter/>
            </a:ln>
          </p:spPr>
        </p:sp>
      </p:grpSp>
      <p:sp>
        <p:nvSpPr>
          <p:cNvPr name="TextBox 55" id="55"/>
          <p:cNvSpPr txBox="true"/>
          <p:nvPr/>
        </p:nvSpPr>
        <p:spPr>
          <a:xfrm rot="0">
            <a:off x="15165324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Qiskit Aer 1.0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6437864" y="2529840"/>
            <a:ext cx="1277112" cy="563880"/>
            <a:chOff x="0" y="0"/>
            <a:chExt cx="1702816" cy="7518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EBFAF0"/>
            </a:solidFill>
            <a:ln w="15240" cap="sq">
              <a:solidFill>
                <a:srgbClr val="1E7E34"/>
              </a:solidFill>
              <a:prstDash val="solid"/>
              <a:miter/>
            </a:ln>
          </p:spPr>
        </p:sp>
      </p:grpSp>
      <p:sp>
        <p:nvSpPr>
          <p:cNvPr name="TextBox 58" id="58"/>
          <p:cNvSpPr txBox="true"/>
          <p:nvPr/>
        </p:nvSpPr>
        <p:spPr>
          <a:xfrm rot="0">
            <a:off x="16509492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Groq LPU</a:t>
            </a:r>
          </a:p>
        </p:txBody>
      </p:sp>
      <p:pic>
        <p:nvPicPr>
          <p:cNvPr id="59" name="Picture 58" descr="vector_slide3_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154680"/>
            <a:ext cx="11155680" cy="6812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5727680" cy="164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99"/>
                </a:lnSpc>
              </a:pPr>
              <a:r>
                <a:rPr lang="en-US" sz="4499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FEASIBILITY AND VIABILITY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623560" y="2221992"/>
            <a:ext cx="342900" cy="28575"/>
            <a:chOff x="0" y="0"/>
            <a:chExt cx="457200" cy="381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7200" cy="38100"/>
            </a:xfrm>
            <a:custGeom>
              <a:avLst/>
              <a:gdLst/>
              <a:ahLst/>
              <a:cxnLst/>
              <a:rect r="r" b="b" t="t" l="l"/>
              <a:pathLst>
                <a:path h="38100" w="457200">
                  <a:moveTo>
                    <a:pt x="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2980B9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4183380" y="2221992"/>
            <a:ext cx="274320" cy="28575"/>
            <a:chOff x="0" y="0"/>
            <a:chExt cx="365760" cy="381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65760" cy="38100"/>
            </a:xfrm>
            <a:custGeom>
              <a:avLst/>
              <a:gdLst/>
              <a:ahLst/>
              <a:cxnLst/>
              <a:rect r="r" b="b" t="t" l="l"/>
              <a:pathLst>
                <a:path h="38100" w="365760">
                  <a:moveTo>
                    <a:pt x="0" y="0"/>
                  </a:moveTo>
                  <a:lnTo>
                    <a:pt x="365760" y="0"/>
                  </a:lnTo>
                  <a:lnTo>
                    <a:pt x="36576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2980B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4446270" y="1840230"/>
            <a:ext cx="1737360" cy="777240"/>
            <a:chOff x="0" y="0"/>
            <a:chExt cx="2316480" cy="10363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16480" cy="1036320"/>
            </a:xfrm>
            <a:custGeom>
              <a:avLst/>
              <a:gdLst/>
              <a:ahLst/>
              <a:cxnLst/>
              <a:rect r="r" b="b" t="t" l="l"/>
              <a:pathLst>
                <a:path h="1036320" w="2316480">
                  <a:moveTo>
                    <a:pt x="0" y="172720"/>
                  </a:moveTo>
                  <a:cubicBezTo>
                    <a:pt x="0" y="77343"/>
                    <a:pt x="77343" y="0"/>
                    <a:pt x="172720" y="0"/>
                  </a:cubicBezTo>
                  <a:lnTo>
                    <a:pt x="2143760" y="0"/>
                  </a:lnTo>
                  <a:cubicBezTo>
                    <a:pt x="2239137" y="0"/>
                    <a:pt x="2316480" y="77343"/>
                    <a:pt x="2316480" y="172720"/>
                  </a:cubicBezTo>
                  <a:lnTo>
                    <a:pt x="2316480" y="863600"/>
                  </a:lnTo>
                  <a:cubicBezTo>
                    <a:pt x="2316480" y="958977"/>
                    <a:pt x="2239137" y="1036320"/>
                    <a:pt x="2143760" y="1036320"/>
                  </a:cubicBezTo>
                  <a:lnTo>
                    <a:pt x="172720" y="1036320"/>
                  </a:lnTo>
                  <a:cubicBezTo>
                    <a:pt x="77343" y="1036320"/>
                    <a:pt x="0" y="958977"/>
                    <a:pt x="0" y="8636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2980B9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4521708" y="1924050"/>
            <a:ext cx="158648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Technical</a:t>
            </a:r>
          </a:p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Challenges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541020" y="1775460"/>
            <a:ext cx="3649980" cy="906780"/>
            <a:chOff x="0" y="0"/>
            <a:chExt cx="4866640" cy="1209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866640" cy="1209040"/>
            </a:xfrm>
            <a:custGeom>
              <a:avLst/>
              <a:gdLst/>
              <a:ahLst/>
              <a:cxnLst/>
              <a:rect r="r" b="b" t="t" l="l"/>
              <a:pathLst>
                <a:path h="1209040" w="486664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4665091" y="0"/>
                  </a:lnTo>
                  <a:cubicBezTo>
                    <a:pt x="4776343" y="0"/>
                    <a:pt x="4866640" y="90170"/>
                    <a:pt x="4866640" y="201549"/>
                  </a:cubicBezTo>
                  <a:lnTo>
                    <a:pt x="4866640" y="1007491"/>
                  </a:lnTo>
                  <a:cubicBezTo>
                    <a:pt x="4866640" y="1118743"/>
                    <a:pt x="4776470" y="1209040"/>
                    <a:pt x="466509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2980B9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653796" y="1818513"/>
            <a:ext cx="3424428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3"/>
              </a:lnSpc>
            </a:pPr>
            <a:r>
              <a:rPr lang="en-US" sz="1319" b="true">
                <a:solidFill>
                  <a:srgbClr val="191E2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Client-Side Compute Limits – Simulating &gt;10 qubits exponentially increases memory; mitigated by client-server simulation splitting and tensor contraction caching.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623560" y="3319272"/>
            <a:ext cx="342900" cy="28575"/>
            <a:chOff x="0" y="0"/>
            <a:chExt cx="457200" cy="381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57200" cy="38100"/>
            </a:xfrm>
            <a:custGeom>
              <a:avLst/>
              <a:gdLst/>
              <a:ahLst/>
              <a:cxnLst/>
              <a:rect r="r" b="b" t="t" l="l"/>
              <a:pathLst>
                <a:path h="38100" w="457200">
                  <a:moveTo>
                    <a:pt x="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6A085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4183380" y="3319272"/>
            <a:ext cx="274320" cy="28575"/>
            <a:chOff x="0" y="0"/>
            <a:chExt cx="365760" cy="381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65760" cy="38100"/>
            </a:xfrm>
            <a:custGeom>
              <a:avLst/>
              <a:gdLst/>
              <a:ahLst/>
              <a:cxnLst/>
              <a:rect r="r" b="b" t="t" l="l"/>
              <a:pathLst>
                <a:path h="38100" w="365760">
                  <a:moveTo>
                    <a:pt x="0" y="0"/>
                  </a:moveTo>
                  <a:lnTo>
                    <a:pt x="365760" y="0"/>
                  </a:lnTo>
                  <a:lnTo>
                    <a:pt x="36576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6A085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4446270" y="2937510"/>
            <a:ext cx="1737360" cy="777240"/>
            <a:chOff x="0" y="0"/>
            <a:chExt cx="2316480" cy="1036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316480" cy="1036320"/>
            </a:xfrm>
            <a:custGeom>
              <a:avLst/>
              <a:gdLst/>
              <a:ahLst/>
              <a:cxnLst/>
              <a:rect r="r" b="b" t="t" l="l"/>
              <a:pathLst>
                <a:path h="1036320" w="2316480">
                  <a:moveTo>
                    <a:pt x="0" y="172720"/>
                  </a:moveTo>
                  <a:cubicBezTo>
                    <a:pt x="0" y="77343"/>
                    <a:pt x="77343" y="0"/>
                    <a:pt x="172720" y="0"/>
                  </a:cubicBezTo>
                  <a:lnTo>
                    <a:pt x="2143760" y="0"/>
                  </a:lnTo>
                  <a:cubicBezTo>
                    <a:pt x="2239137" y="0"/>
                    <a:pt x="2316480" y="77343"/>
                    <a:pt x="2316480" y="172720"/>
                  </a:cubicBezTo>
                  <a:lnTo>
                    <a:pt x="2316480" y="863600"/>
                  </a:lnTo>
                  <a:cubicBezTo>
                    <a:pt x="2316480" y="958977"/>
                    <a:pt x="2239137" y="1036320"/>
                    <a:pt x="2143760" y="1036320"/>
                  </a:cubicBezTo>
                  <a:lnTo>
                    <a:pt x="172720" y="1036320"/>
                  </a:lnTo>
                  <a:cubicBezTo>
                    <a:pt x="77343" y="1036320"/>
                    <a:pt x="0" y="958977"/>
                    <a:pt x="0" y="8636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16A085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4521708" y="3021330"/>
            <a:ext cx="158648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Data &amp; Software</a:t>
            </a:r>
          </a:p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Challenges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541020" y="2872740"/>
            <a:ext cx="3649980" cy="906780"/>
            <a:chOff x="0" y="0"/>
            <a:chExt cx="4866640" cy="12090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866640" cy="1209040"/>
            </a:xfrm>
            <a:custGeom>
              <a:avLst/>
              <a:gdLst/>
              <a:ahLst/>
              <a:cxnLst/>
              <a:rect r="r" b="b" t="t" l="l"/>
              <a:pathLst>
                <a:path h="1209040" w="486664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4665091" y="0"/>
                  </a:lnTo>
                  <a:cubicBezTo>
                    <a:pt x="4776343" y="0"/>
                    <a:pt x="4866640" y="90170"/>
                    <a:pt x="4866640" y="201549"/>
                  </a:cubicBezTo>
                  <a:lnTo>
                    <a:pt x="4866640" y="1007491"/>
                  </a:lnTo>
                  <a:cubicBezTo>
                    <a:pt x="4866640" y="1118743"/>
                    <a:pt x="4776470" y="1209040"/>
                    <a:pt x="466509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16A085"/>
              </a:solidFill>
              <a:prstDash val="solid"/>
              <a:miter/>
            </a:ln>
          </p:spPr>
        </p:sp>
      </p:grpSp>
      <p:sp>
        <p:nvSpPr>
          <p:cNvPr name="TextBox 39" id="39"/>
          <p:cNvSpPr txBox="true"/>
          <p:nvPr/>
        </p:nvSpPr>
        <p:spPr>
          <a:xfrm rot="0">
            <a:off x="653796" y="2915793"/>
            <a:ext cx="3424428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3"/>
              </a:lnSpc>
            </a:pPr>
            <a:r>
              <a:rPr lang="en-US" sz="1319" b="true">
                <a:solidFill>
                  <a:srgbClr val="191E2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Quantum SDK Incompatibilities – Divergent circuit representations across Qiskit/Cirq; mitigated by unified Abstract Circuit Schema (ACS) and OpenQASM 3.0.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5623560" y="4416552"/>
            <a:ext cx="342900" cy="28575"/>
            <a:chOff x="0" y="0"/>
            <a:chExt cx="457200" cy="381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57200" cy="38100"/>
            </a:xfrm>
            <a:custGeom>
              <a:avLst/>
              <a:gdLst/>
              <a:ahLst/>
              <a:cxnLst/>
              <a:rect r="r" b="b" t="t" l="l"/>
              <a:pathLst>
                <a:path h="38100" w="457200">
                  <a:moveTo>
                    <a:pt x="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D35400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4183380" y="4416552"/>
            <a:ext cx="274320" cy="28575"/>
            <a:chOff x="0" y="0"/>
            <a:chExt cx="365760" cy="381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65760" cy="38100"/>
            </a:xfrm>
            <a:custGeom>
              <a:avLst/>
              <a:gdLst/>
              <a:ahLst/>
              <a:cxnLst/>
              <a:rect r="r" b="b" t="t" l="l"/>
              <a:pathLst>
                <a:path h="38100" w="365760">
                  <a:moveTo>
                    <a:pt x="0" y="0"/>
                  </a:moveTo>
                  <a:lnTo>
                    <a:pt x="365760" y="0"/>
                  </a:lnTo>
                  <a:lnTo>
                    <a:pt x="36576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D35400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4446270" y="4034790"/>
            <a:ext cx="1737360" cy="777240"/>
            <a:chOff x="0" y="0"/>
            <a:chExt cx="2316480" cy="10363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316480" cy="1036320"/>
            </a:xfrm>
            <a:custGeom>
              <a:avLst/>
              <a:gdLst/>
              <a:ahLst/>
              <a:cxnLst/>
              <a:rect r="r" b="b" t="t" l="l"/>
              <a:pathLst>
                <a:path h="1036320" w="2316480">
                  <a:moveTo>
                    <a:pt x="0" y="172720"/>
                  </a:moveTo>
                  <a:cubicBezTo>
                    <a:pt x="0" y="77343"/>
                    <a:pt x="77343" y="0"/>
                    <a:pt x="172720" y="0"/>
                  </a:cubicBezTo>
                  <a:lnTo>
                    <a:pt x="2143760" y="0"/>
                  </a:lnTo>
                  <a:cubicBezTo>
                    <a:pt x="2239137" y="0"/>
                    <a:pt x="2316480" y="77343"/>
                    <a:pt x="2316480" y="172720"/>
                  </a:cubicBezTo>
                  <a:lnTo>
                    <a:pt x="2316480" y="863600"/>
                  </a:lnTo>
                  <a:cubicBezTo>
                    <a:pt x="2316480" y="958977"/>
                    <a:pt x="2239137" y="1036320"/>
                    <a:pt x="2143760" y="1036320"/>
                  </a:cubicBezTo>
                  <a:lnTo>
                    <a:pt x="172720" y="1036320"/>
                  </a:lnTo>
                  <a:cubicBezTo>
                    <a:pt x="77343" y="1036320"/>
                    <a:pt x="0" y="958977"/>
                    <a:pt x="0" y="8636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D35400"/>
              </a:solidFill>
              <a:prstDash val="solid"/>
              <a:miter/>
            </a:ln>
          </p:spPr>
        </p:sp>
      </p:grpSp>
      <p:sp>
        <p:nvSpPr>
          <p:cNvPr name="TextBox 46" id="46"/>
          <p:cNvSpPr txBox="true"/>
          <p:nvPr/>
        </p:nvSpPr>
        <p:spPr>
          <a:xfrm rot="0">
            <a:off x="4521708" y="4118610"/>
            <a:ext cx="158648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Operational</a:t>
            </a:r>
          </a:p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Challenges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541020" y="3970020"/>
            <a:ext cx="3649980" cy="906780"/>
            <a:chOff x="0" y="0"/>
            <a:chExt cx="4866640" cy="12090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866640" cy="1209040"/>
            </a:xfrm>
            <a:custGeom>
              <a:avLst/>
              <a:gdLst/>
              <a:ahLst/>
              <a:cxnLst/>
              <a:rect r="r" b="b" t="t" l="l"/>
              <a:pathLst>
                <a:path h="1209040" w="486664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4665091" y="0"/>
                  </a:lnTo>
                  <a:cubicBezTo>
                    <a:pt x="4776343" y="0"/>
                    <a:pt x="4866640" y="90170"/>
                    <a:pt x="4866640" y="201549"/>
                  </a:cubicBezTo>
                  <a:lnTo>
                    <a:pt x="4866640" y="1007491"/>
                  </a:lnTo>
                  <a:cubicBezTo>
                    <a:pt x="4866640" y="1118743"/>
                    <a:pt x="4776470" y="1209040"/>
                    <a:pt x="466509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35400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653796" y="4013073"/>
            <a:ext cx="3424428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3"/>
              </a:lnSpc>
            </a:pPr>
            <a:r>
              <a:rPr lang="en-US" sz="1319" b="true">
                <a:solidFill>
                  <a:srgbClr val="191E2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Steep Learning Curve – High student dropout in abstract linear algebra; mitigated by gamified progressive unlocks from coin-toss to Bell states.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5623560" y="5513832"/>
            <a:ext cx="342900" cy="28575"/>
            <a:chOff x="0" y="0"/>
            <a:chExt cx="457200" cy="381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57200" cy="38100"/>
            </a:xfrm>
            <a:custGeom>
              <a:avLst/>
              <a:gdLst/>
              <a:ahLst/>
              <a:cxnLst/>
              <a:rect r="r" b="b" t="t" l="l"/>
              <a:pathLst>
                <a:path h="38100" w="457200">
                  <a:moveTo>
                    <a:pt x="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C0392B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4183380" y="5513832"/>
            <a:ext cx="274320" cy="28575"/>
            <a:chOff x="0" y="0"/>
            <a:chExt cx="365760" cy="381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65760" cy="38100"/>
            </a:xfrm>
            <a:custGeom>
              <a:avLst/>
              <a:gdLst/>
              <a:ahLst/>
              <a:cxnLst/>
              <a:rect r="r" b="b" t="t" l="l"/>
              <a:pathLst>
                <a:path h="38100" w="365760">
                  <a:moveTo>
                    <a:pt x="0" y="0"/>
                  </a:moveTo>
                  <a:lnTo>
                    <a:pt x="365760" y="0"/>
                  </a:lnTo>
                  <a:lnTo>
                    <a:pt x="36576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C0392B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4446270" y="5132070"/>
            <a:ext cx="1737360" cy="777240"/>
            <a:chOff x="0" y="0"/>
            <a:chExt cx="2316480" cy="10363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316480" cy="1036320"/>
            </a:xfrm>
            <a:custGeom>
              <a:avLst/>
              <a:gdLst/>
              <a:ahLst/>
              <a:cxnLst/>
              <a:rect r="r" b="b" t="t" l="l"/>
              <a:pathLst>
                <a:path h="1036320" w="2316480">
                  <a:moveTo>
                    <a:pt x="0" y="172720"/>
                  </a:moveTo>
                  <a:cubicBezTo>
                    <a:pt x="0" y="77343"/>
                    <a:pt x="77343" y="0"/>
                    <a:pt x="172720" y="0"/>
                  </a:cubicBezTo>
                  <a:lnTo>
                    <a:pt x="2143760" y="0"/>
                  </a:lnTo>
                  <a:cubicBezTo>
                    <a:pt x="2239137" y="0"/>
                    <a:pt x="2316480" y="77343"/>
                    <a:pt x="2316480" y="172720"/>
                  </a:cubicBezTo>
                  <a:lnTo>
                    <a:pt x="2316480" y="863600"/>
                  </a:lnTo>
                  <a:cubicBezTo>
                    <a:pt x="2316480" y="958977"/>
                    <a:pt x="2239137" y="1036320"/>
                    <a:pt x="2143760" y="1036320"/>
                  </a:cubicBezTo>
                  <a:lnTo>
                    <a:pt x="172720" y="1036320"/>
                  </a:lnTo>
                  <a:cubicBezTo>
                    <a:pt x="77343" y="1036320"/>
                    <a:pt x="0" y="958977"/>
                    <a:pt x="0" y="8636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C0392B"/>
              </a:solidFill>
              <a:prstDash val="solid"/>
              <a:miter/>
            </a:ln>
          </p:spPr>
        </p:sp>
      </p:grpSp>
      <p:sp>
        <p:nvSpPr>
          <p:cNvPr name="TextBox 56" id="56"/>
          <p:cNvSpPr txBox="true"/>
          <p:nvPr/>
        </p:nvSpPr>
        <p:spPr>
          <a:xfrm rot="0">
            <a:off x="4521708" y="5215890"/>
            <a:ext cx="158648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Browser &amp;</a:t>
            </a:r>
          </a:p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Environment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541020" y="5067300"/>
            <a:ext cx="3649980" cy="906780"/>
            <a:chOff x="0" y="0"/>
            <a:chExt cx="4866640" cy="12090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866640" cy="1209040"/>
            </a:xfrm>
            <a:custGeom>
              <a:avLst/>
              <a:gdLst/>
              <a:ahLst/>
              <a:cxnLst/>
              <a:rect r="r" b="b" t="t" l="l"/>
              <a:pathLst>
                <a:path h="1209040" w="486664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4665091" y="0"/>
                  </a:lnTo>
                  <a:cubicBezTo>
                    <a:pt x="4776343" y="0"/>
                    <a:pt x="4866640" y="90170"/>
                    <a:pt x="4866640" y="201549"/>
                  </a:cubicBezTo>
                  <a:lnTo>
                    <a:pt x="4866640" y="1007491"/>
                  </a:lnTo>
                  <a:cubicBezTo>
                    <a:pt x="4866640" y="1118743"/>
                    <a:pt x="4776470" y="1209040"/>
                    <a:pt x="466509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C0392B"/>
              </a:solidFill>
              <a:prstDash val="solid"/>
              <a:miter/>
            </a:ln>
          </p:spPr>
        </p:sp>
      </p:grpSp>
      <p:sp>
        <p:nvSpPr>
          <p:cNvPr name="TextBox 59" id="59"/>
          <p:cNvSpPr txBox="true"/>
          <p:nvPr/>
        </p:nvSpPr>
        <p:spPr>
          <a:xfrm rot="0">
            <a:off x="653796" y="5110353"/>
            <a:ext cx="3424428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3"/>
              </a:lnSpc>
            </a:pPr>
            <a:r>
              <a:rPr lang="en-US" sz="1319" b="true">
                <a:solidFill>
                  <a:srgbClr val="191E2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Hardware Heterogeneity – Varied student laptop GPU capabilities; mitigated by lightweight WebGL fallback to 2D Canvas SVG rendering mode.</a:t>
            </a:r>
          </a:p>
        </p:txBody>
      </p:sp>
      <p:pic>
        <p:nvPicPr>
          <p:cNvPr id="60" name="Picture 59" descr="vector_slide4_telemet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645920"/>
            <a:ext cx="11247120" cy="8138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5727680" cy="164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99"/>
                </a:lnSpc>
              </a:pPr>
              <a:r>
                <a:rPr lang="en-US" sz="4499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IMPACT AND BENEFITS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3108960" y="731520"/>
            <a:ext cx="11887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ACADEMIC, SOCIETAL &amp; NATIONAL WORKFORCE IMPACT</a:t>
            </a:r>
          </a:p>
          <a:p>
            <a:pPr>
              <a:defRPr sz="1050" i="1">
                <a:solidFill>
                  <a:srgbClr val="00F0FF"/>
                </a:solidFill>
                <a:latin typeface="Arial"/>
              </a:defRPr>
            </a:pPr>
            <a:r>
              <a:t>“Democratizing Deep-Tech Quantum Education for India’s ₹6,003 Cr National Quantum Mission”</a:t>
            </a:r>
          </a:p>
        </p:txBody>
      </p:sp>
      <p:pic>
        <p:nvPicPr>
          <p:cNvPr id="11" name="Picture 10" descr="vector_slide5_bloom2sig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645920"/>
            <a:ext cx="16824960" cy="8138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5727680" cy="164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99"/>
                </a:lnSpc>
              </a:pPr>
              <a:r>
                <a:rPr lang="en-US" sz="4499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RESEARCH AND REFERENCES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522476" y="2044351"/>
            <a:ext cx="13147653" cy="7077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  <a:spcBef>
                <a:spcPts val="800"/>
              </a:spcBef>
              <a:spcAft>
                <a:spcPts val="300"/>
              </a:spcAft>
              <a:defRPr sz="1100" b="1">
                <a:solidFill>
                  <a:srgbClr val="00F0FF"/>
                </a:solidFill>
                <a:latin typeface="Arial"/>
              </a:defRPr>
            </a:pPr>
            <a:r>
              <a:t>1. Quantum Foundations, QPU Architectures &amp; Multi-Framework Engines: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IBM Quantum Team (2024) – IBM Quantum Heron: 156-Qubit Heavy-Hex Architecture, Tunable Couplers &amp; Qiskit Runtime 1.0 Platform: https://quantum.ibm.com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Nielsen, M. A. &amp; Chuang, I. L. (2010) – Quantum Computation and Quantum Information – 10th Anniversary Edition, Cambridge University Press.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Bergholm, V. et al. (2022) – PennyLane: Automatic differentiation and machine learning of quantum computers. arXiv:1811.04968.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Google Quantum AI (2023) – Cirq: A Python Framework for NISQ Algorithms &amp; Sycamore Topologies: https://quantumai.google/cirq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BlueQubit Inc. (2024) – GPU-Accelerated Quantum Circuit Simulation &amp; Tensor Network Contraction: https://bluequbit.io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sz="1100" b="1">
                <a:solidFill>
                  <a:srgbClr val="00F0FF"/>
                </a:solidFill>
                <a:latin typeface="Arial"/>
              </a:defRPr>
            </a:pPr>
            <a:r>
              <a:t>2. AI Inference, Knowledge Retrieval &amp; Indian Regional Speech: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Groq Inc. (2024) – Language Processing Unit (LPU) Inference Engine Architecture for Real-Time LLM Serving: https://groq.com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Sarvam AI (2024) – Bulbul &amp; Saaras: Foundation Models for Indian Language Speech Synthesis and Translation: https://sarvam.ai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ChromaDB Team (2024) – Open-Source Embedding Database for High-Precision Domain-Specific RAG: https://trychroma.com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Preskill, J. (2018) – Quantum Computing in the NISQ era and beyond. Quantum, 2, 79.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sz="1100" b="1">
                <a:solidFill>
                  <a:srgbClr val="00F0FF"/>
                </a:solidFill>
                <a:latin typeface="Arial"/>
              </a:defRPr>
            </a:pPr>
            <a:r>
              <a:t>3. National Policy, Pedagogy &amp; Deep-Tech Workforce Standards: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Department of Science &amp; Technology, Govt. of India (2023–2026) – National Quantum Mission (NQM) Policy &amp; Human Resource Development Roadmap (₹6,003 Cr).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Bloom, Benjamin S. (1984) – The 2 Sigma Problem: The Search for Methods of Group Instruction as Effective as One-to-One Tutoring. Educational Researcher, 13(6), 4-16.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Quantum Economic Development Consortium (QED-C, 2023) – Quantum Workforce Development Guidelines for Undergraduate Engineering Education: https://quantumconsortium.org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AICTE &amp; UGC (2024) – National Education Policy (NEP 2020) Technical Guidelines for Emerging Deep-Tech Quantum Curricula.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DAHU6XYzYKc</dc:identifier>
  <dcterms:modified xsi:type="dcterms:W3CDTF">2011-08-01T06:04:30Z</dcterms:modified>
  <cp:revision>1</cp:revision>
  <dc:title>QuantumLeap_SIH2026_Gitwolves_FINAL.pptx</dc:title>
</cp:coreProperties>
</file>