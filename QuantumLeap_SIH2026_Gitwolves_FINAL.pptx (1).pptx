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2676" y="1320546"/>
            <a:ext cx="11722608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defRPr sz="2000" b="1">
                <a:solidFill>
                  <a:srgbClr val="FFFFFF"/>
                </a:solidFill>
                <a:latin typeface="Arial"/>
              </a:defRPr>
            </a:pPr>
            <a:r>
              <a:t>PROPOSED SOLUTION &amp; PEDAGOGICAL INNOVATION</a:t>
            </a:r>
          </a:p>
          <a:p>
            <a:pPr>
              <a:defRPr sz="1100" i="1">
                <a:solidFill>
                  <a:srgbClr val="00F0FF"/>
                </a:solidFill>
                <a:latin typeface="Arial"/>
              </a:defRPr>
            </a:pPr>
            <a:r>
              <a:t>“Bridging Abstract Linear Algebra to Spatial &amp; Physical Quantum Intuition”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9115" y="2322195"/>
            <a:ext cx="5025390" cy="7219950"/>
            <a:chOff x="0" y="0"/>
            <a:chExt cx="6700520" cy="962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9626600"/>
            </a:xfrm>
            <a:custGeom>
              <a:avLst/>
              <a:gdLst/>
              <a:ahLst/>
              <a:cxnLst/>
              <a:rect r="r" b="b" t="t" l="l"/>
              <a:pathLst>
                <a:path h="96266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9626600"/>
                  </a:lnTo>
                  <a:lnTo>
                    <a:pt x="0" y="9626600"/>
                  </a:lnTo>
                  <a:close/>
                </a:path>
              </a:pathLst>
            </a:custGeom>
            <a:solidFill>
              <a:srgbClr val="FEEEE6"/>
            </a:solidFill>
            <a:ln w="19050" cap="sq">
              <a:solidFill>
                <a:srgbClr val="F0B99B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0956" y="2486406"/>
            <a:ext cx="4521708" cy="56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C05621"/>
                </a:solidFill>
                <a:latin typeface="Georgia Bold"/>
                <a:ea typeface="Georgia Bold"/>
                <a:cs typeface="Georgia Bold"/>
                <a:sym typeface="Georgia Bold"/>
              </a:rPr>
              <a:t>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5761" y="3515487"/>
            <a:ext cx="4690144" cy="57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680" indent="-200840" lvl="1">
              <a:lnSpc>
                <a:spcPts val="2232"/>
              </a:lnSpc>
              <a:spcAft>
                <a:spcPts val="200"/>
              </a:spcAft>
              <a:buFont typeface="Arial"/>
              <a:buChar char="•"/>
              <a:defRPr sz="1050" b="1">
                <a:solidFill>
                  <a:srgbClr val="00F0FF"/>
                </a:solidFill>
                <a:latin typeface="Arial"/>
              </a:defRPr>
            </a:pPr>
            <a:r>
              <a:t>1. 16-Qubit Multi-Engine Studio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Drag-and-drop canvas supporting H, Pauli, Phase, CNOT, and SWAP with live dispatch across IBM 156Q Heron QPU, BlueQubit GPU, Aer, Cirq, and PennyLane.</a:t>
            </a:r>
          </a:p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2. Real-Time 3D WebGL Bloch Sphere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GPU-accelerated unitary rotation vectors paired with live KaTeX bra-ket equations and measurement histograms, converting matrix math into spatial intuition.</a:t>
            </a:r>
          </a:p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3. Contextual 76-Book RAG Tutor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Sub-second Groq LPU tutor with chain-of-thought quantum theorem proofs, catching phase errors and non-unitary operations with guided Socratic hints.</a:t>
            </a:r>
          </a:p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4. Sarvam AI Multilingual Dubber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Neural Indic dubbing (Bulbul:v3) preserving English quantum nomenclature across 10+ languages (Hindi, Tamil, Telugu, etc.) for inclusive learning.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34656" y="5503926"/>
            <a:ext cx="321868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QuantumLeap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Interactive Learning Hub</a:t>
            </a:r>
          </a:p>
          <a:p>
            <a:pPr algn="ctr">
              <a:lnSpc>
                <a:spcPts val="1800"/>
              </a:lnSpc>
            </a:pPr>
            <a:r>
              <a:rPr lang="en-US" sz="1500" i="true">
                <a:solidFill>
                  <a:srgbClr val="555F69"/>
                </a:solidFill>
                <a:latin typeface="Arial Italics"/>
                <a:ea typeface="Arial Italics"/>
                <a:cs typeface="Arial Italics"/>
                <a:sym typeface="Arial Italics"/>
              </a:rPr>
              <a:t>Sense • Simulate • See • Master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11796" y="2765870"/>
            <a:ext cx="32186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Circuit Construction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Drag &amp; drop quantum gates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86416" y="4079558"/>
            <a:ext cx="205282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Quantum Simulation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Qiskit / QuTiP statevector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86416" y="7165657"/>
            <a:ext cx="205282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Dynamic 3D Bloch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Real-time state projection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92353" y="8563356"/>
            <a:ext cx="34528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Dirac &amp; Matrix Math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Live mathematical bra-ket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88355" y="7182803"/>
            <a:ext cx="22821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Contextual AI Tutor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RAG diagnostic coaching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88355" y="4079558"/>
            <a:ext cx="228219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4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Gamified Mastery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Benchmark lab evaluation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46536" y="584682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al Bold"/>
                <a:ea typeface="Arial Bold"/>
                <a:cs typeface="Arial Bold"/>
                <a:sym typeface="Arial Bold"/>
              </a:rPr>
              <a:t>⬇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43216" y="804138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al Bold"/>
                <a:ea typeface="Arial Bold"/>
                <a:cs typeface="Arial Bold"/>
                <a:sym typeface="Arial Bold"/>
              </a:rPr>
              <a:t>⬅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43216" y="3172206"/>
            <a:ext cx="4754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E7E34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929616" y="2505456"/>
            <a:ext cx="4521708" cy="54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7E34"/>
                </a:solidFill>
                <a:latin typeface="Georgia Bold"/>
                <a:ea typeface="Georgia Bold"/>
                <a:cs typeface="Georgia Bold"/>
                <a:sym typeface="Georgia Bold"/>
              </a:rPr>
              <a:t>UNIQUENESS AND INNOVATION</a:t>
            </a:r>
          </a:p>
        </p:txBody>
      </p:sp>
      <p:pic>
        <p:nvPicPr>
          <p:cNvPr id="45" name="Picture 44" descr="vector_slide2_feedback_lo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377440"/>
            <a:ext cx="6949440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2676" y="1320546"/>
            <a:ext cx="11722608" cy="49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  <a:defRPr sz="1800" b="1">
                <a:solidFill>
                  <a:srgbClr val="FFFFFF"/>
                </a:solidFill>
                <a:latin typeface="Arial"/>
              </a:defRPr>
            </a:pPr>
            <a:r>
              <a:t>TECHNICAL ARCHITECTURE &amp; MULTI-CLOUD HARDWARE PIPELINE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4352" y="1974533"/>
            <a:ext cx="5789295" cy="7572375"/>
            <a:chOff x="0" y="0"/>
            <a:chExt cx="7719060" cy="10096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19060" cy="10096500"/>
            </a:xfrm>
            <a:custGeom>
              <a:avLst/>
              <a:gdLst/>
              <a:ahLst/>
              <a:cxnLst/>
              <a:rect r="r" b="b" t="t" l="l"/>
              <a:pathLst>
                <a:path h="10096500" w="7719060">
                  <a:moveTo>
                    <a:pt x="0" y="0"/>
                  </a:moveTo>
                  <a:lnTo>
                    <a:pt x="7719060" y="0"/>
                  </a:lnTo>
                  <a:lnTo>
                    <a:pt x="7719060" y="10096500"/>
                  </a:lnTo>
                  <a:lnTo>
                    <a:pt x="0" y="100965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325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0956" y="2143506"/>
            <a:ext cx="52760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2325A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PROCEDURE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0595" y="2733675"/>
            <a:ext cx="4956810" cy="3173730"/>
            <a:chOff x="0" y="0"/>
            <a:chExt cx="6609080" cy="4231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90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6609080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5903849" y="0"/>
                  </a:lnTo>
                  <a:cubicBezTo>
                    <a:pt x="6293358" y="0"/>
                    <a:pt x="6609080" y="315722"/>
                    <a:pt x="6609080" y="705231"/>
                  </a:cubicBezTo>
                  <a:lnTo>
                    <a:pt x="6609080" y="3526409"/>
                  </a:lnTo>
                  <a:cubicBezTo>
                    <a:pt x="6609080" y="3915918"/>
                    <a:pt x="6293358" y="4231640"/>
                    <a:pt x="5903849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8FAFD"/>
            </a:solidFill>
            <a:ln w="19050" cap="sq">
              <a:solidFill>
                <a:srgbClr val="D7DEE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58240" y="2941320"/>
            <a:ext cx="2004060" cy="906780"/>
            <a:chOff x="0" y="0"/>
            <a:chExt cx="2672080" cy="1209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3584" y="30076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Visual Circuit Input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Drag-Drop Gates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9836" y="3144774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5A9C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64280" y="2941320"/>
            <a:ext cx="2004060" cy="906780"/>
            <a:chOff x="0" y="0"/>
            <a:chExt cx="2672080" cy="1209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3849624" y="30076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AST Normalizer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OpenQASM 3.0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62856" y="3885438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⬇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764280" y="4312920"/>
            <a:ext cx="2004060" cy="906780"/>
            <a:chOff x="0" y="0"/>
            <a:chExt cx="2672080" cy="1209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3849624" y="43792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Quantum Sim Engine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Qiskit / QuTiP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59836" y="4516374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⬅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8240" y="4312920"/>
            <a:ext cx="2004060" cy="906780"/>
            <a:chOff x="0" y="0"/>
            <a:chExt cx="2672080" cy="1209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43584" y="43792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3D Bloch &amp; Matrix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Three.js WebGL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5276" y="5298186"/>
            <a:ext cx="4727448" cy="49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Real-Time Execution Pipeline:</a:t>
            </a:r>
          </a:p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Sense • Simulate • Compute • Master.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9536" y="6111621"/>
            <a:ext cx="5138928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  <a:spcAft>
                <a:spcPts val="200"/>
              </a:spcAft>
              <a:defRPr sz="1000" b="1">
                <a:solidFill>
                  <a:srgbClr val="00F0FF"/>
                </a:solidFill>
                <a:latin typeface="Arial"/>
              </a:defRPr>
            </a:pPr>
            <a:r>
              <a:t>1. Visual Circuit Input &amp; OpenQASM 3.0 AST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Arial"/>
              </a:defRPr>
            </a:pPr>
            <a:r>
              <a:t>Visual drag-and-drop interface converts user gate operations directly into hardware-agnostic Abstract Syntax Trees (AST) with real-time unitarity checks.</a:t>
            </a:r>
          </a:p>
          <a:p>
            <a:pPr>
              <a:spcAft>
                <a:spcPts val="200"/>
              </a:spcAft>
              <a:defRPr sz="1000" b="1">
                <a:solidFill>
                  <a:srgbClr val="00F0FF"/>
                </a:solidFill>
                <a:latin typeface="Arial"/>
              </a:defRPr>
            </a:pPr>
            <a:r>
              <a:t>2. Multi-Engine Cloud &amp; QPU Dispatch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Arial"/>
              </a:defRPr>
            </a:pPr>
            <a:r>
              <a:t>Unified orchestrator routes circuits to IBM 156-qubit Heron QPUs (ibm_fez), BlueQubit GPU tensor networks, Qiskit Aer, Google Cirq, or PennyLane.</a:t>
            </a:r>
          </a:p>
          <a:p>
            <a:pPr>
              <a:spcAft>
                <a:spcPts val="200"/>
              </a:spcAft>
              <a:defRPr sz="1000" b="1">
                <a:solidFill>
                  <a:srgbClr val="00F0FF"/>
                </a:solidFill>
                <a:latin typeface="Arial"/>
              </a:defRPr>
            </a:pPr>
            <a:r>
              <a:t>3. GPU-Accelerated 3D Bloch &amp; Matrix Projection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Arial"/>
              </a:defRPr>
            </a:pPr>
            <a:r>
              <a:t>Three.js WebGL shaders compute statevector transformations in browser threads, rendering real-time Bloch vector trajectories and KaTeX Dirac formulas.</a:t>
            </a:r>
          </a:p>
          <a:p>
            <a:pPr>
              <a:spcAft>
                <a:spcPts val="200"/>
              </a:spcAft>
              <a:defRPr sz="1000" b="1">
                <a:solidFill>
                  <a:srgbClr val="00F0FF"/>
                </a:solidFill>
                <a:latin typeface="Arial"/>
              </a:defRPr>
            </a:pPr>
            <a:r>
              <a:t>4. 76-Book RAG Diagnostic &amp; Multilingual Dubbing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Arial"/>
              </a:defRPr>
            </a:pPr>
            <a:r>
              <a:t>Sub-second Groq LPU engine diagnoses circuit misalignments against 76 textbooks; Sarvam AI synthesizes regional voice dubs with quantum glossary protection.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88836" y="2006346"/>
            <a:ext cx="541324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SOFTWARE USED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49556" y="2006346"/>
            <a:ext cx="513892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QUANTUM ENGINES &amp; MATH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44640" y="2529840"/>
            <a:ext cx="1277112" cy="563880"/>
            <a:chOff x="0" y="0"/>
            <a:chExt cx="1702816" cy="75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6716268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React 19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988808" y="2529840"/>
            <a:ext cx="1277112" cy="563880"/>
            <a:chOff x="0" y="0"/>
            <a:chExt cx="1702816" cy="751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060436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TypeScript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32976" y="2529840"/>
            <a:ext cx="1277112" cy="563880"/>
            <a:chOff x="0" y="0"/>
            <a:chExt cx="1702816" cy="751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404604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Three.js WebGL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677144" y="2529840"/>
            <a:ext cx="1277112" cy="563880"/>
            <a:chOff x="0" y="0"/>
            <a:chExt cx="1702816" cy="75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0748772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Python 3.12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405360" y="2529840"/>
            <a:ext cx="1277112" cy="563880"/>
            <a:chOff x="0" y="0"/>
            <a:chExt cx="1702816" cy="75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476988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IBM 156Q Heron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749528" y="2529840"/>
            <a:ext cx="1277112" cy="563880"/>
            <a:chOff x="0" y="0"/>
            <a:chExt cx="1702816" cy="751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3821156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BlueQubit GPU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5093696" y="2529840"/>
            <a:ext cx="1277112" cy="563880"/>
            <a:chOff x="0" y="0"/>
            <a:chExt cx="1702816" cy="751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5165324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Qiskit Aer 1.0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437864" y="2529840"/>
            <a:ext cx="1277112" cy="563880"/>
            <a:chOff x="0" y="0"/>
            <a:chExt cx="1702816" cy="75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6509492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Groq LPU</a:t>
            </a:r>
          </a:p>
        </p:txBody>
      </p:sp>
      <p:pic>
        <p:nvPicPr>
          <p:cNvPr id="59" name="Picture 58" descr="vector_slide3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154680"/>
            <a:ext cx="11155680" cy="6812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23560" y="2221992"/>
            <a:ext cx="342900" cy="28575"/>
            <a:chOff x="0" y="0"/>
            <a:chExt cx="4572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83380" y="2221992"/>
            <a:ext cx="274320" cy="28575"/>
            <a:chOff x="0" y="0"/>
            <a:chExt cx="365760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46270" y="1840230"/>
            <a:ext cx="1737360" cy="777240"/>
            <a:chOff x="0" y="0"/>
            <a:chExt cx="2316480" cy="1036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521708" y="192405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Technical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1020" y="1775460"/>
            <a:ext cx="3649980" cy="906780"/>
            <a:chOff x="0" y="0"/>
            <a:chExt cx="4866640" cy="1209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53796" y="181851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Client-Side Compute Limits – Simulating &gt;10 qubits exponentially increases memory; mitigated by client-server simulation splitting and tensor contraction caching.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23560" y="3319272"/>
            <a:ext cx="342900" cy="28575"/>
            <a:chOff x="0" y="0"/>
            <a:chExt cx="4572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83380" y="3319272"/>
            <a:ext cx="274320" cy="28575"/>
            <a:chOff x="0" y="0"/>
            <a:chExt cx="36576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46270" y="2937510"/>
            <a:ext cx="1737360" cy="777240"/>
            <a:chOff x="0" y="0"/>
            <a:chExt cx="2316480" cy="1036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521708" y="302133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Data &amp; Software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41020" y="2872740"/>
            <a:ext cx="3649980" cy="906780"/>
            <a:chOff x="0" y="0"/>
            <a:chExt cx="4866640" cy="1209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53796" y="291579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Quantum SDK Incompatibilities – Divergent circuit representations across Qiskit/Cirq; mitigated by unified Abstract Circuit Schema (ACS) and OpenQASM 3.0.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623560" y="4416552"/>
            <a:ext cx="342900" cy="28575"/>
            <a:chOff x="0" y="0"/>
            <a:chExt cx="4572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183380" y="4416552"/>
            <a:ext cx="274320" cy="28575"/>
            <a:chOff x="0" y="0"/>
            <a:chExt cx="365760" cy="38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6270" y="4034790"/>
            <a:ext cx="1737360" cy="777240"/>
            <a:chOff x="0" y="0"/>
            <a:chExt cx="2316480" cy="1036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4521708" y="411861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41020" y="3970020"/>
            <a:ext cx="3649980" cy="906780"/>
            <a:chOff x="0" y="0"/>
            <a:chExt cx="4866640" cy="1209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653796" y="4013073"/>
            <a:ext cx="34244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Steep Learning Curve – High student dropout in abstract linear algebra; mitigated by gamified progressive unlocks from coin-toss to Bell states.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623560" y="5513832"/>
            <a:ext cx="342900" cy="28575"/>
            <a:chOff x="0" y="0"/>
            <a:chExt cx="457200" cy="38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183380" y="5513832"/>
            <a:ext cx="274320" cy="28575"/>
            <a:chOff x="0" y="0"/>
            <a:chExt cx="365760" cy="38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446270" y="5132070"/>
            <a:ext cx="1737360" cy="777240"/>
            <a:chOff x="0" y="0"/>
            <a:chExt cx="2316480" cy="1036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4521708" y="521589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Browser &amp;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Environment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41020" y="5067300"/>
            <a:ext cx="3649980" cy="906780"/>
            <a:chOff x="0" y="0"/>
            <a:chExt cx="4866640" cy="1209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653796" y="511035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</a:pPr>
            <a:r>
              <a:rPr lang="en-US" sz="1319" b="true">
                <a:solidFill>
                  <a:srgbClr val="191E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Hardware Heterogeneity – Varied student laptop GPU capabilities; mitigated by lightweight WebGL fallback to 2D Canvas SVG rendering mode.</a:t>
            </a:r>
          </a:p>
        </p:txBody>
      </p:sp>
      <p:pic>
        <p:nvPicPr>
          <p:cNvPr id="60" name="Picture 59" descr="vector_slide4_tele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45920"/>
            <a:ext cx="11247120" cy="8138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108960" y="731520"/>
            <a:ext cx="11887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rial"/>
              </a:defRPr>
            </a:pPr>
            <a:r>
              <a:t>ACADEMIC, SOCIETAL &amp; NATIONAL WORKFORCE IMPACT</a:t>
            </a:r>
          </a:p>
          <a:p>
            <a:pPr>
              <a:defRPr sz="1050" i="1">
                <a:solidFill>
                  <a:srgbClr val="00F0FF"/>
                </a:solidFill>
                <a:latin typeface="Arial"/>
              </a:defRPr>
            </a:pPr>
            <a:r>
              <a:t>“Democratizing Deep-Tech Quantum Education for India’s ₹6,003 Cr National Quantum Mission”</a:t>
            </a:r>
          </a:p>
        </p:txBody>
      </p:sp>
      <p:pic>
        <p:nvPicPr>
          <p:cNvPr id="11" name="Picture 10" descr="vector_slide5_bloom2sig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645920"/>
            <a:ext cx="16824960" cy="8138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2476" y="2044351"/>
            <a:ext cx="13147653" cy="70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1. Quantum Foundations, QPU Architectures &amp; Multi-Framework Engines: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IBM Quantum Team (2024) – IBM Quantum Heron: 156-Qubit Heavy-Hex Architecture, Tunable Couplers &amp; Qiskit Runtime 1.0 Platform: https://quantum.ibm.com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Nielsen, M. A. &amp; Chuang, I. L. (2010) – Quantum Computation and Quantum Information – 10th Anniversary Edition, Cambridge University Press.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Bergholm, V. et al. (2022) – PennyLane: Automatic differentiation and machine learning of quantum computers. arXiv:1811.04968.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Google Quantum AI (2023) – Cirq: A Python Framework for NISQ Algorithms &amp; Sycamore Topologies: https://quantumai.google/cirq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BlueQubit Inc. (2024) – GPU-Accelerated Quantum Circuit Simulation &amp; Tensor Network Contraction: https://bluequbit.io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2. AI Inference, Knowledge Retrieval &amp; Indian Regional Speech: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Groq Inc. (2024) – Language Processing Unit (LPU) Inference Engine Architecture for Real-Time LLM Serving: https://groq.com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Sarvam AI (2024) – Bulbul &amp; Saaras: Foundation Models for Indian Language Speech Synthesis and Translation: https://sarvam.ai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ChromaDB Team (2024) – Open-Source Embedding Database for High-Precision Domain-Specific RAG: https://trychroma.com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Preskill, J. (2018) – Quantum Computing in the NISQ era and beyond. Quantum, 2, 79.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3. National Policy, Pedagogy &amp; Deep-Tech Workforce Standards: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Department of Science &amp; Technology, Govt. of India (2023–2026) – National Quantum Mission (NQM) Policy &amp; Human Resource Development Roadmap (₹6,003 Cr).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Bloom, Benjamin S. (1984) – The 2 Sigma Problem: The Search for Methods of Group Instruction as Effective as One-to-One Tutoring. Educational Researcher, 13(6), 4-16.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Quantum Economic Development Consortium (QED-C, 2023) – Quantum Workforce Development Guidelines for Undergraduate Engineering Education: https://quantumconsortium.org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AICTE &amp; UGC (2024) – National Education Policy (NEP 2020) Technical Guidelines for Emerging Deep-Tech Quantum Curricula.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