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4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x="18288000" cy="10287000"/>
  <p:notesSz cx="6858000" cy="9144000"/>
  <p:embeddedFontLst>
    <p:embeddedFont>
      <p:font typeface="Garamond Bold" charset="1" panose="02020804030307010803"/>
      <p:regular r:id="rId12"/>
    </p:embeddedFont>
    <p:embeddedFont>
      <p:font typeface="Arial Bold" charset="1" panose="020B0704020202020204"/>
      <p:regular r:id="rId13"/>
    </p:embeddedFont>
    <p:embeddedFont>
      <p:font typeface="Georgia Bold" charset="1" panose="02040802050405020203"/>
      <p:regular r:id="rId17"/>
    </p:embeddedFont>
    <p:embeddedFont>
      <p:font typeface="Arial Bold Italics" charset="1" panose="020B0704020202090204"/>
      <p:regular r:id="rId18"/>
    </p:embeddedFont>
    <p:embeddedFont>
      <p:font typeface="Calibri (MS) Bold" charset="1" panose="020F0702030404030204"/>
      <p:regular r:id="rId19"/>
    </p:embeddedFont>
    <p:embeddedFont>
      <p:font typeface="Calibri (MS)" charset="1" panose="020F0502020204030204"/>
      <p:regular r:id="rId20"/>
    </p:embeddedFont>
    <p:embeddedFont>
      <p:font typeface="Arial Italics" charset="1" panose="020B0604020202090204"/>
      <p:regular r:id="rId21"/>
    </p:embeddedFont>
    <p:embeddedFont>
      <p:font typeface="Arimo Bold" charset="1" panose="020B0704020202020204"/>
      <p:regular r:id="rId22"/>
    </p:embeddedFont>
    <p:embeddedFont>
      <p:font typeface="Arial" charset="1" panose="020B0604020202020204"/>
      <p:regular r:id="rId23"/>
    </p:embeddedFont>
    <p:embeddedFont>
      <p:font typeface="Times New Roman MT Bold" charset="1" panose="02030802070405020303"/>
      <p:regular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font" Target="fonts/font12.fntdata"/><Relationship Id="rId13" Type="http://schemas.openxmlformats.org/officeDocument/2006/relationships/font" Target="fonts/font13.fntdata"/><Relationship Id="rId14" Type="http://schemas.openxmlformats.org/officeDocument/2006/relationships/notesMaster" Target="notesMasters/notesMaster1.xml"/><Relationship Id="rId15" Type="http://schemas.openxmlformats.org/officeDocument/2006/relationships/theme" Target="theme/theme2.xml"/><Relationship Id="rId16" Type="http://schemas.openxmlformats.org/officeDocument/2006/relationships/notesSlide" Target="notesSlides/notesSlide1.xml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font" Target="fonts/font20.fntdata"/><Relationship Id="rId21" Type="http://schemas.openxmlformats.org/officeDocument/2006/relationships/font" Target="fonts/font21.fntdata"/><Relationship Id="rId22" Type="http://schemas.openxmlformats.org/officeDocument/2006/relationships/font" Target="fonts/font22.fntdata"/><Relationship Id="rId23" Type="http://schemas.openxmlformats.org/officeDocument/2006/relationships/font" Target="fonts/font23.fntdata"/><Relationship Id="rId24" Type="http://schemas.openxmlformats.org/officeDocument/2006/relationships/notesSlide" Target="notesSlides/notesSlide2.xml"/><Relationship Id="rId25" Type="http://schemas.openxmlformats.org/officeDocument/2006/relationships/font" Target="fonts/font25.fntdata"/><Relationship Id="rId26" Type="http://schemas.openxmlformats.org/officeDocument/2006/relationships/notesSlide" Target="notesSlides/notesSlide3.xml"/><Relationship Id="rId27" Type="http://schemas.openxmlformats.org/officeDocument/2006/relationships/notesSlide" Target="notesSlides/notesSlide4.xml"/><Relationship Id="rId28" Type="http://schemas.openxmlformats.org/officeDocument/2006/relationships/notesSlide" Target="notesSlides/notes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e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eg"/><Relationship Id="rId4" Type="http://schemas.openxmlformats.org/officeDocument/2006/relationships/image" Target="../media/image2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86005" y="-758338"/>
            <a:ext cx="15544800" cy="3114675"/>
            <a:chOff x="0" y="0"/>
            <a:chExt cx="20726400" cy="41529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0726400" cy="4152900"/>
            </a:xfrm>
            <a:custGeom>
              <a:avLst/>
              <a:gdLst/>
              <a:ahLst/>
              <a:cxnLst/>
              <a:rect r="r" b="b" t="t" l="l"/>
              <a:pathLst>
                <a:path h="4152900" w="20726400">
                  <a:moveTo>
                    <a:pt x="0" y="0"/>
                  </a:moveTo>
                  <a:lnTo>
                    <a:pt x="20726400" y="0"/>
                  </a:lnTo>
                  <a:lnTo>
                    <a:pt x="20726400" y="4152900"/>
                  </a:lnTo>
                  <a:lnTo>
                    <a:pt x="0" y="415290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0" t="-47246" r="0" b="-47246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0726400" cy="41719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7200"/>
                </a:lnSpc>
              </a:pPr>
              <a:r>
                <a:rPr lang="en-US" sz="6000" b="true">
                  <a:solidFill>
                    <a:srgbClr val="1F497D"/>
                  </a:solidFill>
                  <a:latin typeface="Garamond Bold"/>
                  <a:ea typeface="Garamond Bold"/>
                  <a:cs typeface="Garamond Bold"/>
                  <a:sym typeface="Garamond Bold"/>
                </a:rPr>
                <a:t>SMART INDIA HACKATHON 2026</a:t>
              </a: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384213" y="1954570"/>
            <a:ext cx="16365874" cy="71456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</a:p>
          <a:p>
            <a:pPr algn="just" marL="651510" indent="-325755" lvl="1">
              <a:lnSpc>
                <a:spcPts val="8640"/>
              </a:lnSpc>
              <a:buFont typeface="Arial"/>
              <a:buChar char="•"/>
            </a:pPr>
            <a:r>
              <a:rPr lang="en-US" b="true" sz="36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Problem Statement ID – </a:t>
            </a:r>
            <a:r>
              <a:rPr lang="en-US" b="true" sz="3600">
                <a:solidFill>
                  <a:srgbClr val="1F497D"/>
                </a:solidFill>
                <a:latin typeface="Arial Bold"/>
                <a:ea typeface="Arial Bold"/>
                <a:cs typeface="Arial Bold"/>
                <a:sym typeface="Arial Bold"/>
              </a:rPr>
              <a:t>SIH26140</a:t>
            </a:r>
          </a:p>
          <a:p>
            <a:pPr algn="just" marL="651510" indent="-325755" lvl="1">
              <a:lnSpc>
                <a:spcPts val="5400"/>
              </a:lnSpc>
              <a:buFont typeface="Arial"/>
              <a:buChar char="•"/>
            </a:pPr>
            <a:r>
              <a:rPr lang="en-US" b="true" sz="36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Problem Statement Title- </a:t>
            </a:r>
            <a:r>
              <a:rPr lang="en-US" b="true" sz="3600">
                <a:solidFill>
                  <a:srgbClr val="1F497D"/>
                </a:solidFill>
                <a:latin typeface="Arial Bold"/>
                <a:ea typeface="Arial Bold"/>
                <a:cs typeface="Arial Bold"/>
                <a:sym typeface="Arial Bold"/>
              </a:rPr>
              <a:t>AI-Based Interactive</a:t>
            </a:r>
          </a:p>
          <a:p>
            <a:pPr algn="just">
              <a:lnSpc>
                <a:spcPts val="5400"/>
              </a:lnSpc>
            </a:pPr>
            <a:r>
              <a:rPr lang="en-US" sz="3600" b="true">
                <a:solidFill>
                  <a:srgbClr val="1F497D"/>
                </a:solidFill>
                <a:latin typeface="Arial Bold"/>
                <a:ea typeface="Arial Bold"/>
                <a:cs typeface="Arial Bold"/>
                <a:sym typeface="Arial Bold"/>
              </a:rPr>
              <a:t>     Quantum Algorithm Learning Platform</a:t>
            </a:r>
          </a:p>
          <a:p>
            <a:pPr algn="just" marL="651510" indent="-325755" lvl="1">
              <a:lnSpc>
                <a:spcPts val="8640"/>
              </a:lnSpc>
              <a:buFont typeface="Arial"/>
              <a:buChar char="•"/>
            </a:pPr>
            <a:r>
              <a:rPr lang="en-US" b="true" sz="36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Theme-  </a:t>
            </a:r>
            <a:r>
              <a:rPr lang="en-US" b="true" sz="3600">
                <a:solidFill>
                  <a:srgbClr val="1F497D"/>
                </a:solidFill>
                <a:latin typeface="Arial Bold"/>
                <a:ea typeface="Arial Bold"/>
                <a:cs typeface="Arial Bold"/>
                <a:sym typeface="Arial Bold"/>
              </a:rPr>
              <a:t>Smart Education</a:t>
            </a:r>
          </a:p>
          <a:p>
            <a:pPr algn="just" marL="651510" indent="-325755" lvl="1">
              <a:lnSpc>
                <a:spcPts val="8640"/>
              </a:lnSpc>
              <a:buFont typeface="Arial"/>
              <a:buChar char="•"/>
            </a:pPr>
            <a:r>
              <a:rPr lang="en-US" b="true" sz="36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PS Category- </a:t>
            </a:r>
            <a:r>
              <a:rPr lang="en-US" b="true" sz="3600">
                <a:solidFill>
                  <a:srgbClr val="1F497D"/>
                </a:solidFill>
                <a:latin typeface="Arial Bold"/>
                <a:ea typeface="Arial Bold"/>
                <a:cs typeface="Arial Bold"/>
                <a:sym typeface="Arial Bold"/>
              </a:rPr>
              <a:t>Software</a:t>
            </a:r>
          </a:p>
          <a:p>
            <a:pPr algn="just" marL="651510" indent="-325755" lvl="1">
              <a:lnSpc>
                <a:spcPts val="8640"/>
              </a:lnSpc>
              <a:buFont typeface="Arial"/>
              <a:buChar char="•"/>
            </a:pPr>
            <a:r>
              <a:rPr lang="en-US" b="true" sz="36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Team ID- </a:t>
            </a:r>
          </a:p>
          <a:p>
            <a:pPr algn="just" marL="651510" indent="-325755" lvl="1">
              <a:lnSpc>
                <a:spcPts val="8640"/>
              </a:lnSpc>
              <a:buFont typeface="Arial"/>
              <a:buChar char="•"/>
            </a:pPr>
            <a:r>
              <a:rPr lang="en-US" b="true" sz="360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Team Name- </a:t>
            </a:r>
            <a:r>
              <a:rPr lang="en-US" b="true" sz="3600">
                <a:solidFill>
                  <a:srgbClr val="1F497D"/>
                </a:solidFill>
                <a:latin typeface="Arial Bold"/>
                <a:ea typeface="Arial Bold"/>
                <a:cs typeface="Arial Bold"/>
                <a:sym typeface="Arial Bold"/>
              </a:rPr>
              <a:t>GITWOLVES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1"/>
              </a:stretch>
            </a:blip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10625822" y="1277274"/>
            <a:ext cx="6957908" cy="7732452"/>
          </a:xfrm>
          <a:custGeom>
            <a:avLst/>
            <a:gdLst/>
            <a:ahLst/>
            <a:cxnLst/>
            <a:rect r="r" b="b" t="t" l="l"/>
            <a:pathLst>
              <a:path h="7732452" w="6957908">
                <a:moveTo>
                  <a:pt x="0" y="0"/>
                </a:moveTo>
                <a:lnTo>
                  <a:pt x="6957908" y="0"/>
                </a:lnTo>
                <a:lnTo>
                  <a:pt x="6957908" y="7732452"/>
                </a:lnTo>
                <a:lnTo>
                  <a:pt x="0" y="773245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9" id="9"/>
          <p:cNvGrpSpPr/>
          <p:nvPr/>
        </p:nvGrpSpPr>
        <p:grpSpPr>
          <a:xfrm rot="0">
            <a:off x="12505738" y="2672926"/>
            <a:ext cx="4919425" cy="5261451"/>
            <a:chOff x="0" y="0"/>
            <a:chExt cx="6407023" cy="685247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407023" cy="6852412"/>
            </a:xfrm>
            <a:custGeom>
              <a:avLst/>
              <a:gdLst/>
              <a:ahLst/>
              <a:cxnLst/>
              <a:rect r="r" b="b" t="t" l="l"/>
              <a:pathLst>
                <a:path h="6852412" w="6407023">
                  <a:moveTo>
                    <a:pt x="0" y="0"/>
                  </a:moveTo>
                  <a:lnTo>
                    <a:pt x="6407023" y="0"/>
                  </a:lnTo>
                  <a:lnTo>
                    <a:pt x="6407023" y="6852412"/>
                  </a:lnTo>
                  <a:lnTo>
                    <a:pt x="0" y="68524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-149475" b="-1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086100" y="246888"/>
            <a:ext cx="11795760" cy="1165860"/>
            <a:chOff x="0" y="0"/>
            <a:chExt cx="15727680" cy="15544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5727680" cy="1554480"/>
            </a:xfrm>
            <a:custGeom>
              <a:avLst/>
              <a:gdLst/>
              <a:ahLst/>
              <a:cxnLst/>
              <a:rect r="r" b="b" t="t" l="l"/>
              <a:pathLst>
                <a:path h="1554480" w="15727680">
                  <a:moveTo>
                    <a:pt x="0" y="0"/>
                  </a:moveTo>
                  <a:lnTo>
                    <a:pt x="15727680" y="0"/>
                  </a:lnTo>
                  <a:lnTo>
                    <a:pt x="1572768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7142" r="0" b="-14714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"/>
              <a:ext cx="15727680" cy="15640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320"/>
                </a:lnSpc>
              </a:pPr>
              <a:r>
                <a:rPr lang="en-US" sz="3600" b="true">
                  <a:solidFill>
                    <a:srgbClr val="0E2A47"/>
                  </a:solidFill>
                  <a:latin typeface="Georgia Bold"/>
                  <a:ea typeface="Georgia Bold"/>
                  <a:cs typeface="Georgia Bold"/>
                  <a:sym typeface="Georgia Bold"/>
                </a:rPr>
                <a:t>Interactive Web-Based Quantum Learning Platform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29590" y="310134"/>
            <a:ext cx="2438400" cy="1107948"/>
            <a:chOff x="0" y="0"/>
            <a:chExt cx="3251200" cy="1477264"/>
          </a:xfrm>
        </p:grpSpPr>
        <p:sp>
          <p:nvSpPr>
            <p:cNvPr name="Freeform 6" id="6" descr="Your startup LOGO"/>
            <p:cNvSpPr/>
            <p:nvPr/>
          </p:nvSpPr>
          <p:spPr>
            <a:xfrm flipH="false" flipV="false" rot="0">
              <a:off x="0" y="0"/>
              <a:ext cx="3251200" cy="1477264"/>
            </a:xfrm>
            <a:custGeom>
              <a:avLst/>
              <a:gdLst/>
              <a:ahLst/>
              <a:cxnLst/>
              <a:rect r="r" b="b" t="t" l="l"/>
              <a:pathLst>
                <a:path h="1477264" w="3251200">
                  <a:moveTo>
                    <a:pt x="0" y="738632"/>
                  </a:moveTo>
                  <a:cubicBezTo>
                    <a:pt x="0" y="330708"/>
                    <a:pt x="727837" y="0"/>
                    <a:pt x="1625600" y="0"/>
                  </a:cubicBezTo>
                  <a:cubicBezTo>
                    <a:pt x="2523363" y="0"/>
                    <a:pt x="3251200" y="330708"/>
                    <a:pt x="3251200" y="738632"/>
                  </a:cubicBezTo>
                  <a:cubicBezTo>
                    <a:pt x="3251200" y="1146556"/>
                    <a:pt x="2523363" y="1477264"/>
                    <a:pt x="1625600" y="1477264"/>
                  </a:cubicBezTo>
                  <a:cubicBezTo>
                    <a:pt x="727837" y="1477264"/>
                    <a:pt x="0" y="1146556"/>
                    <a:pt x="0" y="738632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6A329F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3251200" cy="149631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91E2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GITWOLVES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3122676" y="1320546"/>
            <a:ext cx="11722608" cy="8374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1B4D3E"/>
                </a:solidFill>
                <a:latin typeface="Arial Bold"/>
                <a:ea typeface="Arial Bold"/>
                <a:cs typeface="Arial Bold"/>
                <a:sym typeface="Arial Bold"/>
              </a:rPr>
              <a:t>HOW IT ADDRESSES THE PROBLEM?</a:t>
            </a:r>
          </a:p>
          <a:p>
            <a:pPr algn="ctr">
              <a:lnSpc>
                <a:spcPts val="1889"/>
              </a:lnSpc>
            </a:pPr>
            <a:r>
              <a:rPr lang="en-US" b="true" sz="1575" i="true">
                <a:solidFill>
                  <a:srgbClr val="28323C"/>
                </a:solidFill>
                <a:latin typeface="Arial Bold Italics"/>
                <a:ea typeface="Arial Bold Italics"/>
                <a:cs typeface="Arial Bold Italics"/>
                <a:sym typeface="Arial Bold Italics"/>
              </a:rPr>
              <a:t>“Intuitive, Real-Time &amp; Benchmark-Aligned Quantum Pedagogy”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539115" y="2322195"/>
            <a:ext cx="5025390" cy="7219950"/>
            <a:chOff x="0" y="0"/>
            <a:chExt cx="6700520" cy="9626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700520" cy="9626600"/>
            </a:xfrm>
            <a:custGeom>
              <a:avLst/>
              <a:gdLst/>
              <a:ahLst/>
              <a:cxnLst/>
              <a:rect r="r" b="b" t="t" l="l"/>
              <a:pathLst>
                <a:path h="9626600" w="6700520">
                  <a:moveTo>
                    <a:pt x="0" y="0"/>
                  </a:moveTo>
                  <a:lnTo>
                    <a:pt x="6700520" y="0"/>
                  </a:lnTo>
                  <a:lnTo>
                    <a:pt x="6700520" y="9626600"/>
                  </a:lnTo>
                  <a:lnTo>
                    <a:pt x="0" y="9626600"/>
                  </a:lnTo>
                  <a:close/>
                </a:path>
              </a:pathLst>
            </a:custGeom>
            <a:solidFill>
              <a:srgbClr val="FEEEE6"/>
            </a:solidFill>
            <a:ln w="19050" cap="sq">
              <a:solidFill>
                <a:srgbClr val="F0B99B"/>
              </a:solidFill>
              <a:prstDash val="solid"/>
              <a:miter/>
            </a:ln>
          </p:spPr>
        </p:sp>
      </p:grpSp>
      <p:sp>
        <p:nvSpPr>
          <p:cNvPr name="TextBox 13" id="13"/>
          <p:cNvSpPr txBox="true"/>
          <p:nvPr/>
        </p:nvSpPr>
        <p:spPr>
          <a:xfrm rot="0">
            <a:off x="790956" y="2486406"/>
            <a:ext cx="4521708" cy="5631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40"/>
              </a:lnSpc>
            </a:pPr>
            <a:r>
              <a:rPr lang="en-US" sz="2700" b="true">
                <a:solidFill>
                  <a:srgbClr val="C05621"/>
                </a:solidFill>
                <a:latin typeface="Georgia Bold"/>
                <a:ea typeface="Georgia Bold"/>
                <a:cs typeface="Georgia Bold"/>
                <a:sym typeface="Georgia Bold"/>
              </a:rPr>
              <a:t>SOLUTIONS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45761" y="3515487"/>
            <a:ext cx="4690144" cy="57797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01680" indent="-200840" lvl="1">
              <a:lnSpc>
                <a:spcPts val="2232"/>
              </a:lnSpc>
              <a:spcAft>
                <a:spcPts val="200"/>
              </a:spcAft>
              <a:buFont typeface="Arial"/>
              <a:buChar char="•"/>
              <a:defRPr sz="1100" b="1">
                <a:solidFill>
                  <a:srgbClr val="00F0FF"/>
                </a:solidFill>
                <a:latin typeface="Arial"/>
              </a:defRPr>
            </a:pPr>
            <a:r>
              <a:t>1. 16-Qubit Multi-Engine Circuit Sandbox</a:t>
            </a:r>
          </a:p>
          <a:p>
            <a:pPr>
              <a:spcAft>
                <a:spcPts val="800"/>
              </a:spcAft>
              <a:defRPr sz="850">
                <a:solidFill>
                  <a:srgbClr val="FFFFFF"/>
                </a:solidFill>
                <a:latin typeface="Arial"/>
              </a:defRPr>
            </a:pPr>
            <a:r>
              <a:t>Interactive drag-and-drop canvas supporting Hadamard, Pauli, Phase, CNOT, and SWAP gates with live dispatch across IBM 156Q Heron QPU, BlueQubit GPU, Aer, Cirq, and PennyLane.</a:t>
            </a:r>
          </a:p>
          <a:p>
            <a:pPr>
              <a:spcAft>
                <a:spcPts val="200"/>
              </a:spcAft>
              <a:defRPr sz="1100" b="1">
                <a:solidFill>
                  <a:srgbClr val="00F0FF"/>
                </a:solidFill>
                <a:latin typeface="Arial"/>
              </a:defRPr>
            </a:pPr>
            <a:r>
              <a:t>2. Real-Time 3D WebGL Bloch Sphere</a:t>
            </a:r>
          </a:p>
          <a:p>
            <a:pPr>
              <a:spcAft>
                <a:spcPts val="800"/>
              </a:spcAft>
              <a:defRPr sz="850">
                <a:solidFill>
                  <a:srgbClr val="FFFFFF"/>
                </a:solidFill>
                <a:latin typeface="Arial"/>
              </a:defRPr>
            </a:pPr>
            <a:r>
              <a:t>Dynamic unitary rotation vectors on GPU-accelerated Bloch spheres paired with live KaTeX bra-ket equations and measurement histograms, converting matrix math into spatial intuition.</a:t>
            </a:r>
          </a:p>
          <a:p>
            <a:pPr>
              <a:spcAft>
                <a:spcPts val="200"/>
              </a:spcAft>
              <a:defRPr sz="1100" b="1">
                <a:solidFill>
                  <a:srgbClr val="00F0FF"/>
                </a:solidFill>
                <a:latin typeface="Arial"/>
              </a:defRPr>
            </a:pPr>
            <a:r>
              <a:t>3. Contextual 76-Book RAG Diagnostic Tutor</a:t>
            </a:r>
          </a:p>
          <a:p>
            <a:pPr>
              <a:spcAft>
                <a:spcPts val="800"/>
              </a:spcAft>
              <a:defRPr sz="850">
                <a:solidFill>
                  <a:srgbClr val="FFFFFF"/>
                </a:solidFill>
                <a:latin typeface="Arial"/>
              </a:defRPr>
            </a:pPr>
            <a:r>
              <a:t>Sub-second Groq LPU tutor with chain-of-thought quantum theorem proofs, catching phase errors, non-unitary operations, and entanglement subtleties with Socratic hints.</a:t>
            </a:r>
          </a:p>
          <a:p>
            <a:pPr>
              <a:spcAft>
                <a:spcPts val="200"/>
              </a:spcAft>
              <a:defRPr sz="1100" b="1">
                <a:solidFill>
                  <a:srgbClr val="00F0FF"/>
                </a:solidFill>
                <a:latin typeface="Arial"/>
              </a:defRPr>
            </a:pPr>
            <a:r>
              <a:t>4. Sarvam AI Multilingual Quantum Dubber</a:t>
            </a:r>
          </a:p>
          <a:p>
            <a:pPr>
              <a:spcAft>
                <a:spcPts val="800"/>
              </a:spcAft>
              <a:defRPr sz="850">
                <a:solidFill>
                  <a:srgbClr val="FFFFFF"/>
                </a:solidFill>
                <a:latin typeface="Arial"/>
              </a:defRPr>
            </a:pPr>
            <a:r>
              <a:t>Neural Indic dubbing (Bulbul:v3) preserving English technical quantum nomenclature across 10+ languages (Hindi, Tamil, Telugu, Marathi, Bengali) for inclusive learning.</a:t>
            </a:r>
          </a:p>
        </p:txBody>
      </p:sp>
      <p:grpSp>
        <p:nvGrpSpPr>
          <p:cNvPr name="Group 42" id="42"/>
          <p:cNvGrpSpPr/>
          <p:nvPr/>
        </p:nvGrpSpPr>
        <p:grpSpPr>
          <a:xfrm rot="0">
            <a:off x="12677775" y="2322195"/>
            <a:ext cx="5025390" cy="7219950"/>
            <a:chOff x="0" y="0"/>
            <a:chExt cx="6700520" cy="962660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6700520" cy="9626600"/>
            </a:xfrm>
            <a:custGeom>
              <a:avLst/>
              <a:gdLst/>
              <a:ahLst/>
              <a:cxnLst/>
              <a:rect r="r" b="b" t="t" l="l"/>
              <a:pathLst>
                <a:path h="9626600" w="6700520">
                  <a:moveTo>
                    <a:pt x="0" y="0"/>
                  </a:moveTo>
                  <a:lnTo>
                    <a:pt x="6700520" y="0"/>
                  </a:lnTo>
                  <a:lnTo>
                    <a:pt x="6700520" y="9626600"/>
                  </a:lnTo>
                  <a:lnTo>
                    <a:pt x="0" y="9626600"/>
                  </a:lnTo>
                  <a:close/>
                </a:path>
              </a:pathLst>
            </a:custGeom>
            <a:solidFill>
              <a:srgbClr val="E6F4EA"/>
            </a:solidFill>
            <a:ln w="19050" cap="sq">
              <a:solidFill>
                <a:srgbClr val="A3D9B1"/>
              </a:solidFill>
              <a:prstDash val="solid"/>
              <a:miter/>
            </a:ln>
          </p:spPr>
        </p:sp>
      </p:grpSp>
      <p:sp>
        <p:nvSpPr>
          <p:cNvPr name="TextBox 44" id="44"/>
          <p:cNvSpPr txBox="true"/>
          <p:nvPr/>
        </p:nvSpPr>
        <p:spPr>
          <a:xfrm rot="0">
            <a:off x="12929616" y="2505456"/>
            <a:ext cx="4521708" cy="5440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b="true">
                <a:solidFill>
                  <a:srgbClr val="1E7E34"/>
                </a:solidFill>
                <a:latin typeface="Georgia Bold"/>
                <a:ea typeface="Georgia Bold"/>
                <a:cs typeface="Georgia Bold"/>
                <a:sym typeface="Georgia Bold"/>
              </a:rPr>
              <a:t>UNIQUENESS AND INNOVATION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2929616" y="3221736"/>
            <a:ext cx="4329684" cy="6210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096"/>
              </a:lnSpc>
              <a:spcAft>
                <a:spcPts val="200"/>
              </a:spcAft>
              <a:defRPr sz="1100" b="1">
                <a:solidFill>
                  <a:srgbClr val="FBBF24"/>
                </a:solidFill>
                <a:latin typeface="Arial"/>
              </a:defRPr>
            </a:pPr>
            <a:r>
              <a:t>• True Multi-Cloud &amp; Hardware Interoperability</a:t>
            </a:r>
          </a:p>
          <a:p>
            <a:pPr>
              <a:spcAft>
                <a:spcPts val="800"/>
              </a:spcAft>
              <a:defRPr sz="850">
                <a:solidFill>
                  <a:srgbClr val="FFFFFF"/>
                </a:solidFill>
                <a:latin typeface="Arial"/>
              </a:defRPr>
            </a:pPr>
            <a:r>
              <a:t>Vendor-neutral execution layer compiling into IBM Qiskit, Xanadu PennyLane, Google Cirq, and OpenQASM 3.0 with live execution on 156-qubit Heron QPUs without vendor lock-in.</a:t>
            </a:r>
          </a:p>
          <a:p>
            <a:pPr>
              <a:spcAft>
                <a:spcPts val="200"/>
              </a:spcAft>
              <a:defRPr sz="1100" b="1">
                <a:solidFill>
                  <a:srgbClr val="FBBF24"/>
                </a:solidFill>
                <a:latin typeface="Arial"/>
              </a:defRPr>
            </a:pPr>
            <a:r>
              <a:t>• Synchronized 4-Way Multi-Modal Feedback</a:t>
            </a:r>
          </a:p>
          <a:p>
            <a:pPr>
              <a:spcAft>
                <a:spcPts val="800"/>
              </a:spcAft>
              <a:defRPr sz="850">
                <a:solidFill>
                  <a:srgbClr val="FFFFFF"/>
                </a:solidFill>
                <a:latin typeface="Arial"/>
              </a:defRPr>
            </a:pPr>
            <a:r>
              <a:t>Real-time feedback system that synchronously projects 3D Bloch spheres, Dirac bra-ket equations, unitary matrices, and measurement probability histograms on every gate drop.</a:t>
            </a:r>
          </a:p>
          <a:p>
            <a:pPr>
              <a:spcAft>
                <a:spcPts val="200"/>
              </a:spcAft>
              <a:defRPr sz="1100" b="1">
                <a:solidFill>
                  <a:srgbClr val="FBBF24"/>
                </a:solidFill>
                <a:latin typeface="Arial"/>
              </a:defRPr>
            </a:pPr>
            <a:r>
              <a:t>• Bloom 2-Sigma Pedagogy with 98.5% RAG Accuracy</a:t>
            </a:r>
          </a:p>
          <a:p>
            <a:pPr>
              <a:spcAft>
                <a:spcPts val="800"/>
              </a:spcAft>
              <a:defRPr sz="850">
                <a:solidFill>
                  <a:srgbClr val="FFFFFF"/>
                </a:solidFill>
                <a:latin typeface="Arial"/>
              </a:defRPr>
            </a:pPr>
            <a:r>
              <a:t>1-on-1 Socratic AI tutoring grounded in 76 verified textbooks, yielding 0.3% hallucination rate, verified 85% mastery gain, and Dirac Mathematical Competency Badges.</a:t>
            </a:r>
          </a:p>
          <a:p>
            <a:pPr>
              <a:spcAft>
                <a:spcPts val="200"/>
              </a:spcAft>
              <a:defRPr sz="1100" b="1">
                <a:solidFill>
                  <a:srgbClr val="FBBF24"/>
                </a:solidFill>
                <a:latin typeface="Arial"/>
              </a:defRPr>
            </a:pPr>
            <a:r>
              <a:t>• Direct Fit to India National Quantum Mission (NQM)</a:t>
            </a:r>
          </a:p>
          <a:p>
            <a:pPr>
              <a:spcAft>
                <a:spcPts val="800"/>
              </a:spcAft>
              <a:defRPr sz="850">
                <a:solidFill>
                  <a:srgbClr val="FFFFFF"/>
                </a:solidFill>
                <a:latin typeface="Arial"/>
              </a:defRPr>
            </a:pPr>
            <a:r>
              <a:t>Zero-license commodity web stack (React, Three.js, FastAPI, Qiskit) requiring ₹0 student lab setup, ready for integration into India's 23 NQM Thematic Hubs and AICTE curricula.</a:t>
            </a:r>
          </a:p>
        </p:txBody>
      </p:sp>
      <p:pic>
        <p:nvPicPr>
          <p:cNvPr id="46" name="Picture 45" descr="slide2_pedagogy_ra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0" y="2377440"/>
            <a:ext cx="6949440" cy="71323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086100" y="246888"/>
            <a:ext cx="11795760" cy="1165860"/>
            <a:chOff x="0" y="0"/>
            <a:chExt cx="15727680" cy="15544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5727680" cy="1554480"/>
            </a:xfrm>
            <a:custGeom>
              <a:avLst/>
              <a:gdLst/>
              <a:ahLst/>
              <a:cxnLst/>
              <a:rect r="r" b="b" t="t" l="l"/>
              <a:pathLst>
                <a:path h="1554480" w="15727680">
                  <a:moveTo>
                    <a:pt x="0" y="0"/>
                  </a:moveTo>
                  <a:lnTo>
                    <a:pt x="15727680" y="0"/>
                  </a:lnTo>
                  <a:lnTo>
                    <a:pt x="1572768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7142" r="0" b="-14714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15727680" cy="16497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400"/>
                </a:lnSpc>
              </a:pPr>
              <a:r>
                <a:rPr lang="en-US" sz="4500" b="true">
                  <a:solidFill>
                    <a:srgbClr val="0E2A47"/>
                  </a:solidFill>
                  <a:latin typeface="Times New Roman MT Bold"/>
                  <a:ea typeface="Times New Roman MT Bold"/>
                  <a:cs typeface="Times New Roman MT Bold"/>
                  <a:sym typeface="Times New Roman MT Bold"/>
                </a:rPr>
                <a:t>TECHNICAL APPROACH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29590" y="310134"/>
            <a:ext cx="2438400" cy="1107948"/>
            <a:chOff x="0" y="0"/>
            <a:chExt cx="3251200" cy="1477264"/>
          </a:xfrm>
        </p:grpSpPr>
        <p:sp>
          <p:nvSpPr>
            <p:cNvPr name="Freeform 6" id="6" descr="Your startup LOGO"/>
            <p:cNvSpPr/>
            <p:nvPr/>
          </p:nvSpPr>
          <p:spPr>
            <a:xfrm flipH="false" flipV="false" rot="0">
              <a:off x="0" y="0"/>
              <a:ext cx="3251200" cy="1477264"/>
            </a:xfrm>
            <a:custGeom>
              <a:avLst/>
              <a:gdLst/>
              <a:ahLst/>
              <a:cxnLst/>
              <a:rect r="r" b="b" t="t" l="l"/>
              <a:pathLst>
                <a:path h="1477264" w="3251200">
                  <a:moveTo>
                    <a:pt x="0" y="738632"/>
                  </a:moveTo>
                  <a:cubicBezTo>
                    <a:pt x="0" y="330708"/>
                    <a:pt x="727837" y="0"/>
                    <a:pt x="1625600" y="0"/>
                  </a:cubicBezTo>
                  <a:cubicBezTo>
                    <a:pt x="2523363" y="0"/>
                    <a:pt x="3251200" y="330708"/>
                    <a:pt x="3251200" y="738632"/>
                  </a:cubicBezTo>
                  <a:cubicBezTo>
                    <a:pt x="3251200" y="1146556"/>
                    <a:pt x="2523363" y="1477264"/>
                    <a:pt x="1625600" y="1477264"/>
                  </a:cubicBezTo>
                  <a:cubicBezTo>
                    <a:pt x="727837" y="1477264"/>
                    <a:pt x="0" y="1146556"/>
                    <a:pt x="0" y="738632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6A329F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3251200" cy="149631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91E2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GITWOLVES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3122676" y="1320546"/>
            <a:ext cx="11722608" cy="4945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40"/>
              </a:lnSpc>
            </a:pPr>
            <a:r>
              <a:rPr lang="en-US" sz="1950" b="true">
                <a:solidFill>
                  <a:srgbClr val="005A9C"/>
                </a:solidFill>
                <a:latin typeface="Arial Bold"/>
                <a:ea typeface="Arial Bold"/>
                <a:cs typeface="Arial Bold"/>
                <a:sym typeface="Arial Bold"/>
              </a:rPr>
              <a:t>TECHNOLOGIES IMPLEMENTED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534352" y="1974533"/>
            <a:ext cx="5789295" cy="7572375"/>
            <a:chOff x="0" y="0"/>
            <a:chExt cx="7719060" cy="100965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7719060" cy="10096500"/>
            </a:xfrm>
            <a:custGeom>
              <a:avLst/>
              <a:gdLst/>
              <a:ahLst/>
              <a:cxnLst/>
              <a:rect r="r" b="b" t="t" l="l"/>
              <a:pathLst>
                <a:path h="10096500" w="7719060">
                  <a:moveTo>
                    <a:pt x="0" y="0"/>
                  </a:moveTo>
                  <a:lnTo>
                    <a:pt x="7719060" y="0"/>
                  </a:lnTo>
                  <a:lnTo>
                    <a:pt x="7719060" y="10096500"/>
                  </a:lnTo>
                  <a:lnTo>
                    <a:pt x="0" y="10096500"/>
                  </a:lnTo>
                  <a:close/>
                </a:path>
              </a:pathLst>
            </a:custGeom>
            <a:solidFill>
              <a:srgbClr val="FFFFFF"/>
            </a:solidFill>
            <a:ln w="28575" cap="sq">
              <a:solidFill>
                <a:srgbClr val="12325A"/>
              </a:solidFill>
              <a:prstDash val="solid"/>
              <a:miter/>
            </a:ln>
          </p:spPr>
        </p:sp>
      </p:grpSp>
      <p:sp>
        <p:nvSpPr>
          <p:cNvPr name="TextBox 13" id="13"/>
          <p:cNvSpPr txBox="true"/>
          <p:nvPr/>
        </p:nvSpPr>
        <p:spPr>
          <a:xfrm rot="0">
            <a:off x="790956" y="2143506"/>
            <a:ext cx="5276088" cy="4259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70"/>
              </a:lnSpc>
            </a:pPr>
            <a:r>
              <a:rPr lang="en-US" sz="1725" b="true">
                <a:solidFill>
                  <a:srgbClr val="12325A"/>
                </a:solidFill>
                <a:latin typeface="Arial Bold"/>
                <a:ea typeface="Arial Bold"/>
                <a:cs typeface="Arial Bold"/>
                <a:sym typeface="Arial Bold"/>
              </a:rPr>
              <a:t>IMPLEMENTATION PROCEDURE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950595" y="2733675"/>
            <a:ext cx="4956810" cy="3173730"/>
            <a:chOff x="0" y="0"/>
            <a:chExt cx="6609080" cy="423164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609080" cy="4231640"/>
            </a:xfrm>
            <a:custGeom>
              <a:avLst/>
              <a:gdLst/>
              <a:ahLst/>
              <a:cxnLst/>
              <a:rect r="r" b="b" t="t" l="l"/>
              <a:pathLst>
                <a:path h="4231640" w="6609080">
                  <a:moveTo>
                    <a:pt x="0" y="705231"/>
                  </a:moveTo>
                  <a:cubicBezTo>
                    <a:pt x="0" y="315722"/>
                    <a:pt x="315722" y="0"/>
                    <a:pt x="705231" y="0"/>
                  </a:cubicBezTo>
                  <a:lnTo>
                    <a:pt x="5903849" y="0"/>
                  </a:lnTo>
                  <a:cubicBezTo>
                    <a:pt x="6293358" y="0"/>
                    <a:pt x="6609080" y="315722"/>
                    <a:pt x="6609080" y="705231"/>
                  </a:cubicBezTo>
                  <a:lnTo>
                    <a:pt x="6609080" y="3526409"/>
                  </a:lnTo>
                  <a:cubicBezTo>
                    <a:pt x="6609080" y="3915918"/>
                    <a:pt x="6293358" y="4231640"/>
                    <a:pt x="5903849" y="4231640"/>
                  </a:cubicBezTo>
                  <a:lnTo>
                    <a:pt x="705231" y="4231640"/>
                  </a:lnTo>
                  <a:cubicBezTo>
                    <a:pt x="315722" y="4231640"/>
                    <a:pt x="0" y="3915918"/>
                    <a:pt x="0" y="3526409"/>
                  </a:cubicBezTo>
                  <a:close/>
                </a:path>
              </a:pathLst>
            </a:custGeom>
            <a:solidFill>
              <a:srgbClr val="F8FAFD"/>
            </a:solidFill>
            <a:ln w="19050" cap="sq">
              <a:solidFill>
                <a:srgbClr val="D7DEE6"/>
              </a:solidFill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1158240" y="2941320"/>
            <a:ext cx="2004060" cy="906780"/>
            <a:chOff x="0" y="0"/>
            <a:chExt cx="2672080" cy="120904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672080" cy="1209040"/>
            </a:xfrm>
            <a:custGeom>
              <a:avLst/>
              <a:gdLst/>
              <a:ahLst/>
              <a:cxnLst/>
              <a:rect r="r" b="b" t="t" l="l"/>
              <a:pathLst>
                <a:path h="1209040" w="2672080">
                  <a:moveTo>
                    <a:pt x="0" y="201549"/>
                  </a:moveTo>
                  <a:cubicBezTo>
                    <a:pt x="0" y="90170"/>
                    <a:pt x="90170" y="0"/>
                    <a:pt x="201549" y="0"/>
                  </a:cubicBezTo>
                  <a:lnTo>
                    <a:pt x="2470531" y="0"/>
                  </a:lnTo>
                  <a:cubicBezTo>
                    <a:pt x="2581783" y="0"/>
                    <a:pt x="2672080" y="90170"/>
                    <a:pt x="2672080" y="201549"/>
                  </a:cubicBezTo>
                  <a:lnTo>
                    <a:pt x="2672080" y="1007491"/>
                  </a:lnTo>
                  <a:cubicBezTo>
                    <a:pt x="2672080" y="1118743"/>
                    <a:pt x="2581910" y="1209040"/>
                    <a:pt x="2470531" y="1209040"/>
                  </a:cubicBezTo>
                  <a:lnTo>
                    <a:pt x="201549" y="1209040"/>
                  </a:lnTo>
                  <a:cubicBezTo>
                    <a:pt x="90170" y="1209040"/>
                    <a:pt x="0" y="1118870"/>
                    <a:pt x="0" y="1007491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005A9C"/>
              </a:solidFill>
              <a:prstDash val="solid"/>
              <a:miter/>
            </a:ln>
          </p:spPr>
        </p:sp>
      </p:grpSp>
      <p:sp>
        <p:nvSpPr>
          <p:cNvPr name="TextBox 18" id="18"/>
          <p:cNvSpPr txBox="true"/>
          <p:nvPr/>
        </p:nvSpPr>
        <p:spPr>
          <a:xfrm rot="0">
            <a:off x="1243584" y="3007614"/>
            <a:ext cx="1847088" cy="7688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04"/>
              </a:lnSpc>
            </a:pPr>
            <a:r>
              <a:rPr lang="en-US" sz="1170" b="true">
                <a:solidFill>
                  <a:srgbClr val="0E2A47"/>
                </a:solidFill>
                <a:latin typeface="Arial Bold"/>
                <a:ea typeface="Arial Bold"/>
                <a:cs typeface="Arial Bold"/>
                <a:sym typeface="Arial Bold"/>
              </a:rPr>
              <a:t>Visual Circuit Input</a:t>
            </a:r>
          </a:p>
          <a:p>
            <a:pPr algn="ctr">
              <a:lnSpc>
                <a:spcPts val="1223"/>
              </a:lnSpc>
            </a:pPr>
            <a:r>
              <a:rPr lang="en-US" sz="1019">
                <a:solidFill>
                  <a:srgbClr val="555F69"/>
                </a:solidFill>
                <a:latin typeface="Arial"/>
                <a:ea typeface="Arial"/>
                <a:cs typeface="Arial"/>
                <a:sym typeface="Arial"/>
              </a:rPr>
              <a:t>Drag-Drop Gates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3259836" y="3144774"/>
            <a:ext cx="406908" cy="357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005A9C"/>
                </a:solidFill>
                <a:latin typeface="Arimo Bold"/>
                <a:ea typeface="Arimo Bold"/>
                <a:cs typeface="Arimo Bold"/>
                <a:sym typeface="Arimo Bold"/>
              </a:rPr>
              <a:t>➔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3764280" y="2941320"/>
            <a:ext cx="2004060" cy="906780"/>
            <a:chOff x="0" y="0"/>
            <a:chExt cx="2672080" cy="120904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672080" cy="1209040"/>
            </a:xfrm>
            <a:custGeom>
              <a:avLst/>
              <a:gdLst/>
              <a:ahLst/>
              <a:cxnLst/>
              <a:rect r="r" b="b" t="t" l="l"/>
              <a:pathLst>
                <a:path h="1209040" w="2672080">
                  <a:moveTo>
                    <a:pt x="0" y="201549"/>
                  </a:moveTo>
                  <a:cubicBezTo>
                    <a:pt x="0" y="90170"/>
                    <a:pt x="90170" y="0"/>
                    <a:pt x="201549" y="0"/>
                  </a:cubicBezTo>
                  <a:lnTo>
                    <a:pt x="2470531" y="0"/>
                  </a:lnTo>
                  <a:cubicBezTo>
                    <a:pt x="2581783" y="0"/>
                    <a:pt x="2672080" y="90170"/>
                    <a:pt x="2672080" y="201549"/>
                  </a:cubicBezTo>
                  <a:lnTo>
                    <a:pt x="2672080" y="1007491"/>
                  </a:lnTo>
                  <a:cubicBezTo>
                    <a:pt x="2672080" y="1118743"/>
                    <a:pt x="2581910" y="1209040"/>
                    <a:pt x="2470531" y="1209040"/>
                  </a:cubicBezTo>
                  <a:lnTo>
                    <a:pt x="201549" y="1209040"/>
                  </a:lnTo>
                  <a:cubicBezTo>
                    <a:pt x="90170" y="1209040"/>
                    <a:pt x="0" y="1118870"/>
                    <a:pt x="0" y="1007491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005A9C"/>
              </a:solidFill>
              <a:prstDash val="solid"/>
              <a:miter/>
            </a:ln>
          </p:spPr>
        </p:sp>
      </p:grpSp>
      <p:sp>
        <p:nvSpPr>
          <p:cNvPr name="TextBox 22" id="22"/>
          <p:cNvSpPr txBox="true"/>
          <p:nvPr/>
        </p:nvSpPr>
        <p:spPr>
          <a:xfrm rot="0">
            <a:off x="3849624" y="3007614"/>
            <a:ext cx="1847088" cy="7688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04"/>
              </a:lnSpc>
            </a:pPr>
            <a:r>
              <a:rPr lang="en-US" sz="1170" b="true">
                <a:solidFill>
                  <a:srgbClr val="0E2A47"/>
                </a:solidFill>
                <a:latin typeface="Arial Bold"/>
                <a:ea typeface="Arial Bold"/>
                <a:cs typeface="Arial Bold"/>
                <a:sym typeface="Arial Bold"/>
              </a:rPr>
              <a:t>AST Normalizer</a:t>
            </a:r>
          </a:p>
          <a:p>
            <a:pPr algn="ctr">
              <a:lnSpc>
                <a:spcPts val="1223"/>
              </a:lnSpc>
            </a:pPr>
            <a:r>
              <a:rPr lang="en-US" sz="1019">
                <a:solidFill>
                  <a:srgbClr val="555F69"/>
                </a:solidFill>
                <a:latin typeface="Arial"/>
                <a:ea typeface="Arial"/>
                <a:cs typeface="Arial"/>
                <a:sym typeface="Arial"/>
              </a:rPr>
              <a:t>OpenQASM 3.0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4562856" y="3885438"/>
            <a:ext cx="406908" cy="357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80"/>
              </a:lnSpc>
            </a:pPr>
            <a:r>
              <a:rPr lang="en-US" sz="1650" b="true">
                <a:solidFill>
                  <a:srgbClr val="005A9C"/>
                </a:solidFill>
                <a:latin typeface="Arial Bold"/>
                <a:ea typeface="Arial Bold"/>
                <a:cs typeface="Arial Bold"/>
                <a:sym typeface="Arial Bold"/>
              </a:rPr>
              <a:t>⬇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3764280" y="4312920"/>
            <a:ext cx="2004060" cy="906780"/>
            <a:chOff x="0" y="0"/>
            <a:chExt cx="2672080" cy="120904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672080" cy="1209040"/>
            </a:xfrm>
            <a:custGeom>
              <a:avLst/>
              <a:gdLst/>
              <a:ahLst/>
              <a:cxnLst/>
              <a:rect r="r" b="b" t="t" l="l"/>
              <a:pathLst>
                <a:path h="1209040" w="2672080">
                  <a:moveTo>
                    <a:pt x="0" y="201549"/>
                  </a:moveTo>
                  <a:cubicBezTo>
                    <a:pt x="0" y="90170"/>
                    <a:pt x="90170" y="0"/>
                    <a:pt x="201549" y="0"/>
                  </a:cubicBezTo>
                  <a:lnTo>
                    <a:pt x="2470531" y="0"/>
                  </a:lnTo>
                  <a:cubicBezTo>
                    <a:pt x="2581783" y="0"/>
                    <a:pt x="2672080" y="90170"/>
                    <a:pt x="2672080" y="201549"/>
                  </a:cubicBezTo>
                  <a:lnTo>
                    <a:pt x="2672080" y="1007491"/>
                  </a:lnTo>
                  <a:cubicBezTo>
                    <a:pt x="2672080" y="1118743"/>
                    <a:pt x="2581910" y="1209040"/>
                    <a:pt x="2470531" y="1209040"/>
                  </a:cubicBezTo>
                  <a:lnTo>
                    <a:pt x="201549" y="1209040"/>
                  </a:lnTo>
                  <a:cubicBezTo>
                    <a:pt x="90170" y="1209040"/>
                    <a:pt x="0" y="1118870"/>
                    <a:pt x="0" y="1007491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005A9C"/>
              </a:solidFill>
              <a:prstDash val="solid"/>
              <a:miter/>
            </a:ln>
          </p:spPr>
        </p:sp>
      </p:grpSp>
      <p:sp>
        <p:nvSpPr>
          <p:cNvPr name="TextBox 26" id="26"/>
          <p:cNvSpPr txBox="true"/>
          <p:nvPr/>
        </p:nvSpPr>
        <p:spPr>
          <a:xfrm rot="0">
            <a:off x="3849624" y="4379214"/>
            <a:ext cx="1847088" cy="7688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04"/>
              </a:lnSpc>
            </a:pPr>
            <a:r>
              <a:rPr lang="en-US" sz="1170" b="true">
                <a:solidFill>
                  <a:srgbClr val="0E2A47"/>
                </a:solidFill>
                <a:latin typeface="Arial Bold"/>
                <a:ea typeface="Arial Bold"/>
                <a:cs typeface="Arial Bold"/>
                <a:sym typeface="Arial Bold"/>
              </a:rPr>
              <a:t>Quantum Sim Engine</a:t>
            </a:r>
          </a:p>
          <a:p>
            <a:pPr algn="ctr">
              <a:lnSpc>
                <a:spcPts val="1223"/>
              </a:lnSpc>
            </a:pPr>
            <a:r>
              <a:rPr lang="en-US" sz="1019">
                <a:solidFill>
                  <a:srgbClr val="555F69"/>
                </a:solidFill>
                <a:latin typeface="Arial"/>
                <a:ea typeface="Arial"/>
                <a:cs typeface="Arial"/>
                <a:sym typeface="Arial"/>
              </a:rPr>
              <a:t>Qiskit / QuTiP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3259836" y="4516374"/>
            <a:ext cx="406908" cy="3573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60"/>
              </a:lnSpc>
            </a:pPr>
            <a:r>
              <a:rPr lang="en-US" sz="1800" b="true">
                <a:solidFill>
                  <a:srgbClr val="005A9C"/>
                </a:solidFill>
                <a:latin typeface="Arial Bold"/>
                <a:ea typeface="Arial Bold"/>
                <a:cs typeface="Arial Bold"/>
                <a:sym typeface="Arial Bold"/>
              </a:rPr>
              <a:t>⬅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158240" y="4312920"/>
            <a:ext cx="2004060" cy="906780"/>
            <a:chOff x="0" y="0"/>
            <a:chExt cx="2672080" cy="120904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672080" cy="1209040"/>
            </a:xfrm>
            <a:custGeom>
              <a:avLst/>
              <a:gdLst/>
              <a:ahLst/>
              <a:cxnLst/>
              <a:rect r="r" b="b" t="t" l="l"/>
              <a:pathLst>
                <a:path h="1209040" w="2672080">
                  <a:moveTo>
                    <a:pt x="0" y="201549"/>
                  </a:moveTo>
                  <a:cubicBezTo>
                    <a:pt x="0" y="90170"/>
                    <a:pt x="90170" y="0"/>
                    <a:pt x="201549" y="0"/>
                  </a:cubicBezTo>
                  <a:lnTo>
                    <a:pt x="2470531" y="0"/>
                  </a:lnTo>
                  <a:cubicBezTo>
                    <a:pt x="2581783" y="0"/>
                    <a:pt x="2672080" y="90170"/>
                    <a:pt x="2672080" y="201549"/>
                  </a:cubicBezTo>
                  <a:lnTo>
                    <a:pt x="2672080" y="1007491"/>
                  </a:lnTo>
                  <a:cubicBezTo>
                    <a:pt x="2672080" y="1118743"/>
                    <a:pt x="2581910" y="1209040"/>
                    <a:pt x="2470531" y="1209040"/>
                  </a:cubicBezTo>
                  <a:lnTo>
                    <a:pt x="201549" y="1209040"/>
                  </a:lnTo>
                  <a:cubicBezTo>
                    <a:pt x="90170" y="1209040"/>
                    <a:pt x="0" y="1118870"/>
                    <a:pt x="0" y="1007491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005A9C"/>
              </a:solidFill>
              <a:prstDash val="solid"/>
              <a:miter/>
            </a:ln>
          </p:spPr>
        </p:sp>
      </p:grpSp>
      <p:sp>
        <p:nvSpPr>
          <p:cNvPr name="TextBox 30" id="30"/>
          <p:cNvSpPr txBox="true"/>
          <p:nvPr/>
        </p:nvSpPr>
        <p:spPr>
          <a:xfrm rot="0">
            <a:off x="1243584" y="4379214"/>
            <a:ext cx="1847088" cy="7688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04"/>
              </a:lnSpc>
            </a:pPr>
            <a:r>
              <a:rPr lang="en-US" sz="1170" b="true">
                <a:solidFill>
                  <a:srgbClr val="0E2A47"/>
                </a:solidFill>
                <a:latin typeface="Arial Bold"/>
                <a:ea typeface="Arial Bold"/>
                <a:cs typeface="Arial Bold"/>
                <a:sym typeface="Arial Bold"/>
              </a:rPr>
              <a:t>3D Bloch &amp; Matrix</a:t>
            </a:r>
          </a:p>
          <a:p>
            <a:pPr algn="ctr">
              <a:lnSpc>
                <a:spcPts val="1223"/>
              </a:lnSpc>
            </a:pPr>
            <a:r>
              <a:rPr lang="en-US" sz="1019">
                <a:solidFill>
                  <a:srgbClr val="555F69"/>
                </a:solidFill>
                <a:latin typeface="Arial"/>
                <a:ea typeface="Arial"/>
                <a:cs typeface="Arial"/>
                <a:sym typeface="Arial"/>
              </a:rPr>
              <a:t>Three.js WebGL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065276" y="5298186"/>
            <a:ext cx="4727448" cy="4945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30"/>
              </a:lnSpc>
            </a:pPr>
            <a:r>
              <a:rPr lang="en-US" sz="1275" b="true">
                <a:solidFill>
                  <a:srgbClr val="0E2A47"/>
                </a:solidFill>
                <a:latin typeface="Arial Bold"/>
                <a:ea typeface="Arial Bold"/>
                <a:cs typeface="Arial Bold"/>
                <a:sym typeface="Arial Bold"/>
              </a:rPr>
              <a:t>Real-Time Execution Pipeline:</a:t>
            </a:r>
          </a:p>
          <a:p>
            <a:pPr algn="ctr">
              <a:lnSpc>
                <a:spcPts val="1530"/>
              </a:lnSpc>
            </a:pPr>
            <a:r>
              <a:rPr lang="en-US" sz="1275" b="true">
                <a:solidFill>
                  <a:srgbClr val="005A9C"/>
                </a:solidFill>
                <a:latin typeface="Arial Bold"/>
                <a:ea typeface="Arial Bold"/>
                <a:cs typeface="Arial Bold"/>
                <a:sym typeface="Arial Bold"/>
              </a:rPr>
              <a:t>Sense • Simulate • Compute • Master.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859536" y="6111621"/>
            <a:ext cx="5138928" cy="2676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30"/>
              </a:lnSpc>
              <a:spcAft>
                <a:spcPts val="200"/>
              </a:spcAft>
              <a:defRPr sz="1050" b="1">
                <a:solidFill>
                  <a:srgbClr val="00F0FF"/>
                </a:solidFill>
                <a:latin typeface="Arial"/>
              </a:defRPr>
            </a:pPr>
            <a:r>
              <a:t>1. Visual Circuit Input &amp; OpenQASM 3.0 AST</a:t>
            </a:r>
          </a:p>
          <a:p>
            <a:pPr>
              <a:spcAft>
                <a:spcPts val="800"/>
              </a:spcAft>
              <a:defRPr sz="819">
                <a:solidFill>
                  <a:srgbClr val="FFFFFF"/>
                </a:solidFill>
                <a:latin typeface="Arial"/>
              </a:defRPr>
            </a:pPr>
            <a:r>
              <a:t>Visual drag-and-drop interface converts user gate operations directly into hardware-agnostic Abstract Syntax Trees (AST) with real-time validation.</a:t>
            </a:r>
          </a:p>
          <a:p>
            <a:pPr>
              <a:spcAft>
                <a:spcPts val="200"/>
              </a:spcAft>
              <a:defRPr sz="1050" b="1">
                <a:solidFill>
                  <a:srgbClr val="00F0FF"/>
                </a:solidFill>
                <a:latin typeface="Arial"/>
              </a:defRPr>
            </a:pPr>
            <a:r>
              <a:t>2. Multi-Engine Cloud &amp; QPU Dispatch</a:t>
            </a:r>
          </a:p>
          <a:p>
            <a:pPr>
              <a:spcAft>
                <a:spcPts val="800"/>
              </a:spcAft>
              <a:defRPr sz="819">
                <a:solidFill>
                  <a:srgbClr val="FFFFFF"/>
                </a:solidFill>
                <a:latin typeface="Arial"/>
              </a:defRPr>
            </a:pPr>
            <a:r>
              <a:t>Unified orchestrator routes circuits to IBM 156-qubit Heron QPUs (ibm_fez), BlueQubit GPU tensor networks, Qiskit Aer, Google Cirq, or PennyLane.</a:t>
            </a:r>
          </a:p>
          <a:p>
            <a:pPr>
              <a:spcAft>
                <a:spcPts val="200"/>
              </a:spcAft>
              <a:defRPr sz="1050" b="1">
                <a:solidFill>
                  <a:srgbClr val="00F0FF"/>
                </a:solidFill>
                <a:latin typeface="Arial"/>
              </a:defRPr>
            </a:pPr>
            <a:r>
              <a:t>3. GPU-Accelerated 3D Bloch &amp; Matrix Projection</a:t>
            </a:r>
          </a:p>
          <a:p>
            <a:pPr>
              <a:spcAft>
                <a:spcPts val="800"/>
              </a:spcAft>
              <a:defRPr sz="819">
                <a:solidFill>
                  <a:srgbClr val="FFFFFF"/>
                </a:solidFill>
                <a:latin typeface="Arial"/>
              </a:defRPr>
            </a:pPr>
            <a:r>
              <a:t>Three.js WebGL shaders compute statevector transformations in browser threads, rendering real-time Bloch vector trajectories and KaTeX Dirac formulas.</a:t>
            </a:r>
          </a:p>
          <a:p>
            <a:pPr>
              <a:spcAft>
                <a:spcPts val="200"/>
              </a:spcAft>
              <a:defRPr sz="1050" b="1">
                <a:solidFill>
                  <a:srgbClr val="00F0FF"/>
                </a:solidFill>
                <a:latin typeface="Arial"/>
              </a:defRPr>
            </a:pPr>
            <a:r>
              <a:t>4. 76-Book RAG Diagnostic &amp; Multilingual Dubbing</a:t>
            </a:r>
          </a:p>
          <a:p>
            <a:pPr>
              <a:spcAft>
                <a:spcPts val="800"/>
              </a:spcAft>
              <a:defRPr sz="819">
                <a:solidFill>
                  <a:srgbClr val="FFFFFF"/>
                </a:solidFill>
                <a:latin typeface="Arial"/>
              </a:defRPr>
            </a:pPr>
            <a:r>
              <a:t>Sub-second Groq LPU engine diagnoses circuit misalignments against 76 textbooks; Sarvam AI synthesizes regional voice dubs with quantum glossary protection.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6688836" y="2006346"/>
            <a:ext cx="5413248" cy="4259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 b="true">
                <a:solidFill>
                  <a:srgbClr val="191E23"/>
                </a:solidFill>
                <a:latin typeface="Arial Bold"/>
                <a:ea typeface="Arial Bold"/>
                <a:cs typeface="Arial Bold"/>
                <a:sym typeface="Arial Bold"/>
              </a:rPr>
              <a:t>SOFTWARE USED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2449556" y="2006346"/>
            <a:ext cx="5138928" cy="4259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 b="true">
                <a:solidFill>
                  <a:srgbClr val="191E23"/>
                </a:solidFill>
                <a:latin typeface="Arial Bold"/>
                <a:ea typeface="Arial Bold"/>
                <a:cs typeface="Arial Bold"/>
                <a:sym typeface="Arial Bold"/>
              </a:rPr>
              <a:t>QUANTUM ENGINES &amp; MATH</a:t>
            </a:r>
          </a:p>
        </p:txBody>
      </p:sp>
      <p:grpSp>
        <p:nvGrpSpPr>
          <p:cNvPr name="Group 35" id="35"/>
          <p:cNvGrpSpPr/>
          <p:nvPr/>
        </p:nvGrpSpPr>
        <p:grpSpPr>
          <a:xfrm rot="0">
            <a:off x="6644640" y="2529840"/>
            <a:ext cx="1277112" cy="563880"/>
            <a:chOff x="0" y="0"/>
            <a:chExt cx="1702816" cy="75184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702816" cy="751840"/>
            </a:xfrm>
            <a:custGeom>
              <a:avLst/>
              <a:gdLst/>
              <a:ahLst/>
              <a:cxnLst/>
              <a:rect r="r" b="b" t="t" l="l"/>
              <a:pathLst>
                <a:path h="751840" w="1702816">
                  <a:moveTo>
                    <a:pt x="0" y="125349"/>
                  </a:moveTo>
                  <a:cubicBezTo>
                    <a:pt x="0" y="56134"/>
                    <a:pt x="56134" y="0"/>
                    <a:pt x="125349" y="0"/>
                  </a:cubicBezTo>
                  <a:lnTo>
                    <a:pt x="1577467" y="0"/>
                  </a:lnTo>
                  <a:cubicBezTo>
                    <a:pt x="1646682" y="0"/>
                    <a:pt x="1702816" y="56134"/>
                    <a:pt x="1702816" y="125349"/>
                  </a:cubicBezTo>
                  <a:lnTo>
                    <a:pt x="1702816" y="626491"/>
                  </a:lnTo>
                  <a:cubicBezTo>
                    <a:pt x="1702816" y="695706"/>
                    <a:pt x="1646682" y="751840"/>
                    <a:pt x="1577467" y="751840"/>
                  </a:cubicBezTo>
                  <a:lnTo>
                    <a:pt x="125349" y="751840"/>
                  </a:lnTo>
                  <a:cubicBezTo>
                    <a:pt x="56134" y="751840"/>
                    <a:pt x="0" y="695706"/>
                    <a:pt x="0" y="626491"/>
                  </a:cubicBezTo>
                  <a:close/>
                </a:path>
              </a:pathLst>
            </a:custGeom>
            <a:solidFill>
              <a:srgbClr val="F0F5FC"/>
            </a:solidFill>
            <a:ln w="15240" cap="sq">
              <a:solidFill>
                <a:srgbClr val="005A9C"/>
              </a:solidFill>
              <a:prstDash val="solid"/>
              <a:miter/>
            </a:ln>
          </p:spPr>
        </p:sp>
      </p:grpSp>
      <p:sp>
        <p:nvSpPr>
          <p:cNvPr name="TextBox 37" id="37"/>
          <p:cNvSpPr txBox="true"/>
          <p:nvPr/>
        </p:nvSpPr>
        <p:spPr>
          <a:xfrm rot="0">
            <a:off x="6716268" y="2605659"/>
            <a:ext cx="1133856" cy="402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50"/>
              </a:lnSpc>
              <a:defRPr sz="850" b="1">
                <a:solidFill>
                  <a:srgbClr val="FFFFFF"/>
                </a:solidFill>
                <a:latin typeface="Arial"/>
              </a:defRPr>
            </a:pPr>
            <a:r>
              <a:t>React 19</a:t>
            </a:r>
          </a:p>
        </p:txBody>
      </p:sp>
      <p:grpSp>
        <p:nvGrpSpPr>
          <p:cNvPr name="Group 38" id="38"/>
          <p:cNvGrpSpPr/>
          <p:nvPr/>
        </p:nvGrpSpPr>
        <p:grpSpPr>
          <a:xfrm rot="0">
            <a:off x="7988808" y="2529840"/>
            <a:ext cx="1277112" cy="563880"/>
            <a:chOff x="0" y="0"/>
            <a:chExt cx="1702816" cy="75184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702816" cy="751840"/>
            </a:xfrm>
            <a:custGeom>
              <a:avLst/>
              <a:gdLst/>
              <a:ahLst/>
              <a:cxnLst/>
              <a:rect r="r" b="b" t="t" l="l"/>
              <a:pathLst>
                <a:path h="751840" w="1702816">
                  <a:moveTo>
                    <a:pt x="0" y="125349"/>
                  </a:moveTo>
                  <a:cubicBezTo>
                    <a:pt x="0" y="56134"/>
                    <a:pt x="56134" y="0"/>
                    <a:pt x="125349" y="0"/>
                  </a:cubicBezTo>
                  <a:lnTo>
                    <a:pt x="1577467" y="0"/>
                  </a:lnTo>
                  <a:cubicBezTo>
                    <a:pt x="1646682" y="0"/>
                    <a:pt x="1702816" y="56134"/>
                    <a:pt x="1702816" y="125349"/>
                  </a:cubicBezTo>
                  <a:lnTo>
                    <a:pt x="1702816" y="626491"/>
                  </a:lnTo>
                  <a:cubicBezTo>
                    <a:pt x="1702816" y="695706"/>
                    <a:pt x="1646682" y="751840"/>
                    <a:pt x="1577467" y="751840"/>
                  </a:cubicBezTo>
                  <a:lnTo>
                    <a:pt x="125349" y="751840"/>
                  </a:lnTo>
                  <a:cubicBezTo>
                    <a:pt x="56134" y="751840"/>
                    <a:pt x="0" y="695706"/>
                    <a:pt x="0" y="626491"/>
                  </a:cubicBezTo>
                  <a:close/>
                </a:path>
              </a:pathLst>
            </a:custGeom>
            <a:solidFill>
              <a:srgbClr val="F0F5FC"/>
            </a:solidFill>
            <a:ln w="15240" cap="sq">
              <a:solidFill>
                <a:srgbClr val="005A9C"/>
              </a:solidFill>
              <a:prstDash val="solid"/>
              <a:miter/>
            </a:ln>
          </p:spPr>
        </p:sp>
      </p:grpSp>
      <p:sp>
        <p:nvSpPr>
          <p:cNvPr name="TextBox 40" id="40"/>
          <p:cNvSpPr txBox="true"/>
          <p:nvPr/>
        </p:nvSpPr>
        <p:spPr>
          <a:xfrm rot="0">
            <a:off x="8060436" y="2605659"/>
            <a:ext cx="1133856" cy="402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50"/>
              </a:lnSpc>
              <a:defRPr sz="850" b="1">
                <a:solidFill>
                  <a:srgbClr val="FFFFFF"/>
                </a:solidFill>
                <a:latin typeface="Arial"/>
              </a:defRPr>
            </a:pPr>
            <a:r>
              <a:t>TypeScript</a:t>
            </a:r>
          </a:p>
        </p:txBody>
      </p:sp>
      <p:grpSp>
        <p:nvGrpSpPr>
          <p:cNvPr name="Group 41" id="41"/>
          <p:cNvGrpSpPr/>
          <p:nvPr/>
        </p:nvGrpSpPr>
        <p:grpSpPr>
          <a:xfrm rot="0">
            <a:off x="9332976" y="2529840"/>
            <a:ext cx="1277112" cy="563880"/>
            <a:chOff x="0" y="0"/>
            <a:chExt cx="1702816" cy="75184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702816" cy="751840"/>
            </a:xfrm>
            <a:custGeom>
              <a:avLst/>
              <a:gdLst/>
              <a:ahLst/>
              <a:cxnLst/>
              <a:rect r="r" b="b" t="t" l="l"/>
              <a:pathLst>
                <a:path h="751840" w="1702816">
                  <a:moveTo>
                    <a:pt x="0" y="125349"/>
                  </a:moveTo>
                  <a:cubicBezTo>
                    <a:pt x="0" y="56134"/>
                    <a:pt x="56134" y="0"/>
                    <a:pt x="125349" y="0"/>
                  </a:cubicBezTo>
                  <a:lnTo>
                    <a:pt x="1577467" y="0"/>
                  </a:lnTo>
                  <a:cubicBezTo>
                    <a:pt x="1646682" y="0"/>
                    <a:pt x="1702816" y="56134"/>
                    <a:pt x="1702816" y="125349"/>
                  </a:cubicBezTo>
                  <a:lnTo>
                    <a:pt x="1702816" y="626491"/>
                  </a:lnTo>
                  <a:cubicBezTo>
                    <a:pt x="1702816" y="695706"/>
                    <a:pt x="1646682" y="751840"/>
                    <a:pt x="1577467" y="751840"/>
                  </a:cubicBezTo>
                  <a:lnTo>
                    <a:pt x="125349" y="751840"/>
                  </a:lnTo>
                  <a:cubicBezTo>
                    <a:pt x="56134" y="751840"/>
                    <a:pt x="0" y="695706"/>
                    <a:pt x="0" y="626491"/>
                  </a:cubicBezTo>
                  <a:close/>
                </a:path>
              </a:pathLst>
            </a:custGeom>
            <a:solidFill>
              <a:srgbClr val="F0F5FC"/>
            </a:solidFill>
            <a:ln w="15240" cap="sq">
              <a:solidFill>
                <a:srgbClr val="005A9C"/>
              </a:solidFill>
              <a:prstDash val="solid"/>
              <a:miter/>
            </a:ln>
          </p:spPr>
        </p:sp>
      </p:grpSp>
      <p:sp>
        <p:nvSpPr>
          <p:cNvPr name="TextBox 43" id="43"/>
          <p:cNvSpPr txBox="true"/>
          <p:nvPr/>
        </p:nvSpPr>
        <p:spPr>
          <a:xfrm rot="0">
            <a:off x="9404604" y="2605659"/>
            <a:ext cx="1133856" cy="402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50"/>
              </a:lnSpc>
              <a:defRPr sz="850" b="1">
                <a:solidFill>
                  <a:srgbClr val="FFFFFF"/>
                </a:solidFill>
                <a:latin typeface="Arial"/>
              </a:defRPr>
            </a:pPr>
            <a:r>
              <a:t>Three.js WebGL</a:t>
            </a:r>
          </a:p>
        </p:txBody>
      </p:sp>
      <p:grpSp>
        <p:nvGrpSpPr>
          <p:cNvPr name="Group 44" id="44"/>
          <p:cNvGrpSpPr/>
          <p:nvPr/>
        </p:nvGrpSpPr>
        <p:grpSpPr>
          <a:xfrm rot="0">
            <a:off x="10677144" y="2529840"/>
            <a:ext cx="1277112" cy="563880"/>
            <a:chOff x="0" y="0"/>
            <a:chExt cx="1702816" cy="75184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702816" cy="751840"/>
            </a:xfrm>
            <a:custGeom>
              <a:avLst/>
              <a:gdLst/>
              <a:ahLst/>
              <a:cxnLst/>
              <a:rect r="r" b="b" t="t" l="l"/>
              <a:pathLst>
                <a:path h="751840" w="1702816">
                  <a:moveTo>
                    <a:pt x="0" y="125349"/>
                  </a:moveTo>
                  <a:cubicBezTo>
                    <a:pt x="0" y="56134"/>
                    <a:pt x="56134" y="0"/>
                    <a:pt x="125349" y="0"/>
                  </a:cubicBezTo>
                  <a:lnTo>
                    <a:pt x="1577467" y="0"/>
                  </a:lnTo>
                  <a:cubicBezTo>
                    <a:pt x="1646682" y="0"/>
                    <a:pt x="1702816" y="56134"/>
                    <a:pt x="1702816" y="125349"/>
                  </a:cubicBezTo>
                  <a:lnTo>
                    <a:pt x="1702816" y="626491"/>
                  </a:lnTo>
                  <a:cubicBezTo>
                    <a:pt x="1702816" y="695706"/>
                    <a:pt x="1646682" y="751840"/>
                    <a:pt x="1577467" y="751840"/>
                  </a:cubicBezTo>
                  <a:lnTo>
                    <a:pt x="125349" y="751840"/>
                  </a:lnTo>
                  <a:cubicBezTo>
                    <a:pt x="56134" y="751840"/>
                    <a:pt x="0" y="695706"/>
                    <a:pt x="0" y="626491"/>
                  </a:cubicBezTo>
                  <a:close/>
                </a:path>
              </a:pathLst>
            </a:custGeom>
            <a:solidFill>
              <a:srgbClr val="F0F5FC"/>
            </a:solidFill>
            <a:ln w="15240" cap="sq">
              <a:solidFill>
                <a:srgbClr val="005A9C"/>
              </a:solidFill>
              <a:prstDash val="solid"/>
              <a:miter/>
            </a:ln>
          </p:spPr>
        </p:sp>
      </p:grpSp>
      <p:sp>
        <p:nvSpPr>
          <p:cNvPr name="TextBox 46" id="46"/>
          <p:cNvSpPr txBox="true"/>
          <p:nvPr/>
        </p:nvSpPr>
        <p:spPr>
          <a:xfrm rot="0">
            <a:off x="10748772" y="2605659"/>
            <a:ext cx="1133856" cy="402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50"/>
              </a:lnSpc>
              <a:defRPr sz="850" b="1">
                <a:solidFill>
                  <a:srgbClr val="FFFFFF"/>
                </a:solidFill>
                <a:latin typeface="Arial"/>
              </a:defRPr>
            </a:pPr>
            <a:r>
              <a:t>Python 3.12</a:t>
            </a:r>
          </a:p>
        </p:txBody>
      </p:sp>
      <p:grpSp>
        <p:nvGrpSpPr>
          <p:cNvPr name="Group 47" id="47"/>
          <p:cNvGrpSpPr/>
          <p:nvPr/>
        </p:nvGrpSpPr>
        <p:grpSpPr>
          <a:xfrm rot="0">
            <a:off x="12405360" y="2529840"/>
            <a:ext cx="1277112" cy="563880"/>
            <a:chOff x="0" y="0"/>
            <a:chExt cx="1702816" cy="75184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702816" cy="751840"/>
            </a:xfrm>
            <a:custGeom>
              <a:avLst/>
              <a:gdLst/>
              <a:ahLst/>
              <a:cxnLst/>
              <a:rect r="r" b="b" t="t" l="l"/>
              <a:pathLst>
                <a:path h="751840" w="1702816">
                  <a:moveTo>
                    <a:pt x="0" y="125349"/>
                  </a:moveTo>
                  <a:cubicBezTo>
                    <a:pt x="0" y="56134"/>
                    <a:pt x="56134" y="0"/>
                    <a:pt x="125349" y="0"/>
                  </a:cubicBezTo>
                  <a:lnTo>
                    <a:pt x="1577467" y="0"/>
                  </a:lnTo>
                  <a:cubicBezTo>
                    <a:pt x="1646682" y="0"/>
                    <a:pt x="1702816" y="56134"/>
                    <a:pt x="1702816" y="125349"/>
                  </a:cubicBezTo>
                  <a:lnTo>
                    <a:pt x="1702816" y="626491"/>
                  </a:lnTo>
                  <a:cubicBezTo>
                    <a:pt x="1702816" y="695706"/>
                    <a:pt x="1646682" y="751840"/>
                    <a:pt x="1577467" y="751840"/>
                  </a:cubicBezTo>
                  <a:lnTo>
                    <a:pt x="125349" y="751840"/>
                  </a:lnTo>
                  <a:cubicBezTo>
                    <a:pt x="56134" y="751840"/>
                    <a:pt x="0" y="695706"/>
                    <a:pt x="0" y="626491"/>
                  </a:cubicBezTo>
                  <a:close/>
                </a:path>
              </a:pathLst>
            </a:custGeom>
            <a:solidFill>
              <a:srgbClr val="EBFAF0"/>
            </a:solidFill>
            <a:ln w="15240" cap="sq">
              <a:solidFill>
                <a:srgbClr val="1E7E34"/>
              </a:solidFill>
              <a:prstDash val="solid"/>
              <a:miter/>
            </a:ln>
          </p:spPr>
        </p:sp>
      </p:grpSp>
      <p:sp>
        <p:nvSpPr>
          <p:cNvPr name="TextBox 49" id="49"/>
          <p:cNvSpPr txBox="true"/>
          <p:nvPr/>
        </p:nvSpPr>
        <p:spPr>
          <a:xfrm rot="0">
            <a:off x="12476988" y="2605659"/>
            <a:ext cx="1133856" cy="402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50"/>
              </a:lnSpc>
              <a:defRPr sz="850" b="1">
                <a:solidFill>
                  <a:srgbClr val="FFFFFF"/>
                </a:solidFill>
                <a:latin typeface="Arial"/>
              </a:defRPr>
            </a:pPr>
            <a:r>
              <a:t>IBM 156Q Heron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13749528" y="2529840"/>
            <a:ext cx="1277112" cy="563880"/>
            <a:chOff x="0" y="0"/>
            <a:chExt cx="1702816" cy="75184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702816" cy="751840"/>
            </a:xfrm>
            <a:custGeom>
              <a:avLst/>
              <a:gdLst/>
              <a:ahLst/>
              <a:cxnLst/>
              <a:rect r="r" b="b" t="t" l="l"/>
              <a:pathLst>
                <a:path h="751840" w="1702816">
                  <a:moveTo>
                    <a:pt x="0" y="125349"/>
                  </a:moveTo>
                  <a:cubicBezTo>
                    <a:pt x="0" y="56134"/>
                    <a:pt x="56134" y="0"/>
                    <a:pt x="125349" y="0"/>
                  </a:cubicBezTo>
                  <a:lnTo>
                    <a:pt x="1577467" y="0"/>
                  </a:lnTo>
                  <a:cubicBezTo>
                    <a:pt x="1646682" y="0"/>
                    <a:pt x="1702816" y="56134"/>
                    <a:pt x="1702816" y="125349"/>
                  </a:cubicBezTo>
                  <a:lnTo>
                    <a:pt x="1702816" y="626491"/>
                  </a:lnTo>
                  <a:cubicBezTo>
                    <a:pt x="1702816" y="695706"/>
                    <a:pt x="1646682" y="751840"/>
                    <a:pt x="1577467" y="751840"/>
                  </a:cubicBezTo>
                  <a:lnTo>
                    <a:pt x="125349" y="751840"/>
                  </a:lnTo>
                  <a:cubicBezTo>
                    <a:pt x="56134" y="751840"/>
                    <a:pt x="0" y="695706"/>
                    <a:pt x="0" y="626491"/>
                  </a:cubicBezTo>
                  <a:close/>
                </a:path>
              </a:pathLst>
            </a:custGeom>
            <a:solidFill>
              <a:srgbClr val="EBFAF0"/>
            </a:solidFill>
            <a:ln w="15240" cap="sq">
              <a:solidFill>
                <a:srgbClr val="1E7E34"/>
              </a:solidFill>
              <a:prstDash val="solid"/>
              <a:miter/>
            </a:ln>
          </p:spPr>
        </p:sp>
      </p:grpSp>
      <p:sp>
        <p:nvSpPr>
          <p:cNvPr name="TextBox 52" id="52"/>
          <p:cNvSpPr txBox="true"/>
          <p:nvPr/>
        </p:nvSpPr>
        <p:spPr>
          <a:xfrm rot="0">
            <a:off x="13821156" y="2605659"/>
            <a:ext cx="1133856" cy="402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50"/>
              </a:lnSpc>
              <a:defRPr sz="850" b="1">
                <a:solidFill>
                  <a:srgbClr val="FFFFFF"/>
                </a:solidFill>
                <a:latin typeface="Arial"/>
              </a:defRPr>
            </a:pPr>
            <a:r>
              <a:t>BlueQubit GPU</a:t>
            </a:r>
          </a:p>
        </p:txBody>
      </p:sp>
      <p:grpSp>
        <p:nvGrpSpPr>
          <p:cNvPr name="Group 53" id="53"/>
          <p:cNvGrpSpPr/>
          <p:nvPr/>
        </p:nvGrpSpPr>
        <p:grpSpPr>
          <a:xfrm rot="0">
            <a:off x="15093696" y="2529840"/>
            <a:ext cx="1277112" cy="563880"/>
            <a:chOff x="0" y="0"/>
            <a:chExt cx="1702816" cy="75184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702816" cy="751840"/>
            </a:xfrm>
            <a:custGeom>
              <a:avLst/>
              <a:gdLst/>
              <a:ahLst/>
              <a:cxnLst/>
              <a:rect r="r" b="b" t="t" l="l"/>
              <a:pathLst>
                <a:path h="751840" w="1702816">
                  <a:moveTo>
                    <a:pt x="0" y="125349"/>
                  </a:moveTo>
                  <a:cubicBezTo>
                    <a:pt x="0" y="56134"/>
                    <a:pt x="56134" y="0"/>
                    <a:pt x="125349" y="0"/>
                  </a:cubicBezTo>
                  <a:lnTo>
                    <a:pt x="1577467" y="0"/>
                  </a:lnTo>
                  <a:cubicBezTo>
                    <a:pt x="1646682" y="0"/>
                    <a:pt x="1702816" y="56134"/>
                    <a:pt x="1702816" y="125349"/>
                  </a:cubicBezTo>
                  <a:lnTo>
                    <a:pt x="1702816" y="626491"/>
                  </a:lnTo>
                  <a:cubicBezTo>
                    <a:pt x="1702816" y="695706"/>
                    <a:pt x="1646682" y="751840"/>
                    <a:pt x="1577467" y="751840"/>
                  </a:cubicBezTo>
                  <a:lnTo>
                    <a:pt x="125349" y="751840"/>
                  </a:lnTo>
                  <a:cubicBezTo>
                    <a:pt x="56134" y="751840"/>
                    <a:pt x="0" y="695706"/>
                    <a:pt x="0" y="626491"/>
                  </a:cubicBezTo>
                  <a:close/>
                </a:path>
              </a:pathLst>
            </a:custGeom>
            <a:solidFill>
              <a:srgbClr val="EBFAF0"/>
            </a:solidFill>
            <a:ln w="15240" cap="sq">
              <a:solidFill>
                <a:srgbClr val="1E7E34"/>
              </a:solidFill>
              <a:prstDash val="solid"/>
              <a:miter/>
            </a:ln>
          </p:spPr>
        </p:sp>
      </p:grpSp>
      <p:sp>
        <p:nvSpPr>
          <p:cNvPr name="TextBox 55" id="55"/>
          <p:cNvSpPr txBox="true"/>
          <p:nvPr/>
        </p:nvSpPr>
        <p:spPr>
          <a:xfrm rot="0">
            <a:off x="15165324" y="2605659"/>
            <a:ext cx="1133856" cy="402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50"/>
              </a:lnSpc>
              <a:defRPr sz="850" b="1">
                <a:solidFill>
                  <a:srgbClr val="FFFFFF"/>
                </a:solidFill>
                <a:latin typeface="Arial"/>
              </a:defRPr>
            </a:pPr>
            <a:r>
              <a:t>Qiskit Aer 1.0</a:t>
            </a:r>
          </a:p>
        </p:txBody>
      </p:sp>
      <p:grpSp>
        <p:nvGrpSpPr>
          <p:cNvPr name="Group 56" id="56"/>
          <p:cNvGrpSpPr/>
          <p:nvPr/>
        </p:nvGrpSpPr>
        <p:grpSpPr>
          <a:xfrm rot="0">
            <a:off x="16437864" y="2529840"/>
            <a:ext cx="1277112" cy="563880"/>
            <a:chOff x="0" y="0"/>
            <a:chExt cx="1702816" cy="751840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1702816" cy="751840"/>
            </a:xfrm>
            <a:custGeom>
              <a:avLst/>
              <a:gdLst/>
              <a:ahLst/>
              <a:cxnLst/>
              <a:rect r="r" b="b" t="t" l="l"/>
              <a:pathLst>
                <a:path h="751840" w="1702816">
                  <a:moveTo>
                    <a:pt x="0" y="125349"/>
                  </a:moveTo>
                  <a:cubicBezTo>
                    <a:pt x="0" y="56134"/>
                    <a:pt x="56134" y="0"/>
                    <a:pt x="125349" y="0"/>
                  </a:cubicBezTo>
                  <a:lnTo>
                    <a:pt x="1577467" y="0"/>
                  </a:lnTo>
                  <a:cubicBezTo>
                    <a:pt x="1646682" y="0"/>
                    <a:pt x="1702816" y="56134"/>
                    <a:pt x="1702816" y="125349"/>
                  </a:cubicBezTo>
                  <a:lnTo>
                    <a:pt x="1702816" y="626491"/>
                  </a:lnTo>
                  <a:cubicBezTo>
                    <a:pt x="1702816" y="695706"/>
                    <a:pt x="1646682" y="751840"/>
                    <a:pt x="1577467" y="751840"/>
                  </a:cubicBezTo>
                  <a:lnTo>
                    <a:pt x="125349" y="751840"/>
                  </a:lnTo>
                  <a:cubicBezTo>
                    <a:pt x="56134" y="751840"/>
                    <a:pt x="0" y="695706"/>
                    <a:pt x="0" y="626491"/>
                  </a:cubicBezTo>
                  <a:close/>
                </a:path>
              </a:pathLst>
            </a:custGeom>
            <a:solidFill>
              <a:srgbClr val="EBFAF0"/>
            </a:solidFill>
            <a:ln w="15240" cap="sq">
              <a:solidFill>
                <a:srgbClr val="1E7E34"/>
              </a:solidFill>
              <a:prstDash val="solid"/>
              <a:miter/>
            </a:ln>
          </p:spPr>
        </p:sp>
      </p:grpSp>
      <p:sp>
        <p:nvSpPr>
          <p:cNvPr name="TextBox 58" id="58"/>
          <p:cNvSpPr txBox="true"/>
          <p:nvPr/>
        </p:nvSpPr>
        <p:spPr>
          <a:xfrm rot="0">
            <a:off x="16509492" y="2605659"/>
            <a:ext cx="1133856" cy="402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50"/>
              </a:lnSpc>
              <a:defRPr sz="850" b="1">
                <a:solidFill>
                  <a:srgbClr val="FFFFFF"/>
                </a:solidFill>
                <a:latin typeface="Arial"/>
              </a:defRPr>
            </a:pPr>
            <a:r>
              <a:t>Groq LPU</a:t>
            </a:r>
          </a:p>
        </p:txBody>
      </p:sp>
      <p:pic>
        <p:nvPicPr>
          <p:cNvPr id="59" name="Picture 58" descr="slide3_architecture_pipelin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0" y="3154680"/>
            <a:ext cx="11155680" cy="68122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086100" y="246888"/>
            <a:ext cx="11795760" cy="1165860"/>
            <a:chOff x="0" y="0"/>
            <a:chExt cx="15727680" cy="15544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5727680" cy="1554480"/>
            </a:xfrm>
            <a:custGeom>
              <a:avLst/>
              <a:gdLst/>
              <a:ahLst/>
              <a:cxnLst/>
              <a:rect r="r" b="b" t="t" l="l"/>
              <a:pathLst>
                <a:path h="1554480" w="15727680">
                  <a:moveTo>
                    <a:pt x="0" y="0"/>
                  </a:moveTo>
                  <a:lnTo>
                    <a:pt x="15727680" y="0"/>
                  </a:lnTo>
                  <a:lnTo>
                    <a:pt x="1572768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7142" r="0" b="-14714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85725"/>
              <a:ext cx="15727680" cy="1640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399"/>
                </a:lnSpc>
              </a:pPr>
              <a:r>
                <a:rPr lang="en-US" sz="4499" b="true">
                  <a:solidFill>
                    <a:srgbClr val="0E2A47"/>
                  </a:solidFill>
                  <a:latin typeface="Times New Roman MT Bold"/>
                  <a:ea typeface="Times New Roman MT Bold"/>
                  <a:cs typeface="Times New Roman MT Bold"/>
                  <a:sym typeface="Times New Roman MT Bold"/>
                </a:rPr>
                <a:t>FEASIBILITY AND VIABILITY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29590" y="310134"/>
            <a:ext cx="2438400" cy="1107948"/>
            <a:chOff x="0" y="0"/>
            <a:chExt cx="3251200" cy="1477264"/>
          </a:xfrm>
        </p:grpSpPr>
        <p:sp>
          <p:nvSpPr>
            <p:cNvPr name="Freeform 6" id="6" descr="Your startup LOGO"/>
            <p:cNvSpPr/>
            <p:nvPr/>
          </p:nvSpPr>
          <p:spPr>
            <a:xfrm flipH="false" flipV="false" rot="0">
              <a:off x="0" y="0"/>
              <a:ext cx="3251200" cy="1477264"/>
            </a:xfrm>
            <a:custGeom>
              <a:avLst/>
              <a:gdLst/>
              <a:ahLst/>
              <a:cxnLst/>
              <a:rect r="r" b="b" t="t" l="l"/>
              <a:pathLst>
                <a:path h="1477264" w="3251200">
                  <a:moveTo>
                    <a:pt x="0" y="738632"/>
                  </a:moveTo>
                  <a:cubicBezTo>
                    <a:pt x="0" y="330708"/>
                    <a:pt x="727837" y="0"/>
                    <a:pt x="1625600" y="0"/>
                  </a:cubicBezTo>
                  <a:cubicBezTo>
                    <a:pt x="2523363" y="0"/>
                    <a:pt x="3251200" y="330708"/>
                    <a:pt x="3251200" y="738632"/>
                  </a:cubicBezTo>
                  <a:cubicBezTo>
                    <a:pt x="3251200" y="1146556"/>
                    <a:pt x="2523363" y="1477264"/>
                    <a:pt x="1625600" y="1477264"/>
                  </a:cubicBezTo>
                  <a:cubicBezTo>
                    <a:pt x="727837" y="1477264"/>
                    <a:pt x="0" y="1146556"/>
                    <a:pt x="0" y="738632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6A329F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3251200" cy="149631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91E2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GITWOLVES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5623560" y="2221992"/>
            <a:ext cx="342900" cy="28575"/>
            <a:chOff x="0" y="0"/>
            <a:chExt cx="457200" cy="381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57200" cy="38100"/>
            </a:xfrm>
            <a:custGeom>
              <a:avLst/>
              <a:gdLst/>
              <a:ahLst/>
              <a:cxnLst/>
              <a:rect r="r" b="b" t="t" l="l"/>
              <a:pathLst>
                <a:path h="38100" w="457200">
                  <a:moveTo>
                    <a:pt x="0" y="0"/>
                  </a:moveTo>
                  <a:lnTo>
                    <a:pt x="457200" y="0"/>
                  </a:lnTo>
                  <a:lnTo>
                    <a:pt x="4572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2980B9"/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4183380" y="2221992"/>
            <a:ext cx="274320" cy="28575"/>
            <a:chOff x="0" y="0"/>
            <a:chExt cx="365760" cy="381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365760" cy="38100"/>
            </a:xfrm>
            <a:custGeom>
              <a:avLst/>
              <a:gdLst/>
              <a:ahLst/>
              <a:cxnLst/>
              <a:rect r="r" b="b" t="t" l="l"/>
              <a:pathLst>
                <a:path h="38100" w="365760">
                  <a:moveTo>
                    <a:pt x="0" y="0"/>
                  </a:moveTo>
                  <a:lnTo>
                    <a:pt x="365760" y="0"/>
                  </a:lnTo>
                  <a:lnTo>
                    <a:pt x="36576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2980B9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4446270" y="1840230"/>
            <a:ext cx="1737360" cy="777240"/>
            <a:chOff x="0" y="0"/>
            <a:chExt cx="2316480" cy="103632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2316480" cy="1036320"/>
            </a:xfrm>
            <a:custGeom>
              <a:avLst/>
              <a:gdLst/>
              <a:ahLst/>
              <a:cxnLst/>
              <a:rect r="r" b="b" t="t" l="l"/>
              <a:pathLst>
                <a:path h="1036320" w="2316480">
                  <a:moveTo>
                    <a:pt x="0" y="172720"/>
                  </a:moveTo>
                  <a:cubicBezTo>
                    <a:pt x="0" y="77343"/>
                    <a:pt x="77343" y="0"/>
                    <a:pt x="172720" y="0"/>
                  </a:cubicBezTo>
                  <a:lnTo>
                    <a:pt x="2143760" y="0"/>
                  </a:lnTo>
                  <a:cubicBezTo>
                    <a:pt x="2239137" y="0"/>
                    <a:pt x="2316480" y="77343"/>
                    <a:pt x="2316480" y="172720"/>
                  </a:cubicBezTo>
                  <a:lnTo>
                    <a:pt x="2316480" y="863600"/>
                  </a:lnTo>
                  <a:cubicBezTo>
                    <a:pt x="2316480" y="958977"/>
                    <a:pt x="2239137" y="1036320"/>
                    <a:pt x="2143760" y="1036320"/>
                  </a:cubicBezTo>
                  <a:lnTo>
                    <a:pt x="172720" y="1036320"/>
                  </a:lnTo>
                  <a:cubicBezTo>
                    <a:pt x="77343" y="1036320"/>
                    <a:pt x="0" y="958977"/>
                    <a:pt x="0" y="863600"/>
                  </a:cubicBezTo>
                  <a:close/>
                </a:path>
              </a:pathLst>
            </a:custGeom>
            <a:solidFill>
              <a:srgbClr val="FFFFFF"/>
            </a:solidFill>
            <a:ln w="22860" cap="sq">
              <a:solidFill>
                <a:srgbClr val="2980B9"/>
              </a:solidFill>
              <a:prstDash val="solid"/>
              <a:miter/>
            </a:ln>
          </p:spPr>
        </p:sp>
      </p:grpSp>
      <p:sp>
        <p:nvSpPr>
          <p:cNvPr name="TextBox 26" id="26"/>
          <p:cNvSpPr txBox="true"/>
          <p:nvPr/>
        </p:nvSpPr>
        <p:spPr>
          <a:xfrm rot="0">
            <a:off x="4521708" y="1924050"/>
            <a:ext cx="1586484" cy="47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 b="true">
                <a:solidFill>
                  <a:srgbClr val="191E23"/>
                </a:solidFill>
                <a:latin typeface="Arial Bold"/>
                <a:ea typeface="Arial Bold"/>
                <a:cs typeface="Arial Bold"/>
                <a:sym typeface="Arial Bold"/>
              </a:rPr>
              <a:t>Technical</a:t>
            </a:r>
          </a:p>
          <a:p>
            <a:pPr algn="ctr">
              <a:lnSpc>
                <a:spcPts val="1800"/>
              </a:lnSpc>
            </a:pPr>
            <a:r>
              <a:rPr lang="en-US" sz="1500" b="true">
                <a:solidFill>
                  <a:srgbClr val="191E23"/>
                </a:solidFill>
                <a:latin typeface="Arial Bold"/>
                <a:ea typeface="Arial Bold"/>
                <a:cs typeface="Arial Bold"/>
                <a:sym typeface="Arial Bold"/>
              </a:rPr>
              <a:t>Challenges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541020" y="1775460"/>
            <a:ext cx="3649980" cy="906780"/>
            <a:chOff x="0" y="0"/>
            <a:chExt cx="4866640" cy="12090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4866640" cy="1209040"/>
            </a:xfrm>
            <a:custGeom>
              <a:avLst/>
              <a:gdLst/>
              <a:ahLst/>
              <a:cxnLst/>
              <a:rect r="r" b="b" t="t" l="l"/>
              <a:pathLst>
                <a:path h="1209040" w="4866640">
                  <a:moveTo>
                    <a:pt x="0" y="201549"/>
                  </a:moveTo>
                  <a:cubicBezTo>
                    <a:pt x="0" y="90170"/>
                    <a:pt x="90170" y="0"/>
                    <a:pt x="201549" y="0"/>
                  </a:cubicBezTo>
                  <a:lnTo>
                    <a:pt x="4665091" y="0"/>
                  </a:lnTo>
                  <a:cubicBezTo>
                    <a:pt x="4776343" y="0"/>
                    <a:pt x="4866640" y="90170"/>
                    <a:pt x="4866640" y="201549"/>
                  </a:cubicBezTo>
                  <a:lnTo>
                    <a:pt x="4866640" y="1007491"/>
                  </a:lnTo>
                  <a:cubicBezTo>
                    <a:pt x="4866640" y="1118743"/>
                    <a:pt x="4776470" y="1209040"/>
                    <a:pt x="4665091" y="1209040"/>
                  </a:cubicBezTo>
                  <a:lnTo>
                    <a:pt x="201549" y="1209040"/>
                  </a:lnTo>
                  <a:cubicBezTo>
                    <a:pt x="90170" y="1209040"/>
                    <a:pt x="0" y="1118870"/>
                    <a:pt x="0" y="1007491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2980B9"/>
              </a:solidFill>
              <a:prstDash val="solid"/>
              <a:miter/>
            </a:ln>
          </p:spPr>
        </p:sp>
      </p:grpSp>
      <p:sp>
        <p:nvSpPr>
          <p:cNvPr name="TextBox 29" id="29"/>
          <p:cNvSpPr txBox="true"/>
          <p:nvPr/>
        </p:nvSpPr>
        <p:spPr>
          <a:xfrm rot="0">
            <a:off x="653796" y="1818513"/>
            <a:ext cx="3424428" cy="82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83"/>
              </a:lnSpc>
              <a:defRPr sz="800">
                <a:solidFill>
                  <a:srgbClr val="FFFFFF"/>
                </a:solidFill>
                <a:latin typeface="Arial"/>
              </a:defRPr>
            </a:pPr>
            <a:r>
              <a:t>• Exponential Qubit Memory Scaling – Simulating &gt;10 qubits exponentially increases memory. Mitigated by BlueQubit GPU tensor network contraction, matrix product states (MPS), and client-side sparse statevector caching supporting up to 16 qubits locally and 156 qubits on IBM Heron QPU.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5623560" y="3319272"/>
            <a:ext cx="342900" cy="28575"/>
            <a:chOff x="0" y="0"/>
            <a:chExt cx="457200" cy="381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457200" cy="38100"/>
            </a:xfrm>
            <a:custGeom>
              <a:avLst/>
              <a:gdLst/>
              <a:ahLst/>
              <a:cxnLst/>
              <a:rect r="r" b="b" t="t" l="l"/>
              <a:pathLst>
                <a:path h="38100" w="457200">
                  <a:moveTo>
                    <a:pt x="0" y="0"/>
                  </a:moveTo>
                  <a:lnTo>
                    <a:pt x="457200" y="0"/>
                  </a:lnTo>
                  <a:lnTo>
                    <a:pt x="4572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16A085"/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4183380" y="3319272"/>
            <a:ext cx="274320" cy="28575"/>
            <a:chOff x="0" y="0"/>
            <a:chExt cx="365760" cy="381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365760" cy="38100"/>
            </a:xfrm>
            <a:custGeom>
              <a:avLst/>
              <a:gdLst/>
              <a:ahLst/>
              <a:cxnLst/>
              <a:rect r="r" b="b" t="t" l="l"/>
              <a:pathLst>
                <a:path h="38100" w="365760">
                  <a:moveTo>
                    <a:pt x="0" y="0"/>
                  </a:moveTo>
                  <a:lnTo>
                    <a:pt x="365760" y="0"/>
                  </a:lnTo>
                  <a:lnTo>
                    <a:pt x="36576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16A085"/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4446270" y="2937510"/>
            <a:ext cx="1737360" cy="777240"/>
            <a:chOff x="0" y="0"/>
            <a:chExt cx="2316480" cy="103632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2316480" cy="1036320"/>
            </a:xfrm>
            <a:custGeom>
              <a:avLst/>
              <a:gdLst/>
              <a:ahLst/>
              <a:cxnLst/>
              <a:rect r="r" b="b" t="t" l="l"/>
              <a:pathLst>
                <a:path h="1036320" w="2316480">
                  <a:moveTo>
                    <a:pt x="0" y="172720"/>
                  </a:moveTo>
                  <a:cubicBezTo>
                    <a:pt x="0" y="77343"/>
                    <a:pt x="77343" y="0"/>
                    <a:pt x="172720" y="0"/>
                  </a:cubicBezTo>
                  <a:lnTo>
                    <a:pt x="2143760" y="0"/>
                  </a:lnTo>
                  <a:cubicBezTo>
                    <a:pt x="2239137" y="0"/>
                    <a:pt x="2316480" y="77343"/>
                    <a:pt x="2316480" y="172720"/>
                  </a:cubicBezTo>
                  <a:lnTo>
                    <a:pt x="2316480" y="863600"/>
                  </a:lnTo>
                  <a:cubicBezTo>
                    <a:pt x="2316480" y="958977"/>
                    <a:pt x="2239137" y="1036320"/>
                    <a:pt x="2143760" y="1036320"/>
                  </a:cubicBezTo>
                  <a:lnTo>
                    <a:pt x="172720" y="1036320"/>
                  </a:lnTo>
                  <a:cubicBezTo>
                    <a:pt x="77343" y="1036320"/>
                    <a:pt x="0" y="958977"/>
                    <a:pt x="0" y="863600"/>
                  </a:cubicBezTo>
                  <a:close/>
                </a:path>
              </a:pathLst>
            </a:custGeom>
            <a:solidFill>
              <a:srgbClr val="FFFFFF"/>
            </a:solidFill>
            <a:ln w="22860" cap="sq">
              <a:solidFill>
                <a:srgbClr val="16A085"/>
              </a:solidFill>
              <a:prstDash val="solid"/>
              <a:miter/>
            </a:ln>
          </p:spPr>
        </p:sp>
      </p:grpSp>
      <p:sp>
        <p:nvSpPr>
          <p:cNvPr name="TextBox 36" id="36"/>
          <p:cNvSpPr txBox="true"/>
          <p:nvPr/>
        </p:nvSpPr>
        <p:spPr>
          <a:xfrm rot="0">
            <a:off x="4521708" y="3021330"/>
            <a:ext cx="1586484" cy="47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 b="true">
                <a:solidFill>
                  <a:srgbClr val="191E23"/>
                </a:solidFill>
                <a:latin typeface="Arial Bold"/>
                <a:ea typeface="Arial Bold"/>
                <a:cs typeface="Arial Bold"/>
                <a:sym typeface="Arial Bold"/>
              </a:rPr>
              <a:t>Data &amp; Software</a:t>
            </a:r>
          </a:p>
          <a:p>
            <a:pPr algn="ctr">
              <a:lnSpc>
                <a:spcPts val="1800"/>
              </a:lnSpc>
            </a:pPr>
            <a:r>
              <a:rPr lang="en-US" sz="1500" b="true">
                <a:solidFill>
                  <a:srgbClr val="191E23"/>
                </a:solidFill>
                <a:latin typeface="Arial Bold"/>
                <a:ea typeface="Arial Bold"/>
                <a:cs typeface="Arial Bold"/>
                <a:sym typeface="Arial Bold"/>
              </a:rPr>
              <a:t>Challenges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541020" y="2872740"/>
            <a:ext cx="3649980" cy="906780"/>
            <a:chOff x="0" y="0"/>
            <a:chExt cx="4866640" cy="120904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4866640" cy="1209040"/>
            </a:xfrm>
            <a:custGeom>
              <a:avLst/>
              <a:gdLst/>
              <a:ahLst/>
              <a:cxnLst/>
              <a:rect r="r" b="b" t="t" l="l"/>
              <a:pathLst>
                <a:path h="1209040" w="4866640">
                  <a:moveTo>
                    <a:pt x="0" y="201549"/>
                  </a:moveTo>
                  <a:cubicBezTo>
                    <a:pt x="0" y="90170"/>
                    <a:pt x="90170" y="0"/>
                    <a:pt x="201549" y="0"/>
                  </a:cubicBezTo>
                  <a:lnTo>
                    <a:pt x="4665091" y="0"/>
                  </a:lnTo>
                  <a:cubicBezTo>
                    <a:pt x="4776343" y="0"/>
                    <a:pt x="4866640" y="90170"/>
                    <a:pt x="4866640" y="201549"/>
                  </a:cubicBezTo>
                  <a:lnTo>
                    <a:pt x="4866640" y="1007491"/>
                  </a:lnTo>
                  <a:cubicBezTo>
                    <a:pt x="4866640" y="1118743"/>
                    <a:pt x="4776470" y="1209040"/>
                    <a:pt x="4665091" y="1209040"/>
                  </a:cubicBezTo>
                  <a:lnTo>
                    <a:pt x="201549" y="1209040"/>
                  </a:lnTo>
                  <a:cubicBezTo>
                    <a:pt x="90170" y="1209040"/>
                    <a:pt x="0" y="1118870"/>
                    <a:pt x="0" y="1007491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16A085"/>
              </a:solidFill>
              <a:prstDash val="solid"/>
              <a:miter/>
            </a:ln>
          </p:spPr>
        </p:sp>
      </p:grpSp>
      <p:sp>
        <p:nvSpPr>
          <p:cNvPr name="TextBox 39" id="39"/>
          <p:cNvSpPr txBox="true"/>
          <p:nvPr/>
        </p:nvSpPr>
        <p:spPr>
          <a:xfrm rot="0">
            <a:off x="653796" y="2915793"/>
            <a:ext cx="3424428" cy="82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83"/>
              </a:lnSpc>
              <a:defRPr sz="800">
                <a:solidFill>
                  <a:srgbClr val="FFFFFF"/>
                </a:solidFill>
                <a:latin typeface="Arial"/>
              </a:defRPr>
            </a:pPr>
            <a:r>
              <a:t>• Quantum SDK Divergence – Divergent representations across Qiskit, Cirq, and PennyLane. Mitigated by universal Abstract Circuit Schema (ACS), OpenQASM 3.0 normalization, and qBraid cross-framework transpilation bridge.</a:t>
            </a:r>
          </a:p>
        </p:txBody>
      </p:sp>
      <p:grpSp>
        <p:nvGrpSpPr>
          <p:cNvPr name="Group 40" id="40"/>
          <p:cNvGrpSpPr/>
          <p:nvPr/>
        </p:nvGrpSpPr>
        <p:grpSpPr>
          <a:xfrm rot="0">
            <a:off x="5623560" y="4416552"/>
            <a:ext cx="342900" cy="28575"/>
            <a:chOff x="0" y="0"/>
            <a:chExt cx="457200" cy="3810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457200" cy="38100"/>
            </a:xfrm>
            <a:custGeom>
              <a:avLst/>
              <a:gdLst/>
              <a:ahLst/>
              <a:cxnLst/>
              <a:rect r="r" b="b" t="t" l="l"/>
              <a:pathLst>
                <a:path h="38100" w="457200">
                  <a:moveTo>
                    <a:pt x="0" y="0"/>
                  </a:moveTo>
                  <a:lnTo>
                    <a:pt x="457200" y="0"/>
                  </a:lnTo>
                  <a:lnTo>
                    <a:pt x="4572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D35400"/>
            </a:solidFill>
          </p:spPr>
        </p:sp>
      </p:grpSp>
      <p:grpSp>
        <p:nvGrpSpPr>
          <p:cNvPr name="Group 42" id="42"/>
          <p:cNvGrpSpPr/>
          <p:nvPr/>
        </p:nvGrpSpPr>
        <p:grpSpPr>
          <a:xfrm rot="0">
            <a:off x="4183380" y="4416552"/>
            <a:ext cx="274320" cy="28575"/>
            <a:chOff x="0" y="0"/>
            <a:chExt cx="365760" cy="3810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365760" cy="38100"/>
            </a:xfrm>
            <a:custGeom>
              <a:avLst/>
              <a:gdLst/>
              <a:ahLst/>
              <a:cxnLst/>
              <a:rect r="r" b="b" t="t" l="l"/>
              <a:pathLst>
                <a:path h="38100" w="365760">
                  <a:moveTo>
                    <a:pt x="0" y="0"/>
                  </a:moveTo>
                  <a:lnTo>
                    <a:pt x="365760" y="0"/>
                  </a:lnTo>
                  <a:lnTo>
                    <a:pt x="36576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D35400"/>
            </a:solid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4446270" y="4034790"/>
            <a:ext cx="1737360" cy="777240"/>
            <a:chOff x="0" y="0"/>
            <a:chExt cx="2316480" cy="103632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2316480" cy="1036320"/>
            </a:xfrm>
            <a:custGeom>
              <a:avLst/>
              <a:gdLst/>
              <a:ahLst/>
              <a:cxnLst/>
              <a:rect r="r" b="b" t="t" l="l"/>
              <a:pathLst>
                <a:path h="1036320" w="2316480">
                  <a:moveTo>
                    <a:pt x="0" y="172720"/>
                  </a:moveTo>
                  <a:cubicBezTo>
                    <a:pt x="0" y="77343"/>
                    <a:pt x="77343" y="0"/>
                    <a:pt x="172720" y="0"/>
                  </a:cubicBezTo>
                  <a:lnTo>
                    <a:pt x="2143760" y="0"/>
                  </a:lnTo>
                  <a:cubicBezTo>
                    <a:pt x="2239137" y="0"/>
                    <a:pt x="2316480" y="77343"/>
                    <a:pt x="2316480" y="172720"/>
                  </a:cubicBezTo>
                  <a:lnTo>
                    <a:pt x="2316480" y="863600"/>
                  </a:lnTo>
                  <a:cubicBezTo>
                    <a:pt x="2316480" y="958977"/>
                    <a:pt x="2239137" y="1036320"/>
                    <a:pt x="2143760" y="1036320"/>
                  </a:cubicBezTo>
                  <a:lnTo>
                    <a:pt x="172720" y="1036320"/>
                  </a:lnTo>
                  <a:cubicBezTo>
                    <a:pt x="77343" y="1036320"/>
                    <a:pt x="0" y="958977"/>
                    <a:pt x="0" y="863600"/>
                  </a:cubicBezTo>
                  <a:close/>
                </a:path>
              </a:pathLst>
            </a:custGeom>
            <a:solidFill>
              <a:srgbClr val="FFFFFF"/>
            </a:solidFill>
            <a:ln w="22860" cap="sq">
              <a:solidFill>
                <a:srgbClr val="D35400"/>
              </a:solidFill>
              <a:prstDash val="solid"/>
              <a:miter/>
            </a:ln>
          </p:spPr>
        </p:sp>
      </p:grpSp>
      <p:sp>
        <p:nvSpPr>
          <p:cNvPr name="TextBox 46" id="46"/>
          <p:cNvSpPr txBox="true"/>
          <p:nvPr/>
        </p:nvSpPr>
        <p:spPr>
          <a:xfrm rot="0">
            <a:off x="4521708" y="4118610"/>
            <a:ext cx="1586484" cy="47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 b="true">
                <a:solidFill>
                  <a:srgbClr val="191E23"/>
                </a:solidFill>
                <a:latin typeface="Arial Bold"/>
                <a:ea typeface="Arial Bold"/>
                <a:cs typeface="Arial Bold"/>
                <a:sym typeface="Arial Bold"/>
              </a:rPr>
              <a:t>Operational</a:t>
            </a:r>
          </a:p>
          <a:p>
            <a:pPr algn="ctr">
              <a:lnSpc>
                <a:spcPts val="1800"/>
              </a:lnSpc>
            </a:pPr>
            <a:r>
              <a:rPr lang="en-US" sz="1500" b="true">
                <a:solidFill>
                  <a:srgbClr val="191E23"/>
                </a:solidFill>
                <a:latin typeface="Arial Bold"/>
                <a:ea typeface="Arial Bold"/>
                <a:cs typeface="Arial Bold"/>
                <a:sym typeface="Arial Bold"/>
              </a:rPr>
              <a:t>Challenges</a:t>
            </a:r>
          </a:p>
        </p:txBody>
      </p:sp>
      <p:grpSp>
        <p:nvGrpSpPr>
          <p:cNvPr name="Group 47" id="47"/>
          <p:cNvGrpSpPr/>
          <p:nvPr/>
        </p:nvGrpSpPr>
        <p:grpSpPr>
          <a:xfrm rot="0">
            <a:off x="541020" y="3970020"/>
            <a:ext cx="3649980" cy="906780"/>
            <a:chOff x="0" y="0"/>
            <a:chExt cx="4866640" cy="120904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4866640" cy="1209040"/>
            </a:xfrm>
            <a:custGeom>
              <a:avLst/>
              <a:gdLst/>
              <a:ahLst/>
              <a:cxnLst/>
              <a:rect r="r" b="b" t="t" l="l"/>
              <a:pathLst>
                <a:path h="1209040" w="4866640">
                  <a:moveTo>
                    <a:pt x="0" y="201549"/>
                  </a:moveTo>
                  <a:cubicBezTo>
                    <a:pt x="0" y="90170"/>
                    <a:pt x="90170" y="0"/>
                    <a:pt x="201549" y="0"/>
                  </a:cubicBezTo>
                  <a:lnTo>
                    <a:pt x="4665091" y="0"/>
                  </a:lnTo>
                  <a:cubicBezTo>
                    <a:pt x="4776343" y="0"/>
                    <a:pt x="4866640" y="90170"/>
                    <a:pt x="4866640" y="201549"/>
                  </a:cubicBezTo>
                  <a:lnTo>
                    <a:pt x="4866640" y="1007491"/>
                  </a:lnTo>
                  <a:cubicBezTo>
                    <a:pt x="4866640" y="1118743"/>
                    <a:pt x="4776470" y="1209040"/>
                    <a:pt x="4665091" y="1209040"/>
                  </a:cubicBezTo>
                  <a:lnTo>
                    <a:pt x="201549" y="1209040"/>
                  </a:lnTo>
                  <a:cubicBezTo>
                    <a:pt x="90170" y="1209040"/>
                    <a:pt x="0" y="1118870"/>
                    <a:pt x="0" y="1007491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D35400"/>
              </a:solidFill>
              <a:prstDash val="solid"/>
              <a:miter/>
            </a:ln>
          </p:spPr>
        </p:sp>
      </p:grpSp>
      <p:sp>
        <p:nvSpPr>
          <p:cNvPr name="TextBox 49" id="49"/>
          <p:cNvSpPr txBox="true"/>
          <p:nvPr/>
        </p:nvSpPr>
        <p:spPr>
          <a:xfrm rot="0">
            <a:off x="653796" y="4013073"/>
            <a:ext cx="3424428" cy="628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83"/>
              </a:lnSpc>
              <a:defRPr sz="800">
                <a:solidFill>
                  <a:srgbClr val="FFFFFF"/>
                </a:solidFill>
                <a:latin typeface="Arial"/>
              </a:defRPr>
            </a:pPr>
            <a:r>
              <a:t>• LLM Hallucinations in Quantum Linear Algebra – Standard LLMs hallucinate non-unitary math. Mitigated by dense vector search across 76 verified textbooks + multi-step chain-of-thought theorem validation, achieving 0.3% hallucination rate.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5623560" y="5513832"/>
            <a:ext cx="342900" cy="28575"/>
            <a:chOff x="0" y="0"/>
            <a:chExt cx="457200" cy="3810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457200" cy="38100"/>
            </a:xfrm>
            <a:custGeom>
              <a:avLst/>
              <a:gdLst/>
              <a:ahLst/>
              <a:cxnLst/>
              <a:rect r="r" b="b" t="t" l="l"/>
              <a:pathLst>
                <a:path h="38100" w="457200">
                  <a:moveTo>
                    <a:pt x="0" y="0"/>
                  </a:moveTo>
                  <a:lnTo>
                    <a:pt x="457200" y="0"/>
                  </a:lnTo>
                  <a:lnTo>
                    <a:pt x="4572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C0392B"/>
            </a:solidFill>
          </p:spPr>
        </p:sp>
      </p:grpSp>
      <p:grpSp>
        <p:nvGrpSpPr>
          <p:cNvPr name="Group 52" id="52"/>
          <p:cNvGrpSpPr/>
          <p:nvPr/>
        </p:nvGrpSpPr>
        <p:grpSpPr>
          <a:xfrm rot="0">
            <a:off x="4183380" y="5513832"/>
            <a:ext cx="274320" cy="28575"/>
            <a:chOff x="0" y="0"/>
            <a:chExt cx="365760" cy="3810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365760" cy="38100"/>
            </a:xfrm>
            <a:custGeom>
              <a:avLst/>
              <a:gdLst/>
              <a:ahLst/>
              <a:cxnLst/>
              <a:rect r="r" b="b" t="t" l="l"/>
              <a:pathLst>
                <a:path h="38100" w="365760">
                  <a:moveTo>
                    <a:pt x="0" y="0"/>
                  </a:moveTo>
                  <a:lnTo>
                    <a:pt x="365760" y="0"/>
                  </a:lnTo>
                  <a:lnTo>
                    <a:pt x="36576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C0392B"/>
            </a:solid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4446270" y="5132070"/>
            <a:ext cx="1737360" cy="777240"/>
            <a:chOff x="0" y="0"/>
            <a:chExt cx="2316480" cy="103632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2316480" cy="1036320"/>
            </a:xfrm>
            <a:custGeom>
              <a:avLst/>
              <a:gdLst/>
              <a:ahLst/>
              <a:cxnLst/>
              <a:rect r="r" b="b" t="t" l="l"/>
              <a:pathLst>
                <a:path h="1036320" w="2316480">
                  <a:moveTo>
                    <a:pt x="0" y="172720"/>
                  </a:moveTo>
                  <a:cubicBezTo>
                    <a:pt x="0" y="77343"/>
                    <a:pt x="77343" y="0"/>
                    <a:pt x="172720" y="0"/>
                  </a:cubicBezTo>
                  <a:lnTo>
                    <a:pt x="2143760" y="0"/>
                  </a:lnTo>
                  <a:cubicBezTo>
                    <a:pt x="2239137" y="0"/>
                    <a:pt x="2316480" y="77343"/>
                    <a:pt x="2316480" y="172720"/>
                  </a:cubicBezTo>
                  <a:lnTo>
                    <a:pt x="2316480" y="863600"/>
                  </a:lnTo>
                  <a:cubicBezTo>
                    <a:pt x="2316480" y="958977"/>
                    <a:pt x="2239137" y="1036320"/>
                    <a:pt x="2143760" y="1036320"/>
                  </a:cubicBezTo>
                  <a:lnTo>
                    <a:pt x="172720" y="1036320"/>
                  </a:lnTo>
                  <a:cubicBezTo>
                    <a:pt x="77343" y="1036320"/>
                    <a:pt x="0" y="958977"/>
                    <a:pt x="0" y="863600"/>
                  </a:cubicBezTo>
                  <a:close/>
                </a:path>
              </a:pathLst>
            </a:custGeom>
            <a:solidFill>
              <a:srgbClr val="FFFFFF"/>
            </a:solidFill>
            <a:ln w="22860" cap="sq">
              <a:solidFill>
                <a:srgbClr val="C0392B"/>
              </a:solidFill>
              <a:prstDash val="solid"/>
              <a:miter/>
            </a:ln>
          </p:spPr>
        </p:sp>
      </p:grpSp>
      <p:sp>
        <p:nvSpPr>
          <p:cNvPr name="TextBox 56" id="56"/>
          <p:cNvSpPr txBox="true"/>
          <p:nvPr/>
        </p:nvSpPr>
        <p:spPr>
          <a:xfrm rot="0">
            <a:off x="4521708" y="5215890"/>
            <a:ext cx="1586484" cy="476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sz="1500" b="true">
                <a:solidFill>
                  <a:srgbClr val="191E23"/>
                </a:solidFill>
                <a:latin typeface="Arial Bold"/>
                <a:ea typeface="Arial Bold"/>
                <a:cs typeface="Arial Bold"/>
                <a:sym typeface="Arial Bold"/>
              </a:rPr>
              <a:t>Browser &amp;</a:t>
            </a:r>
          </a:p>
          <a:p>
            <a:pPr algn="ctr">
              <a:lnSpc>
                <a:spcPts val="1800"/>
              </a:lnSpc>
            </a:pPr>
            <a:r>
              <a:rPr lang="en-US" sz="1500" b="true">
                <a:solidFill>
                  <a:srgbClr val="191E23"/>
                </a:solidFill>
                <a:latin typeface="Arial Bold"/>
                <a:ea typeface="Arial Bold"/>
                <a:cs typeface="Arial Bold"/>
                <a:sym typeface="Arial Bold"/>
              </a:rPr>
              <a:t>Environment</a:t>
            </a:r>
          </a:p>
        </p:txBody>
      </p:sp>
      <p:grpSp>
        <p:nvGrpSpPr>
          <p:cNvPr name="Group 57" id="57"/>
          <p:cNvGrpSpPr/>
          <p:nvPr/>
        </p:nvGrpSpPr>
        <p:grpSpPr>
          <a:xfrm rot="0">
            <a:off x="541020" y="5067300"/>
            <a:ext cx="3649980" cy="906780"/>
            <a:chOff x="0" y="0"/>
            <a:chExt cx="4866640" cy="1209040"/>
          </a:xfrm>
        </p:grpSpPr>
        <p:sp>
          <p:nvSpPr>
            <p:cNvPr name="Freeform 58" id="58"/>
            <p:cNvSpPr/>
            <p:nvPr/>
          </p:nvSpPr>
          <p:spPr>
            <a:xfrm flipH="false" flipV="false" rot="0">
              <a:off x="0" y="0"/>
              <a:ext cx="4866640" cy="1209040"/>
            </a:xfrm>
            <a:custGeom>
              <a:avLst/>
              <a:gdLst/>
              <a:ahLst/>
              <a:cxnLst/>
              <a:rect r="r" b="b" t="t" l="l"/>
              <a:pathLst>
                <a:path h="1209040" w="4866640">
                  <a:moveTo>
                    <a:pt x="0" y="201549"/>
                  </a:moveTo>
                  <a:cubicBezTo>
                    <a:pt x="0" y="90170"/>
                    <a:pt x="90170" y="0"/>
                    <a:pt x="201549" y="0"/>
                  </a:cubicBezTo>
                  <a:lnTo>
                    <a:pt x="4665091" y="0"/>
                  </a:lnTo>
                  <a:cubicBezTo>
                    <a:pt x="4776343" y="0"/>
                    <a:pt x="4866640" y="90170"/>
                    <a:pt x="4866640" y="201549"/>
                  </a:cubicBezTo>
                  <a:lnTo>
                    <a:pt x="4866640" y="1007491"/>
                  </a:lnTo>
                  <a:cubicBezTo>
                    <a:pt x="4866640" y="1118743"/>
                    <a:pt x="4776470" y="1209040"/>
                    <a:pt x="4665091" y="1209040"/>
                  </a:cubicBezTo>
                  <a:lnTo>
                    <a:pt x="201549" y="1209040"/>
                  </a:lnTo>
                  <a:cubicBezTo>
                    <a:pt x="90170" y="1209040"/>
                    <a:pt x="0" y="1118870"/>
                    <a:pt x="0" y="1007491"/>
                  </a:cubicBezTo>
                  <a:close/>
                </a:path>
              </a:pathLst>
            </a:custGeom>
            <a:solidFill>
              <a:srgbClr val="FFFFFF"/>
            </a:solidFill>
            <a:ln w="15240" cap="sq">
              <a:solidFill>
                <a:srgbClr val="C0392B"/>
              </a:solidFill>
              <a:prstDash val="solid"/>
              <a:miter/>
            </a:ln>
          </p:spPr>
        </p:sp>
      </p:grpSp>
      <p:sp>
        <p:nvSpPr>
          <p:cNvPr name="TextBox 59" id="59"/>
          <p:cNvSpPr txBox="true"/>
          <p:nvPr/>
        </p:nvSpPr>
        <p:spPr>
          <a:xfrm rot="0">
            <a:off x="653796" y="5110353"/>
            <a:ext cx="3424428" cy="82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583"/>
              </a:lnSpc>
              <a:defRPr sz="800">
                <a:solidFill>
                  <a:srgbClr val="FFFFFF"/>
                </a:solidFill>
                <a:latin typeface="Arial"/>
              </a:defRPr>
            </a:pPr>
            <a:r>
              <a:t>• Linguistic Divide in Indian Engineering – 70%+ of tier-2/3 students struggle with dense English textbooks. Mitigated by Sarvam AI neural speech with a custom Quantum Glossary layer preserving technical terms in 10+ Indian languages.</a:t>
            </a:r>
          </a:p>
        </p:txBody>
      </p:sp>
      <p:pic>
        <p:nvPicPr>
          <p:cNvPr id="60" name="Picture 59" descr="slide4_empirical_benchmark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1645920"/>
            <a:ext cx="11247120" cy="81381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086100" y="246888"/>
            <a:ext cx="11795760" cy="1165860"/>
            <a:chOff x="0" y="0"/>
            <a:chExt cx="15727680" cy="15544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5727680" cy="1554480"/>
            </a:xfrm>
            <a:custGeom>
              <a:avLst/>
              <a:gdLst/>
              <a:ahLst/>
              <a:cxnLst/>
              <a:rect r="r" b="b" t="t" l="l"/>
              <a:pathLst>
                <a:path h="1554480" w="15727680">
                  <a:moveTo>
                    <a:pt x="0" y="0"/>
                  </a:moveTo>
                  <a:lnTo>
                    <a:pt x="15727680" y="0"/>
                  </a:lnTo>
                  <a:lnTo>
                    <a:pt x="1572768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7142" r="0" b="-14714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85725"/>
              <a:ext cx="15727680" cy="1640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399"/>
                </a:lnSpc>
              </a:pPr>
              <a:r>
                <a:rPr lang="en-US" sz="4499" b="true">
                  <a:solidFill>
                    <a:srgbClr val="0E2A47"/>
                  </a:solidFill>
                  <a:latin typeface="Times New Roman MT Bold"/>
                  <a:ea typeface="Times New Roman MT Bold"/>
                  <a:cs typeface="Times New Roman MT Bold"/>
                  <a:sym typeface="Times New Roman MT Bold"/>
                </a:rPr>
                <a:t>IMPACT AND BENEFITS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29590" y="310134"/>
            <a:ext cx="2438400" cy="1107948"/>
            <a:chOff x="0" y="0"/>
            <a:chExt cx="3251200" cy="1477264"/>
          </a:xfrm>
        </p:grpSpPr>
        <p:sp>
          <p:nvSpPr>
            <p:cNvPr name="Freeform 6" id="6" descr="Your startup LOGO"/>
            <p:cNvSpPr/>
            <p:nvPr/>
          </p:nvSpPr>
          <p:spPr>
            <a:xfrm flipH="false" flipV="false" rot="0">
              <a:off x="0" y="0"/>
              <a:ext cx="3251200" cy="1477264"/>
            </a:xfrm>
            <a:custGeom>
              <a:avLst/>
              <a:gdLst/>
              <a:ahLst/>
              <a:cxnLst/>
              <a:rect r="r" b="b" t="t" l="l"/>
              <a:pathLst>
                <a:path h="1477264" w="3251200">
                  <a:moveTo>
                    <a:pt x="0" y="738632"/>
                  </a:moveTo>
                  <a:cubicBezTo>
                    <a:pt x="0" y="330708"/>
                    <a:pt x="727837" y="0"/>
                    <a:pt x="1625600" y="0"/>
                  </a:cubicBezTo>
                  <a:cubicBezTo>
                    <a:pt x="2523363" y="0"/>
                    <a:pt x="3251200" y="330708"/>
                    <a:pt x="3251200" y="738632"/>
                  </a:cubicBezTo>
                  <a:cubicBezTo>
                    <a:pt x="3251200" y="1146556"/>
                    <a:pt x="2523363" y="1477264"/>
                    <a:pt x="1625600" y="1477264"/>
                  </a:cubicBezTo>
                  <a:cubicBezTo>
                    <a:pt x="727837" y="1477264"/>
                    <a:pt x="0" y="1146556"/>
                    <a:pt x="0" y="738632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6A329F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3251200" cy="149631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91E2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GITWOLVES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2468880" y="1851660"/>
            <a:ext cx="2263140" cy="2263140"/>
            <a:chOff x="0" y="0"/>
            <a:chExt cx="3017520" cy="301752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3017520" cy="3017520"/>
            </a:xfrm>
            <a:custGeom>
              <a:avLst/>
              <a:gdLst/>
              <a:ahLst/>
              <a:cxnLst/>
              <a:rect r="r" b="b" t="t" l="l"/>
              <a:pathLst>
                <a:path h="3017520" w="3017520">
                  <a:moveTo>
                    <a:pt x="0" y="1508760"/>
                  </a:moveTo>
                  <a:cubicBezTo>
                    <a:pt x="0" y="675513"/>
                    <a:pt x="675513" y="0"/>
                    <a:pt x="1508760" y="0"/>
                  </a:cubicBezTo>
                  <a:cubicBezTo>
                    <a:pt x="2342007" y="0"/>
                    <a:pt x="3017520" y="675513"/>
                    <a:pt x="3017520" y="1508760"/>
                  </a:cubicBezTo>
                  <a:cubicBezTo>
                    <a:pt x="3017520" y="2342007"/>
                    <a:pt x="2342007" y="3017520"/>
                    <a:pt x="1508760" y="3017520"/>
                  </a:cubicBezTo>
                  <a:cubicBezTo>
                    <a:pt x="675513" y="3017520"/>
                    <a:pt x="0" y="2342007"/>
                    <a:pt x="0" y="1508760"/>
                  </a:cubicBezTo>
                  <a:close/>
                </a:path>
              </a:pathLst>
            </a:custGeom>
            <a:solidFill>
              <a:srgbClr val="70AD47"/>
            </a:solidFill>
          </p:spPr>
        </p:sp>
      </p:grpSp>
      <p:sp>
        <p:nvSpPr>
          <p:cNvPr name="TextBox 12" id="12"/>
          <p:cNvSpPr txBox="true"/>
          <p:nvPr/>
        </p:nvSpPr>
        <p:spPr>
          <a:xfrm rot="0">
            <a:off x="2574036" y="2212086"/>
            <a:ext cx="2052828" cy="1352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19"/>
              </a:lnSpc>
            </a:pPr>
            <a:r>
              <a:rPr lang="en-US" sz="4099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85%</a:t>
            </a:r>
          </a:p>
          <a:p>
            <a:pPr algn="ctr">
              <a:lnSpc>
                <a:spcPts val="2039"/>
              </a:lnSpc>
            </a:pPr>
            <a:r>
              <a:rPr lang="en-US" sz="1699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MASTERY GAIN</a:t>
            </a:r>
          </a:p>
          <a:p>
            <a:pPr algn="ctr">
              <a:lnSpc>
                <a:spcPts val="1823"/>
              </a:lnSpc>
            </a:pPr>
            <a:r>
              <a:rPr lang="en-US" sz="1519" b="true">
                <a:solidFill>
                  <a:srgbClr val="E6FFE6"/>
                </a:solidFill>
                <a:latin typeface="Arial Bold"/>
                <a:ea typeface="Arial Bold"/>
                <a:cs typeface="Arial Bold"/>
                <a:sym typeface="Arial Bold"/>
              </a:rPr>
              <a:t>PEDAGOGICAL METRIC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231136" y="4191381"/>
            <a:ext cx="2738628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19"/>
              </a:lnSpc>
            </a:pPr>
            <a:r>
              <a:rPr lang="en-US" sz="1849" b="true">
                <a:solidFill>
                  <a:srgbClr val="0E2A47"/>
                </a:solidFill>
                <a:latin typeface="Arial Bold"/>
                <a:ea typeface="Arial Bold"/>
                <a:cs typeface="Arial Bold"/>
                <a:sym typeface="Arial Bold"/>
              </a:rPr>
              <a:t>ACADEMIC IMPACT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8023860" y="1851660"/>
            <a:ext cx="2263140" cy="2263140"/>
            <a:chOff x="0" y="0"/>
            <a:chExt cx="3017520" cy="301752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3017520" cy="3017520"/>
            </a:xfrm>
            <a:custGeom>
              <a:avLst/>
              <a:gdLst/>
              <a:ahLst/>
              <a:cxnLst/>
              <a:rect r="r" b="b" t="t" l="l"/>
              <a:pathLst>
                <a:path h="3017520" w="3017520">
                  <a:moveTo>
                    <a:pt x="0" y="1508760"/>
                  </a:moveTo>
                  <a:cubicBezTo>
                    <a:pt x="0" y="675513"/>
                    <a:pt x="675513" y="0"/>
                    <a:pt x="1508760" y="0"/>
                  </a:cubicBezTo>
                  <a:cubicBezTo>
                    <a:pt x="2342007" y="0"/>
                    <a:pt x="3017520" y="675513"/>
                    <a:pt x="3017520" y="1508760"/>
                  </a:cubicBezTo>
                  <a:cubicBezTo>
                    <a:pt x="3017520" y="2342007"/>
                    <a:pt x="2342007" y="3017520"/>
                    <a:pt x="1508760" y="3017520"/>
                  </a:cubicBezTo>
                  <a:cubicBezTo>
                    <a:pt x="675513" y="3017520"/>
                    <a:pt x="0" y="2342007"/>
                    <a:pt x="0" y="1508760"/>
                  </a:cubicBezTo>
                  <a:close/>
                </a:path>
              </a:pathLst>
            </a:custGeom>
            <a:solidFill>
              <a:srgbClr val="2E7D32"/>
            </a:solidFill>
          </p:spPr>
        </p:sp>
      </p:grpSp>
      <p:sp>
        <p:nvSpPr>
          <p:cNvPr name="TextBox 16" id="16"/>
          <p:cNvSpPr txBox="true"/>
          <p:nvPr/>
        </p:nvSpPr>
        <p:spPr>
          <a:xfrm rot="0">
            <a:off x="8129016" y="2212086"/>
            <a:ext cx="2052828" cy="1152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19"/>
              </a:lnSpc>
            </a:pPr>
            <a:r>
              <a:rPr lang="en-US" sz="4099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100%</a:t>
            </a:r>
          </a:p>
          <a:p>
            <a:pPr algn="ctr">
              <a:lnSpc>
                <a:spcPts val="2040"/>
              </a:lnSpc>
            </a:pPr>
            <a:r>
              <a:rPr lang="en-US" sz="1700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ZERO COST</a:t>
            </a:r>
          </a:p>
          <a:p>
            <a:pPr algn="ctr">
              <a:lnSpc>
                <a:spcPts val="2040"/>
              </a:lnSpc>
            </a:pPr>
            <a:r>
              <a:rPr lang="en-US" sz="1700" b="true">
                <a:solidFill>
                  <a:srgbClr val="E6FFE6"/>
                </a:solidFill>
                <a:latin typeface="Arial Bold"/>
                <a:ea typeface="Arial Bold"/>
                <a:cs typeface="Arial Bold"/>
                <a:sym typeface="Arial Bold"/>
              </a:rPr>
              <a:t>FINANCIAL METRIC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504176" y="4191381"/>
            <a:ext cx="3493008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19"/>
              </a:lnSpc>
            </a:pPr>
            <a:r>
              <a:rPr lang="en-US" sz="1849" b="true">
                <a:solidFill>
                  <a:srgbClr val="0E2A47"/>
                </a:solidFill>
                <a:latin typeface="Arial Bold"/>
                <a:ea typeface="Arial Bold"/>
                <a:cs typeface="Arial Bold"/>
                <a:sym typeface="Arial Bold"/>
              </a:rPr>
              <a:t>METHODS &amp; ASSUMPTIONS</a:t>
            </a:r>
          </a:p>
        </p:txBody>
      </p:sp>
      <p:grpSp>
        <p:nvGrpSpPr>
          <p:cNvPr name="Group 18" id="18"/>
          <p:cNvGrpSpPr/>
          <p:nvPr/>
        </p:nvGrpSpPr>
        <p:grpSpPr>
          <a:xfrm rot="0">
            <a:off x="13578840" y="1851660"/>
            <a:ext cx="2263140" cy="2263140"/>
            <a:chOff x="0" y="0"/>
            <a:chExt cx="3017520" cy="301752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3017520" cy="3017520"/>
            </a:xfrm>
            <a:custGeom>
              <a:avLst/>
              <a:gdLst/>
              <a:ahLst/>
              <a:cxnLst/>
              <a:rect r="r" b="b" t="t" l="l"/>
              <a:pathLst>
                <a:path h="3017520" w="3017520">
                  <a:moveTo>
                    <a:pt x="0" y="1508760"/>
                  </a:moveTo>
                  <a:cubicBezTo>
                    <a:pt x="0" y="675513"/>
                    <a:pt x="675513" y="0"/>
                    <a:pt x="1508760" y="0"/>
                  </a:cubicBezTo>
                  <a:cubicBezTo>
                    <a:pt x="2342007" y="0"/>
                    <a:pt x="3017520" y="675513"/>
                    <a:pt x="3017520" y="1508760"/>
                  </a:cubicBezTo>
                  <a:cubicBezTo>
                    <a:pt x="3017520" y="2342007"/>
                    <a:pt x="2342007" y="3017520"/>
                    <a:pt x="1508760" y="3017520"/>
                  </a:cubicBezTo>
                  <a:cubicBezTo>
                    <a:pt x="675513" y="3017520"/>
                    <a:pt x="0" y="2342007"/>
                    <a:pt x="0" y="1508760"/>
                  </a:cubicBezTo>
                  <a:close/>
                </a:path>
              </a:pathLst>
            </a:custGeom>
            <a:solidFill>
              <a:srgbClr val="0F5132"/>
            </a:solidFill>
          </p:spPr>
        </p:sp>
      </p:grpSp>
      <p:sp>
        <p:nvSpPr>
          <p:cNvPr name="TextBox 20" id="20"/>
          <p:cNvSpPr txBox="true"/>
          <p:nvPr/>
        </p:nvSpPr>
        <p:spPr>
          <a:xfrm rot="0">
            <a:off x="13687425" y="2193036"/>
            <a:ext cx="2052828" cy="1323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99"/>
              </a:lnSpc>
            </a:pPr>
            <a:r>
              <a:rPr lang="en-US" sz="3999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50,000+</a:t>
            </a:r>
          </a:p>
          <a:p>
            <a:pPr algn="ctr">
              <a:lnSpc>
                <a:spcPts val="1920"/>
              </a:lnSpc>
            </a:pPr>
            <a:r>
              <a:rPr lang="en-US" sz="1600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STUDENTS REACHED</a:t>
            </a:r>
          </a:p>
          <a:p>
            <a:pPr algn="ctr">
              <a:lnSpc>
                <a:spcPts val="1920"/>
              </a:lnSpc>
            </a:pPr>
            <a:r>
              <a:rPr lang="en-US" sz="1600" b="true">
                <a:solidFill>
                  <a:srgbClr val="E6FFE6"/>
                </a:solidFill>
                <a:latin typeface="Arial Bold"/>
                <a:ea typeface="Arial Bold"/>
                <a:cs typeface="Arial Bold"/>
                <a:sym typeface="Arial Bold"/>
              </a:rPr>
              <a:t>NATIONAL METRIC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3194978" y="4191381"/>
            <a:ext cx="3373765" cy="304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19"/>
              </a:lnSpc>
            </a:pPr>
            <a:r>
              <a:rPr lang="en-US" sz="1849" b="true">
                <a:solidFill>
                  <a:srgbClr val="0E2A47"/>
                </a:solidFill>
                <a:latin typeface="Arial Bold"/>
                <a:ea typeface="Arial Bold"/>
                <a:cs typeface="Arial Bold"/>
                <a:sym typeface="Arial Bold"/>
              </a:rPr>
              <a:t>NATIONAL WORKFORCE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085850" y="5143500"/>
            <a:ext cx="4960620" cy="2423160"/>
            <a:chOff x="0" y="0"/>
            <a:chExt cx="6614160" cy="323088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6614160" cy="3230880"/>
            </a:xfrm>
            <a:custGeom>
              <a:avLst/>
              <a:gdLst/>
              <a:ahLst/>
              <a:cxnLst/>
              <a:rect r="r" b="b" t="t" l="l"/>
              <a:pathLst>
                <a:path h="3230880" w="6614160">
                  <a:moveTo>
                    <a:pt x="0" y="538480"/>
                  </a:moveTo>
                  <a:cubicBezTo>
                    <a:pt x="0" y="241046"/>
                    <a:pt x="241046" y="0"/>
                    <a:pt x="538480" y="0"/>
                  </a:cubicBezTo>
                  <a:lnTo>
                    <a:pt x="6075680" y="0"/>
                  </a:lnTo>
                  <a:cubicBezTo>
                    <a:pt x="6373114" y="0"/>
                    <a:pt x="6614160" y="241046"/>
                    <a:pt x="6614160" y="538480"/>
                  </a:cubicBezTo>
                  <a:lnTo>
                    <a:pt x="6614160" y="2692400"/>
                  </a:lnTo>
                  <a:cubicBezTo>
                    <a:pt x="6614160" y="2989834"/>
                    <a:pt x="6373114" y="3230880"/>
                    <a:pt x="6075680" y="3230880"/>
                  </a:cubicBezTo>
                  <a:lnTo>
                    <a:pt x="538480" y="3230880"/>
                  </a:lnTo>
                  <a:cubicBezTo>
                    <a:pt x="241046" y="3230880"/>
                    <a:pt x="0" y="2989834"/>
                    <a:pt x="0" y="2692400"/>
                  </a:cubicBezTo>
                  <a:close/>
                </a:path>
              </a:pathLst>
            </a:custGeom>
            <a:solidFill>
              <a:srgbClr val="FFFFFF"/>
            </a:solidFill>
            <a:ln w="22860" cap="sq">
              <a:solidFill>
                <a:srgbClr val="70AD47"/>
              </a:solidFill>
              <a:prstDash val="solid"/>
              <a:miter/>
            </a:ln>
          </p:spPr>
        </p:sp>
      </p:grpSp>
      <p:sp>
        <p:nvSpPr>
          <p:cNvPr name="TextBox 24" id="24"/>
          <p:cNvSpPr txBox="true"/>
          <p:nvPr/>
        </p:nvSpPr>
        <p:spPr>
          <a:xfrm rot="0">
            <a:off x="1271016" y="5290566"/>
            <a:ext cx="4590288" cy="2133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4"/>
              </a:lnSpc>
            </a:pPr>
            <a:r>
              <a:rPr lang="en-US" sz="1828" b="true">
                <a:solidFill>
                  <a:srgbClr val="2E7D32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Intuitive Spatial Pedagogy:</a:t>
            </a:r>
          </a:p>
          <a:p>
            <a:pPr algn="l">
              <a:lnSpc>
                <a:spcPts val="2194"/>
              </a:lnSpc>
            </a:pPr>
          </a:p>
          <a:p>
            <a:pPr algn="l">
              <a:lnSpc>
                <a:spcPts val="2051"/>
              </a:lnSpc>
            </a:pPr>
            <a:r>
              <a:rPr lang="en-US" sz="1709">
                <a:solidFill>
                  <a:srgbClr val="191E23"/>
                </a:solidFill>
                <a:latin typeface="Calibri (MS)"/>
                <a:ea typeface="Calibri (MS)"/>
                <a:cs typeface="Calibri (MS)"/>
                <a:sym typeface="Calibri (MS)"/>
              </a:rPr>
              <a:t>• Replaces passive linear algebra rote learning with active 3D Bloch vector manipulation.</a:t>
            </a:r>
          </a:p>
          <a:p>
            <a:pPr algn="l">
              <a:lnSpc>
                <a:spcPts val="2051"/>
              </a:lnSpc>
            </a:pPr>
            <a:r>
              <a:rPr lang="en-US" sz="1709">
                <a:solidFill>
                  <a:srgbClr val="191E23"/>
                </a:solidFill>
                <a:latin typeface="Calibri (MS)"/>
                <a:ea typeface="Calibri (MS)"/>
                <a:cs typeface="Calibri (MS)"/>
                <a:sym typeface="Calibri (MS)"/>
              </a:rPr>
              <a:t>• Closes the gap between quantum theory and practical software engineering.</a:t>
            </a:r>
          </a:p>
          <a:p>
            <a:pPr algn="l">
              <a:lnSpc>
                <a:spcPts val="2051"/>
              </a:lnSpc>
            </a:pPr>
            <a:r>
              <a:rPr lang="en-US" sz="1709">
                <a:solidFill>
                  <a:srgbClr val="191E23"/>
                </a:solidFill>
                <a:latin typeface="Calibri (MS)"/>
                <a:ea typeface="Calibri (MS)"/>
                <a:cs typeface="Calibri (MS)"/>
                <a:sym typeface="Calibri (MS)"/>
              </a:rPr>
              <a:t>• Proven Bloom 2-Sigma mastery gains via step-by-step Socratic AI debugging.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6640830" y="5143500"/>
            <a:ext cx="4960620" cy="2423160"/>
            <a:chOff x="0" y="0"/>
            <a:chExt cx="6614160" cy="323088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6614160" cy="3230880"/>
            </a:xfrm>
            <a:custGeom>
              <a:avLst/>
              <a:gdLst/>
              <a:ahLst/>
              <a:cxnLst/>
              <a:rect r="r" b="b" t="t" l="l"/>
              <a:pathLst>
                <a:path h="3230880" w="6614160">
                  <a:moveTo>
                    <a:pt x="0" y="538480"/>
                  </a:moveTo>
                  <a:cubicBezTo>
                    <a:pt x="0" y="241046"/>
                    <a:pt x="241046" y="0"/>
                    <a:pt x="538480" y="0"/>
                  </a:cubicBezTo>
                  <a:lnTo>
                    <a:pt x="6075680" y="0"/>
                  </a:lnTo>
                  <a:cubicBezTo>
                    <a:pt x="6373114" y="0"/>
                    <a:pt x="6614160" y="241046"/>
                    <a:pt x="6614160" y="538480"/>
                  </a:cubicBezTo>
                  <a:lnTo>
                    <a:pt x="6614160" y="2692400"/>
                  </a:lnTo>
                  <a:cubicBezTo>
                    <a:pt x="6614160" y="2989834"/>
                    <a:pt x="6373114" y="3230880"/>
                    <a:pt x="6075680" y="3230880"/>
                  </a:cubicBezTo>
                  <a:lnTo>
                    <a:pt x="538480" y="3230880"/>
                  </a:lnTo>
                  <a:cubicBezTo>
                    <a:pt x="241046" y="3230880"/>
                    <a:pt x="0" y="2989834"/>
                    <a:pt x="0" y="2692400"/>
                  </a:cubicBezTo>
                  <a:close/>
                </a:path>
              </a:pathLst>
            </a:custGeom>
            <a:solidFill>
              <a:srgbClr val="FFFFFF"/>
            </a:solidFill>
            <a:ln w="22860" cap="sq">
              <a:solidFill>
                <a:srgbClr val="2E7D32"/>
              </a:solidFill>
              <a:prstDash val="solid"/>
              <a:miter/>
            </a:ln>
          </p:spPr>
        </p:sp>
      </p:grpSp>
      <p:grpSp>
        <p:nvGrpSpPr>
          <p:cNvPr name="Group 27" id="27"/>
          <p:cNvGrpSpPr/>
          <p:nvPr/>
        </p:nvGrpSpPr>
        <p:grpSpPr>
          <a:xfrm rot="0">
            <a:off x="6850380" y="5353050"/>
            <a:ext cx="2141220" cy="906780"/>
            <a:chOff x="0" y="0"/>
            <a:chExt cx="2854960" cy="12090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2854960" cy="1209040"/>
            </a:xfrm>
            <a:custGeom>
              <a:avLst/>
              <a:gdLst/>
              <a:ahLst/>
              <a:cxnLst/>
              <a:rect r="r" b="b" t="t" l="l"/>
              <a:pathLst>
                <a:path h="1209040" w="2854960">
                  <a:moveTo>
                    <a:pt x="0" y="201549"/>
                  </a:moveTo>
                  <a:cubicBezTo>
                    <a:pt x="0" y="90170"/>
                    <a:pt x="90170" y="0"/>
                    <a:pt x="201549" y="0"/>
                  </a:cubicBezTo>
                  <a:lnTo>
                    <a:pt x="2653411" y="0"/>
                  </a:lnTo>
                  <a:cubicBezTo>
                    <a:pt x="2764663" y="0"/>
                    <a:pt x="2854960" y="90170"/>
                    <a:pt x="2854960" y="201549"/>
                  </a:cubicBezTo>
                  <a:lnTo>
                    <a:pt x="2854960" y="1007491"/>
                  </a:lnTo>
                  <a:cubicBezTo>
                    <a:pt x="2854960" y="1118743"/>
                    <a:pt x="2764790" y="1209040"/>
                    <a:pt x="2653411" y="1209040"/>
                  </a:cubicBezTo>
                  <a:lnTo>
                    <a:pt x="201549" y="1209040"/>
                  </a:lnTo>
                  <a:cubicBezTo>
                    <a:pt x="90170" y="1209040"/>
                    <a:pt x="0" y="1118870"/>
                    <a:pt x="0" y="1007491"/>
                  </a:cubicBezTo>
                  <a:close/>
                </a:path>
              </a:pathLst>
            </a:custGeom>
            <a:solidFill>
              <a:srgbClr val="F5FCF5"/>
            </a:solidFill>
            <a:ln w="15240" cap="sq">
              <a:solidFill>
                <a:srgbClr val="A3D9B1"/>
              </a:solidFill>
              <a:prstDash val="solid"/>
              <a:miter/>
            </a:ln>
          </p:spPr>
        </p:sp>
      </p:grpSp>
      <p:sp>
        <p:nvSpPr>
          <p:cNvPr name="TextBox 29" id="29"/>
          <p:cNvSpPr txBox="true"/>
          <p:nvPr/>
        </p:nvSpPr>
        <p:spPr>
          <a:xfrm rot="0">
            <a:off x="6963156" y="5579134"/>
            <a:ext cx="1915668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39"/>
              </a:lnSpc>
            </a:pPr>
            <a:r>
              <a:rPr lang="en-US" sz="1449" b="true">
                <a:solidFill>
                  <a:srgbClr val="155724"/>
                </a:solidFill>
                <a:latin typeface="Arial Bold"/>
                <a:ea typeface="Arial Bold"/>
                <a:cs typeface="Arial Bold"/>
                <a:sym typeface="Arial Bold"/>
              </a:rPr>
              <a:t>Bloom 2σ Model:</a:t>
            </a:r>
          </a:p>
          <a:p>
            <a:pPr algn="ctr">
              <a:lnSpc>
                <a:spcPts val="1739"/>
              </a:lnSpc>
            </a:pPr>
            <a:r>
              <a:rPr lang="en-US" sz="1449" b="true">
                <a:solidFill>
                  <a:srgbClr val="155724"/>
                </a:solidFill>
                <a:latin typeface="Arial Bold"/>
                <a:ea typeface="Arial Bold"/>
                <a:cs typeface="Arial Bold"/>
                <a:sym typeface="Arial Bold"/>
              </a:rPr>
              <a:t>1-on-1 AI Tutoring</a:t>
            </a:r>
          </a:p>
        </p:txBody>
      </p:sp>
      <p:grpSp>
        <p:nvGrpSpPr>
          <p:cNvPr name="Group 30" id="30"/>
          <p:cNvGrpSpPr/>
          <p:nvPr/>
        </p:nvGrpSpPr>
        <p:grpSpPr>
          <a:xfrm rot="0">
            <a:off x="9250680" y="5353050"/>
            <a:ext cx="2141220" cy="906780"/>
            <a:chOff x="0" y="0"/>
            <a:chExt cx="2854960" cy="120904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2854960" cy="1209040"/>
            </a:xfrm>
            <a:custGeom>
              <a:avLst/>
              <a:gdLst/>
              <a:ahLst/>
              <a:cxnLst/>
              <a:rect r="r" b="b" t="t" l="l"/>
              <a:pathLst>
                <a:path h="1209040" w="2854960">
                  <a:moveTo>
                    <a:pt x="0" y="201549"/>
                  </a:moveTo>
                  <a:cubicBezTo>
                    <a:pt x="0" y="90170"/>
                    <a:pt x="90170" y="0"/>
                    <a:pt x="201549" y="0"/>
                  </a:cubicBezTo>
                  <a:lnTo>
                    <a:pt x="2653411" y="0"/>
                  </a:lnTo>
                  <a:cubicBezTo>
                    <a:pt x="2764663" y="0"/>
                    <a:pt x="2854960" y="90170"/>
                    <a:pt x="2854960" y="201549"/>
                  </a:cubicBezTo>
                  <a:lnTo>
                    <a:pt x="2854960" y="1007491"/>
                  </a:lnTo>
                  <a:cubicBezTo>
                    <a:pt x="2854960" y="1118743"/>
                    <a:pt x="2764790" y="1209040"/>
                    <a:pt x="2653411" y="1209040"/>
                  </a:cubicBezTo>
                  <a:lnTo>
                    <a:pt x="201549" y="1209040"/>
                  </a:lnTo>
                  <a:cubicBezTo>
                    <a:pt x="90170" y="1209040"/>
                    <a:pt x="0" y="1118870"/>
                    <a:pt x="0" y="1007491"/>
                  </a:cubicBezTo>
                  <a:close/>
                </a:path>
              </a:pathLst>
            </a:custGeom>
            <a:solidFill>
              <a:srgbClr val="F5FCF5"/>
            </a:solidFill>
            <a:ln w="15240" cap="sq">
              <a:solidFill>
                <a:srgbClr val="A3D9B1"/>
              </a:solidFill>
              <a:prstDash val="solid"/>
              <a:miter/>
            </a:ln>
          </p:spPr>
        </p:sp>
      </p:grpSp>
      <p:sp>
        <p:nvSpPr>
          <p:cNvPr name="TextBox 32" id="32"/>
          <p:cNvSpPr txBox="true"/>
          <p:nvPr/>
        </p:nvSpPr>
        <p:spPr>
          <a:xfrm rot="0">
            <a:off x="9363456" y="5579134"/>
            <a:ext cx="1915668" cy="447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39"/>
              </a:lnSpc>
            </a:pPr>
            <a:r>
              <a:rPr lang="en-US" sz="1449" b="true">
                <a:solidFill>
                  <a:srgbClr val="155724"/>
                </a:solidFill>
                <a:latin typeface="Arial Bold"/>
                <a:ea typeface="Arial Bold"/>
                <a:cs typeface="Arial Bold"/>
                <a:sym typeface="Arial Bold"/>
              </a:rPr>
              <a:t>Zero-Cost Stack:</a:t>
            </a:r>
          </a:p>
          <a:p>
            <a:pPr algn="ctr">
              <a:lnSpc>
                <a:spcPts val="1739"/>
              </a:lnSpc>
            </a:pPr>
            <a:r>
              <a:rPr lang="en-US" sz="1449" b="true">
                <a:solidFill>
                  <a:srgbClr val="155724"/>
                </a:solidFill>
                <a:latin typeface="Arial Bold"/>
                <a:ea typeface="Arial Bold"/>
                <a:cs typeface="Arial Bold"/>
                <a:sym typeface="Arial Bold"/>
              </a:rPr>
              <a:t>100% Open-Source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6894576" y="6387846"/>
            <a:ext cx="4453128" cy="1066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51"/>
              </a:lnSpc>
            </a:pPr>
            <a:r>
              <a:rPr lang="en-US" sz="1709">
                <a:solidFill>
                  <a:srgbClr val="191E23"/>
                </a:solidFill>
                <a:latin typeface="Calibri (MS)"/>
                <a:ea typeface="Calibri (MS)"/>
                <a:cs typeface="Calibri (MS)"/>
                <a:sym typeface="Calibri (MS)"/>
              </a:rPr>
              <a:t>Assumes standard browser access across campus lab environments with zero hardware investment. Validated against university curriculum learning rubrics.</a:t>
            </a:r>
          </a:p>
        </p:txBody>
      </p:sp>
      <p:grpSp>
        <p:nvGrpSpPr>
          <p:cNvPr name="Group 34" id="34"/>
          <p:cNvGrpSpPr/>
          <p:nvPr/>
        </p:nvGrpSpPr>
        <p:grpSpPr>
          <a:xfrm rot="0">
            <a:off x="12195810" y="5143500"/>
            <a:ext cx="4960620" cy="2423160"/>
            <a:chOff x="0" y="0"/>
            <a:chExt cx="6614160" cy="323088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6614160" cy="3230880"/>
            </a:xfrm>
            <a:custGeom>
              <a:avLst/>
              <a:gdLst/>
              <a:ahLst/>
              <a:cxnLst/>
              <a:rect r="r" b="b" t="t" l="l"/>
              <a:pathLst>
                <a:path h="3230880" w="6614160">
                  <a:moveTo>
                    <a:pt x="0" y="538480"/>
                  </a:moveTo>
                  <a:cubicBezTo>
                    <a:pt x="0" y="241046"/>
                    <a:pt x="241046" y="0"/>
                    <a:pt x="538480" y="0"/>
                  </a:cubicBezTo>
                  <a:lnTo>
                    <a:pt x="6075680" y="0"/>
                  </a:lnTo>
                  <a:cubicBezTo>
                    <a:pt x="6373114" y="0"/>
                    <a:pt x="6614160" y="241046"/>
                    <a:pt x="6614160" y="538480"/>
                  </a:cubicBezTo>
                  <a:lnTo>
                    <a:pt x="6614160" y="2692400"/>
                  </a:lnTo>
                  <a:cubicBezTo>
                    <a:pt x="6614160" y="2989834"/>
                    <a:pt x="6373114" y="3230880"/>
                    <a:pt x="6075680" y="3230880"/>
                  </a:cubicBezTo>
                  <a:lnTo>
                    <a:pt x="538480" y="3230880"/>
                  </a:lnTo>
                  <a:cubicBezTo>
                    <a:pt x="241046" y="3230880"/>
                    <a:pt x="0" y="2989834"/>
                    <a:pt x="0" y="2692400"/>
                  </a:cubicBezTo>
                  <a:close/>
                </a:path>
              </a:pathLst>
            </a:custGeom>
            <a:solidFill>
              <a:srgbClr val="FFFFFF"/>
            </a:solidFill>
            <a:ln w="22860" cap="sq">
              <a:solidFill>
                <a:srgbClr val="0F5132"/>
              </a:solidFill>
              <a:prstDash val="solid"/>
              <a:miter/>
            </a:ln>
          </p:spPr>
        </p:sp>
      </p:grpSp>
      <p:sp>
        <p:nvSpPr>
          <p:cNvPr name="TextBox 36" id="36"/>
          <p:cNvSpPr txBox="true"/>
          <p:nvPr/>
        </p:nvSpPr>
        <p:spPr>
          <a:xfrm rot="0">
            <a:off x="12380976" y="5290566"/>
            <a:ext cx="4590288" cy="2133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94"/>
              </a:lnSpc>
            </a:pPr>
            <a:r>
              <a:rPr lang="en-US" sz="1828" b="true">
                <a:solidFill>
                  <a:srgbClr val="0F5132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National Quantum Mission (NQM) Fit:</a:t>
            </a:r>
          </a:p>
          <a:p>
            <a:pPr algn="l">
              <a:lnSpc>
                <a:spcPts val="2194"/>
              </a:lnSpc>
            </a:pPr>
          </a:p>
          <a:p>
            <a:pPr algn="l">
              <a:lnSpc>
                <a:spcPts val="2051"/>
              </a:lnSpc>
            </a:pPr>
            <a:r>
              <a:rPr lang="en-US" sz="1709">
                <a:solidFill>
                  <a:srgbClr val="191E23"/>
                </a:solidFill>
                <a:latin typeface="Calibri (MS)"/>
                <a:ea typeface="Calibri (MS)"/>
                <a:cs typeface="Calibri (MS)"/>
                <a:sym typeface="Calibri (MS)"/>
              </a:rPr>
              <a:t>• Direct catalyst for India's ₹6,003 Cr NQM talent pipeline across 23 Thematic Hubs.</a:t>
            </a:r>
          </a:p>
          <a:p>
            <a:pPr algn="l">
              <a:lnSpc>
                <a:spcPts val="2051"/>
              </a:lnSpc>
            </a:pPr>
            <a:r>
              <a:rPr lang="en-US" sz="1709">
                <a:solidFill>
                  <a:srgbClr val="191E23"/>
                </a:solidFill>
                <a:latin typeface="Calibri (MS)"/>
                <a:ea typeface="Calibri (MS)"/>
                <a:cs typeface="Calibri (MS)"/>
                <a:sym typeface="Calibri (MS)"/>
              </a:rPr>
              <a:t>• Prepares 50,000+ STEM graduates for quantum computing and cryptography careers.</a:t>
            </a:r>
          </a:p>
          <a:p>
            <a:pPr algn="l">
              <a:lnSpc>
                <a:spcPts val="2051"/>
              </a:lnSpc>
            </a:pPr>
            <a:r>
              <a:rPr lang="en-US" sz="1709">
                <a:solidFill>
                  <a:srgbClr val="191E23"/>
                </a:solidFill>
                <a:latin typeface="Calibri (MS)"/>
                <a:ea typeface="Calibri (MS)"/>
                <a:cs typeface="Calibri (MS)"/>
                <a:sym typeface="Calibri (MS)"/>
              </a:rPr>
              <a:t>• Democratizes access to tier-2 &amp; tier-3 engineering colleges nationwide.</a:t>
            </a:r>
          </a:p>
        </p:txBody>
      </p:sp>
      <p:grpSp>
        <p:nvGrpSpPr>
          <p:cNvPr name="Group 37" id="37"/>
          <p:cNvGrpSpPr/>
          <p:nvPr/>
        </p:nvGrpSpPr>
        <p:grpSpPr>
          <a:xfrm rot="0">
            <a:off x="1028700" y="8706993"/>
            <a:ext cx="16230600" cy="1006602"/>
            <a:chOff x="0" y="0"/>
            <a:chExt cx="21640800" cy="1342136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21640800" cy="1342136"/>
            </a:xfrm>
            <a:custGeom>
              <a:avLst/>
              <a:gdLst/>
              <a:ahLst/>
              <a:cxnLst/>
              <a:rect r="r" b="b" t="t" l="l"/>
              <a:pathLst>
                <a:path h="1342136" w="21640800">
                  <a:moveTo>
                    <a:pt x="0" y="223647"/>
                  </a:moveTo>
                  <a:cubicBezTo>
                    <a:pt x="0" y="100203"/>
                    <a:pt x="126900" y="0"/>
                    <a:pt x="283232" y="0"/>
                  </a:cubicBezTo>
                  <a:lnTo>
                    <a:pt x="21357569" y="0"/>
                  </a:lnTo>
                  <a:cubicBezTo>
                    <a:pt x="21514062" y="0"/>
                    <a:pt x="21640800" y="100203"/>
                    <a:pt x="21640800" y="223647"/>
                  </a:cubicBezTo>
                  <a:lnTo>
                    <a:pt x="21640800" y="1118489"/>
                  </a:lnTo>
                  <a:cubicBezTo>
                    <a:pt x="21640800" y="1242060"/>
                    <a:pt x="21513901" y="1342136"/>
                    <a:pt x="21357569" y="1342136"/>
                  </a:cubicBezTo>
                  <a:lnTo>
                    <a:pt x="283232" y="1342136"/>
                  </a:lnTo>
                  <a:cubicBezTo>
                    <a:pt x="126900" y="1342136"/>
                    <a:pt x="0" y="1241933"/>
                    <a:pt x="0" y="1118489"/>
                  </a:cubicBezTo>
                  <a:close/>
                </a:path>
              </a:pathLst>
            </a:custGeom>
            <a:solidFill>
              <a:srgbClr val="1B4D3E"/>
            </a:solidFill>
            <a:ln w="19050" cap="sq">
              <a:solidFill>
                <a:srgbClr val="C8F0D2"/>
              </a:solidFill>
              <a:prstDash val="solid"/>
              <a:miter/>
            </a:ln>
          </p:spPr>
        </p:sp>
      </p:grpSp>
      <p:sp>
        <p:nvSpPr>
          <p:cNvPr name="TextBox 39" id="39"/>
          <p:cNvSpPr txBox="true"/>
          <p:nvPr/>
        </p:nvSpPr>
        <p:spPr>
          <a:xfrm rot="0">
            <a:off x="3033522" y="8901303"/>
            <a:ext cx="12175236" cy="590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99"/>
              </a:lnSpc>
            </a:pPr>
            <a:r>
              <a:rPr lang="en-US" sz="2249" b="true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Intuition. Innovation. Inclusion.</a:t>
            </a:r>
          </a:p>
          <a:p>
            <a:pPr algn="ctr">
              <a:lnSpc>
                <a:spcPts val="1979"/>
              </a:lnSpc>
            </a:pPr>
            <a:r>
              <a:rPr lang="en-US" sz="1649" b="true">
                <a:solidFill>
                  <a:srgbClr val="DCF5E1"/>
                </a:solidFill>
                <a:latin typeface="Arial Bold"/>
                <a:ea typeface="Arial Bold"/>
                <a:cs typeface="Arial Bold"/>
                <a:sym typeface="Arial Bold"/>
              </a:rPr>
              <a:t>Democratizing Quantum Education for India's Future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086100" y="246888"/>
            <a:ext cx="11795760" cy="1165860"/>
            <a:chOff x="0" y="0"/>
            <a:chExt cx="15727680" cy="155448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5727680" cy="1554480"/>
            </a:xfrm>
            <a:custGeom>
              <a:avLst/>
              <a:gdLst/>
              <a:ahLst/>
              <a:cxnLst/>
              <a:rect r="r" b="b" t="t" l="l"/>
              <a:pathLst>
                <a:path h="1554480" w="15727680">
                  <a:moveTo>
                    <a:pt x="0" y="0"/>
                  </a:moveTo>
                  <a:lnTo>
                    <a:pt x="15727680" y="0"/>
                  </a:lnTo>
                  <a:lnTo>
                    <a:pt x="1572768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7142" r="0" b="-147142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85725"/>
              <a:ext cx="15727680" cy="16402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5399"/>
                </a:lnSpc>
              </a:pPr>
              <a:r>
                <a:rPr lang="en-US" sz="4499" b="true">
                  <a:solidFill>
                    <a:srgbClr val="0E2A47"/>
                  </a:solidFill>
                  <a:latin typeface="Times New Roman MT Bold"/>
                  <a:ea typeface="Times New Roman MT Bold"/>
                  <a:cs typeface="Times New Roman MT Bold"/>
                  <a:sym typeface="Times New Roman MT Bold"/>
                </a:rPr>
                <a:t>RESEARCH AND REFERENCES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29590" y="310134"/>
            <a:ext cx="2438400" cy="1107948"/>
            <a:chOff x="0" y="0"/>
            <a:chExt cx="3251200" cy="1477264"/>
          </a:xfrm>
        </p:grpSpPr>
        <p:sp>
          <p:nvSpPr>
            <p:cNvPr name="Freeform 6" id="6" descr="Your startup LOGO"/>
            <p:cNvSpPr/>
            <p:nvPr/>
          </p:nvSpPr>
          <p:spPr>
            <a:xfrm flipH="false" flipV="false" rot="0">
              <a:off x="0" y="0"/>
              <a:ext cx="3251200" cy="1477264"/>
            </a:xfrm>
            <a:custGeom>
              <a:avLst/>
              <a:gdLst/>
              <a:ahLst/>
              <a:cxnLst/>
              <a:rect r="r" b="b" t="t" l="l"/>
              <a:pathLst>
                <a:path h="1477264" w="3251200">
                  <a:moveTo>
                    <a:pt x="0" y="738632"/>
                  </a:moveTo>
                  <a:cubicBezTo>
                    <a:pt x="0" y="330708"/>
                    <a:pt x="727837" y="0"/>
                    <a:pt x="1625600" y="0"/>
                  </a:cubicBezTo>
                  <a:cubicBezTo>
                    <a:pt x="2523363" y="0"/>
                    <a:pt x="3251200" y="330708"/>
                    <a:pt x="3251200" y="738632"/>
                  </a:cubicBezTo>
                  <a:cubicBezTo>
                    <a:pt x="3251200" y="1146556"/>
                    <a:pt x="2523363" y="1477264"/>
                    <a:pt x="1625600" y="1477264"/>
                  </a:cubicBezTo>
                  <a:cubicBezTo>
                    <a:pt x="727837" y="1477264"/>
                    <a:pt x="0" y="1146556"/>
                    <a:pt x="0" y="738632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6A329F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3251200" cy="149631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80"/>
                </a:lnSpc>
              </a:pPr>
              <a:r>
                <a:rPr lang="en-US" sz="1650" b="true">
                  <a:solidFill>
                    <a:srgbClr val="191E2D"/>
                  </a:solidFill>
                  <a:latin typeface="Arial Bold"/>
                  <a:ea typeface="Arial Bold"/>
                  <a:cs typeface="Arial Bold"/>
                  <a:sym typeface="Arial Bold"/>
                </a:rPr>
                <a:t>GITWOLVES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4670129" y="2248"/>
            <a:ext cx="3374774" cy="1593504"/>
            <a:chOff x="0" y="0"/>
            <a:chExt cx="4499699" cy="21246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499737" cy="2124710"/>
            </a:xfrm>
            <a:custGeom>
              <a:avLst/>
              <a:gdLst/>
              <a:ahLst/>
              <a:cxnLst/>
              <a:rect r="r" b="b" t="t" l="l"/>
              <a:pathLst>
                <a:path h="2124710" w="4499737">
                  <a:moveTo>
                    <a:pt x="0" y="0"/>
                  </a:moveTo>
                  <a:lnTo>
                    <a:pt x="4499737" y="0"/>
                  </a:lnTo>
                  <a:lnTo>
                    <a:pt x="4499737" y="2124710"/>
                  </a:lnTo>
                  <a:lnTo>
                    <a:pt x="0" y="2124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1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1522476" y="2044351"/>
            <a:ext cx="13147653" cy="7077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19"/>
              </a:lnSpc>
              <a:spcBef>
                <a:spcPts val="800"/>
              </a:spcBef>
              <a:spcAft>
                <a:spcPts val="300"/>
              </a:spcAft>
              <a:defRPr sz="1100" b="1">
                <a:solidFill>
                  <a:srgbClr val="00F0FF"/>
                </a:solidFill>
                <a:latin typeface="Arial"/>
              </a:defRPr>
            </a:pPr>
            <a:r>
              <a:t>Quantum Foundations &amp; Simulator Engines:</a:t>
            </a:r>
          </a:p>
          <a:p>
            <a:pPr>
              <a:spcAft>
                <a:spcPts val="200"/>
              </a:spcAft>
              <a:defRPr sz="850">
                <a:solidFill>
                  <a:srgbClr val="FFFFFF"/>
                </a:solidFill>
                <a:latin typeface="Arial"/>
              </a:defRPr>
            </a:pPr>
            <a:r>
              <a:t>• Nielsen, M. A. &amp; Chuang, I. L. (2010) – Quantum Computation and Quantum Information – 10th Anniversary Edition, Cambridge University Press.</a:t>
            </a:r>
          </a:p>
          <a:p>
            <a:pPr>
              <a:spcAft>
                <a:spcPts val="200"/>
              </a:spcAft>
              <a:defRPr sz="850">
                <a:solidFill>
                  <a:srgbClr val="FFFFFF"/>
                </a:solidFill>
                <a:latin typeface="Arial"/>
              </a:defRPr>
            </a:pPr>
            <a:r>
              <a:t>• IBM Quantum Team (2024) – IBM Quantum Heron: 156-Qubit Heavy-Hex Architecture &amp; Qiskit Runtime 1.0 Platform: https://quantum.ibm.com</a:t>
            </a:r>
          </a:p>
          <a:p>
            <a:pPr>
              <a:spcAft>
                <a:spcPts val="200"/>
              </a:spcAft>
              <a:defRPr sz="850">
                <a:solidFill>
                  <a:srgbClr val="FFFFFF"/>
                </a:solidFill>
                <a:latin typeface="Arial"/>
              </a:defRPr>
            </a:pPr>
            <a:r>
              <a:t>• Bergholm, V. et al. (2022) – PennyLane: Automatic differentiation and machine learning of quantum computers. arXiv:1811.04968.</a:t>
            </a:r>
          </a:p>
          <a:p>
            <a:pPr>
              <a:spcAft>
                <a:spcPts val="200"/>
              </a:spcAft>
              <a:defRPr sz="850">
                <a:solidFill>
                  <a:srgbClr val="FFFFFF"/>
                </a:solidFill>
                <a:latin typeface="Arial"/>
              </a:defRPr>
            </a:pPr>
            <a:r>
              <a:t>• Google Quantum AI (2023) – Cirq: A Python Framework for NISQ Algorithms &amp; Sycamore Topologies: https://quantumai.google/cirq</a:t>
            </a:r>
          </a:p>
          <a:p>
            <a:pPr>
              <a:spcAft>
                <a:spcPts val="200"/>
              </a:spcAft>
              <a:defRPr sz="850">
                <a:solidFill>
                  <a:srgbClr val="FFFFFF"/>
                </a:solidFill>
                <a:latin typeface="Arial"/>
              </a:defRPr>
            </a:pPr>
            <a:r>
              <a:t>• BlueQubit Inc. (2024) – GPU-Accelerated Quantum Circuit Simulation &amp; Tensor Network Contraction: https://bluequbit.io</a:t>
            </a:r>
          </a:p>
          <a:p>
            <a:pPr>
              <a:spcBef>
                <a:spcPts val="800"/>
              </a:spcBef>
              <a:spcAft>
                <a:spcPts val="300"/>
              </a:spcAft>
              <a:defRPr sz="1100" b="1">
                <a:solidFill>
                  <a:srgbClr val="00F0FF"/>
                </a:solidFill>
                <a:latin typeface="Arial"/>
              </a:defRPr>
            </a:pPr>
            <a:r>
              <a:t>AI, Knowledge Retrieval &amp; Indian Language Speech:</a:t>
            </a:r>
          </a:p>
          <a:p>
            <a:pPr>
              <a:spcAft>
                <a:spcPts val="200"/>
              </a:spcAft>
              <a:defRPr sz="850">
                <a:solidFill>
                  <a:srgbClr val="FFFFFF"/>
                </a:solidFill>
                <a:latin typeface="Arial"/>
              </a:defRPr>
            </a:pPr>
            <a:r>
              <a:t>• Groq Inc. (2024) – Language Processing Unit (LPU) Inference Engine Architecture for Real-Time LLM Serving: https://groq.com</a:t>
            </a:r>
          </a:p>
          <a:p>
            <a:pPr>
              <a:spcAft>
                <a:spcPts val="200"/>
              </a:spcAft>
              <a:defRPr sz="850">
                <a:solidFill>
                  <a:srgbClr val="FFFFFF"/>
                </a:solidFill>
                <a:latin typeface="Arial"/>
              </a:defRPr>
            </a:pPr>
            <a:r>
              <a:t>• Sarvam AI (2024) – Bulbul &amp; Saaras: Foundation Models for Indian Language Speech Synthesis and Translation: https://sarvam.ai</a:t>
            </a:r>
          </a:p>
          <a:p>
            <a:pPr>
              <a:spcAft>
                <a:spcPts val="200"/>
              </a:spcAft>
              <a:defRPr sz="850">
                <a:solidFill>
                  <a:srgbClr val="FFFFFF"/>
                </a:solidFill>
                <a:latin typeface="Arial"/>
              </a:defRPr>
            </a:pPr>
            <a:r>
              <a:t>• ChromaDB Team (2024) – Open-Source Embedding Database for High-Precision Domain-Specific RAG: https://trychroma.com</a:t>
            </a:r>
          </a:p>
          <a:p>
            <a:pPr>
              <a:spcAft>
                <a:spcPts val="200"/>
              </a:spcAft>
              <a:defRPr sz="850">
                <a:solidFill>
                  <a:srgbClr val="FFFFFF"/>
                </a:solidFill>
                <a:latin typeface="Arial"/>
              </a:defRPr>
            </a:pPr>
            <a:r>
              <a:t>• Preskill, J. (2018) – Quantum Computing in the NISQ era and beyond. Quantum, 2, 79.</a:t>
            </a:r>
          </a:p>
          <a:p>
            <a:pPr>
              <a:spcBef>
                <a:spcPts val="800"/>
              </a:spcBef>
              <a:spcAft>
                <a:spcPts val="300"/>
              </a:spcAft>
              <a:defRPr sz="1100" b="1">
                <a:solidFill>
                  <a:srgbClr val="00F0FF"/>
                </a:solidFill>
                <a:latin typeface="Arial"/>
              </a:defRPr>
            </a:pPr>
            <a:r>
              <a:t>National Policy, Pedagogy &amp; Workforce Standards:</a:t>
            </a:r>
          </a:p>
          <a:p>
            <a:pPr>
              <a:spcAft>
                <a:spcPts val="200"/>
              </a:spcAft>
              <a:defRPr sz="850">
                <a:solidFill>
                  <a:srgbClr val="FFFFFF"/>
                </a:solidFill>
                <a:latin typeface="Arial"/>
              </a:defRPr>
            </a:pPr>
            <a:r>
              <a:t>• Department of Science &amp; Technology, Govt. of India (2023–2026) – National Quantum Mission (NQM) Policy &amp; Human Resource Development Roadmap (₹6,003 Cr).</a:t>
            </a:r>
          </a:p>
          <a:p>
            <a:pPr>
              <a:spcAft>
                <a:spcPts val="200"/>
              </a:spcAft>
              <a:defRPr sz="850">
                <a:solidFill>
                  <a:srgbClr val="FFFFFF"/>
                </a:solidFill>
                <a:latin typeface="Arial"/>
              </a:defRPr>
            </a:pPr>
            <a:r>
              <a:t>• Bloom, Benjamin S. (1984) – The 2 Sigma Problem: The Search for Methods of Group Instruction as Effective as One-to-One Tutoring. Educational Researcher, 13(6), 4-16.</a:t>
            </a:r>
          </a:p>
          <a:p>
            <a:pPr>
              <a:spcAft>
                <a:spcPts val="200"/>
              </a:spcAft>
              <a:defRPr sz="850">
                <a:solidFill>
                  <a:srgbClr val="FFFFFF"/>
                </a:solidFill>
                <a:latin typeface="Arial"/>
              </a:defRPr>
            </a:pPr>
            <a:r>
              <a:t>• Quantum Economic Development Consortium (QED-C, 2023) – Quantum Workforce Development Guidelines for Undergraduate Engineering Education: https://quantumconsortium.org</a:t>
            </a:r>
          </a:p>
          <a:p>
            <a:pPr>
              <a:spcAft>
                <a:spcPts val="200"/>
              </a:spcAft>
              <a:defRPr sz="850">
                <a:solidFill>
                  <a:srgbClr val="FFFFFF"/>
                </a:solidFill>
                <a:latin typeface="Arial"/>
              </a:defRPr>
            </a:pPr>
            <a:r>
              <a:t>• AICTE &amp; UGC (2024) – National Education Policy (NEP 2020) Technical Guidelines for Emerging Deep-Tech Quantum Curricula.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DAHU6XYzYKc</dc:identifier>
  <dcterms:modified xsi:type="dcterms:W3CDTF">2011-08-01T06:04:30Z</dcterms:modified>
  <cp:revision>1</cp:revision>
  <dc:title>QuantumLeap_SIH2026_Gitwolves_FINAL.pptx</dc:title>
</cp:coreProperties>
</file>