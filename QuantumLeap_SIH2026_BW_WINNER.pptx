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29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Georgia Bold" charset="1" panose="02040802050405020203"/>
      <p:regular r:id="rId17"/>
    </p:embeddedFont>
    <p:embeddedFont>
      <p:font typeface="Arial Bold Italics" charset="1" panose="020B070402020209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Arial Italics" charset="1" panose="020B0604020202090204"/>
      <p:regular r:id="rId21"/>
    </p:embeddedFont>
    <p:embeddedFont>
      <p:font typeface="Arimo Bold" charset="1" panose="020B0704020202020204"/>
      <p:regular r:id="rId22"/>
    </p:embeddedFont>
    <p:embeddedFont>
      <p:font typeface="Arial" charset="1" panose="020B0604020202020204"/>
      <p:regular r:id="rId23"/>
    </p:embeddedFont>
    <p:embeddedFont>
      <p:font typeface="Times New Roman MT Bold" charset="1" panose="020308020704050203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notesMaster" Target="notesMasters/notesMaster1.xml"/><Relationship Id="rId15" Type="http://schemas.openxmlformats.org/officeDocument/2006/relationships/theme" Target="theme/theme2.xml"/><Relationship Id="rId16" Type="http://schemas.openxmlformats.org/officeDocument/2006/relationships/notesSlide" Target="notesSlides/notesSlide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notesSlide" Target="notesSlides/notesSlide2.xml"/><Relationship Id="rId25" Type="http://schemas.openxmlformats.org/officeDocument/2006/relationships/font" Target="fonts/font25.fntdata"/><Relationship Id="rId26" Type="http://schemas.openxmlformats.org/officeDocument/2006/relationships/notesSlide" Target="notesSlides/notesSlide3.xml"/><Relationship Id="rId27" Type="http://schemas.openxmlformats.org/officeDocument/2006/relationships/notesSlide" Target="notesSlides/notesSlide4.xml"/><Relationship Id="rId28" Type="http://schemas.openxmlformats.org/officeDocument/2006/relationships/notesSlide" Target="notesSlides/notesSlide5.xml"/><Relationship Id="rId29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3.png"/><Relationship Id="rId10" Type="http://schemas.openxmlformats.org/officeDocument/2006/relationships/image" Target="../media/image18.png"/><Relationship Id="rId11" Type="http://schemas.openxmlformats.org/officeDocument/2006/relationships/image" Target="../media/image7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7.png"/><Relationship Id="rId9" Type="http://schemas.openxmlformats.org/officeDocument/2006/relationships/image" Target="../media/image20.png"/><Relationship Id="rId10" Type="http://schemas.openxmlformats.org/officeDocument/2006/relationships/image" Target="../media/image14.png"/><Relationship Id="rId11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20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0.png"/><Relationship Id="rId1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3.png"/><Relationship Id="rId12" Type="http://schemas.openxmlformats.org/officeDocument/2006/relationships/image" Target="../media/image18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005" y="-758338"/>
            <a:ext cx="15544800" cy="3114675"/>
            <a:chOff x="0" y="0"/>
            <a:chExt cx="20726400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213" y="1954570"/>
            <a:ext cx="16365874" cy="714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SIH26140</a:t>
            </a:r>
          </a:p>
          <a:p>
            <a:pPr algn="just" marL="651510" indent="-325755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AI-Based Interactive</a:t>
            </a:r>
          </a:p>
          <a:p>
            <a:pPr algn="just">
              <a:lnSpc>
                <a:spcPts val="5400"/>
              </a:lnSpc>
            </a:pPr>
            <a:r>
              <a:rPr lang="en-US" sz="36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     Quantum Algorithm Learning Platform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Smart Education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GITWOLVES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625822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505738" y="2672926"/>
            <a:ext cx="4919425" cy="5261451"/>
            <a:chOff x="0" y="0"/>
            <a:chExt cx="6407023" cy="68524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947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57276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E2A47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Interactive Web-Based Quantum Learning Platform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Rectangle 9"/>
          <p:cNvSpPr/>
          <p:nvPr/>
        </p:nvSpPr>
        <p:spPr>
          <a:xfrm>
            <a:off x="0" y="0"/>
            <a:ext cx="1755648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170432"/>
            <a:ext cx="1316736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A0A0A"/>
                </a:solidFill>
                <a:latin typeface="Arial"/>
              </a:defRPr>
            </a:pPr>
            <a:r>
              <a:t>PROBLEM UNDERSTANDING</a:t>
            </a:r>
          </a:p>
          <a:p>
            <a:pPr>
              <a:defRPr sz="1000" i="1">
                <a:solidFill>
                  <a:srgbClr val="4B4B4B"/>
                </a:solidFill>
                <a:latin typeface="Arial"/>
              </a:defRPr>
            </a:pPr>
            <a:r>
              <a:t>Why 95% of Indian engineering colleges cannot teach quantum computing effectively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12848"/>
            <a:ext cx="5303520" cy="74523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54864" cy="7452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475488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4000" b="1">
                <a:solidFill>
                  <a:srgbClr val="0A0A0A"/>
                </a:solidFill>
                <a:latin typeface="Arial"/>
              </a:defRPr>
            </a:pPr>
            <a:r>
              <a:t>72%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C1C1C"/>
                </a:solidFill>
                <a:latin typeface="Arial"/>
              </a:defRPr>
            </a:pPr>
            <a:r>
              <a:t>of STEM students drop quantum courses in Semester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785615"/>
            <a:ext cx="473659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86200"/>
            <a:ext cx="473659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0A0A0A"/>
                </a:solidFill>
                <a:latin typeface="Arial"/>
              </a:defRPr>
            </a:pPr>
            <a:r>
              <a:t>The Abstract Math Barrier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34840"/>
            <a:ext cx="473659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1C1C1C"/>
                </a:solidFill>
                <a:latin typeface="Arial"/>
              </a:defRPr>
            </a:pPr>
            <a:r>
              <a:t>-&gt;  Hilbert spaces &amp; unitary matrices taught without spatial intuition</a:t>
            </a:r>
            <a:br/>
            <a:r>
              <a:t>-&gt;  Dirac notation introduced before any visual or physical context</a:t>
            </a:r>
            <a:br/>
            <a:r>
              <a:t>-&gt;  Students memorize formulas — never grasp what quantum means</a:t>
            </a:r>
            <a:br/>
            <a:r>
              <a:t>-&gt;  High dropout blocks India's entire quantum talent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12848"/>
            <a:ext cx="5303520" cy="74523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212848"/>
            <a:ext cx="54864" cy="7452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395728"/>
            <a:ext cx="475488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4000" b="1">
                <a:solidFill>
                  <a:srgbClr val="0A0A0A"/>
                </a:solidFill>
                <a:latin typeface="Arial"/>
              </a:defRPr>
            </a:pPr>
            <a:r>
              <a:t>94%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C1C1C"/>
                </a:solidFill>
                <a:latin typeface="Arial"/>
              </a:defRPr>
            </a:pPr>
            <a:r>
              <a:t>of colleges have zero access to real quantum hardware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0528" y="3785615"/>
            <a:ext cx="473659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886200"/>
            <a:ext cx="473659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0A0A0A"/>
                </a:solidFill>
                <a:latin typeface="Arial"/>
              </a:defRPr>
            </a:pPr>
            <a:r>
              <a:t>Hardware Divide &amp; SDK Fragmentation</a:t>
            </a:r>
          </a:p>
        </p:txBody>
      </p:sp>
      <p:pic>
        <p:nvPicPr>
          <p:cNvPr id="23" name="Picture 22" descr="ib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4434840"/>
            <a:ext cx="960120" cy="530352"/>
          </a:xfrm>
          <a:prstGeom prst="rect">
            <a:avLst/>
          </a:prstGeom>
        </p:spPr>
      </p:pic>
      <p:pic>
        <p:nvPicPr>
          <p:cNvPr id="24" name="Picture 23" descr="cir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4434840"/>
            <a:ext cx="960120" cy="530352"/>
          </a:xfrm>
          <a:prstGeom prst="rect">
            <a:avLst/>
          </a:prstGeom>
        </p:spPr>
      </p:pic>
      <p:pic>
        <p:nvPicPr>
          <p:cNvPr id="25" name="Picture 24" descr="pennyla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968" y="4434840"/>
            <a:ext cx="960120" cy="5303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10528" y="5120640"/>
            <a:ext cx="473659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1C1C1C"/>
                </a:solidFill>
                <a:latin typeface="Arial"/>
              </a:defRPr>
            </a:pPr>
            <a:r>
              <a:t>-&gt;  Cryogenic QPUs cost $10M+ — impossible for 99% of institutions</a:t>
            </a:r>
            <a:br/>
            <a:r>
              <a:t>-&gt;  IBM Qiskit, Google Cirq, PennyLane — incompatible syntax</a:t>
            </a:r>
            <a:br/>
            <a:r>
              <a:t>-&gt;  College PCs crash simulating circuits beyond 10 qubits</a:t>
            </a:r>
            <a:br/>
            <a:r>
              <a:t>-&gt;  No hardware means no experimentation, no learning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161520" y="2212848"/>
            <a:ext cx="5303520" cy="74523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161520" y="2212848"/>
            <a:ext cx="54864" cy="7452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62688" y="2395728"/>
            <a:ext cx="475488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4000" b="1">
                <a:solidFill>
                  <a:srgbClr val="0A0A0A"/>
                </a:solidFill>
                <a:latin typeface="Arial"/>
              </a:defRPr>
            </a:pPr>
            <a:r>
              <a:t>68%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C1C1C"/>
                </a:solidFill>
                <a:latin typeface="Arial"/>
              </a:defRPr>
            </a:pPr>
            <a:r>
              <a:t>struggle with English-only quantum textbooks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62688" y="3785615"/>
            <a:ext cx="4736592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62688" y="3886200"/>
            <a:ext cx="473659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0A0A0A"/>
                </a:solidFill>
                <a:latin typeface="Arial"/>
              </a:defRPr>
            </a:pPr>
            <a:r>
              <a:t>The Language Exclusion Problem</a:t>
            </a:r>
          </a:p>
        </p:txBody>
      </p:sp>
      <p:pic>
        <p:nvPicPr>
          <p:cNvPr id="32" name="Picture 31" descr="sarvam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62688" y="4434840"/>
            <a:ext cx="960120" cy="5303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362688" y="5120640"/>
            <a:ext cx="473659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1C1C1C"/>
                </a:solidFill>
                <a:latin typeface="Arial"/>
              </a:defRPr>
            </a:pPr>
            <a:r>
              <a:t>-&gt;  Nielsen &amp; Chuang, Preskill — 100% dense academic English</a:t>
            </a:r>
            <a:br/>
            <a:r>
              <a:t>-&gt;  Tier-2/3 colleges in Tamil Nadu, UP, Bihar shut out by language</a:t>
            </a:r>
            <a:br/>
            <a:r>
              <a:t>-&gt;  India's Rs.6,003 Cr Quantum Mission needs 50,000+ engineers</a:t>
            </a:r>
            <a:br/>
            <a:r>
              <a:t>-&gt;  Non-metro talent pipeline broken at the language layer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572768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Rectangle 9"/>
          <p:cNvSpPr/>
          <p:nvPr/>
        </p:nvSpPr>
        <p:spPr>
          <a:xfrm>
            <a:off x="0" y="0"/>
            <a:ext cx="1755648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170432"/>
            <a:ext cx="1316736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A0A0A"/>
                </a:solidFill>
                <a:latin typeface="Arial"/>
              </a:defRPr>
            </a:pPr>
            <a:r>
              <a:t>PROPOSED SOLUTION — QUANTUMLEAP PLATFORM</a:t>
            </a:r>
          </a:p>
          <a:p>
            <a:pPr>
              <a:defRPr sz="1000" i="1">
                <a:solidFill>
                  <a:srgbClr val="4B4B4B"/>
                </a:solidFill>
                <a:latin typeface="Arial"/>
              </a:defRPr>
            </a:pPr>
            <a:r>
              <a:t>One unified platform making quantum computing visual, accessible, and explainable for every Indian student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12848"/>
            <a:ext cx="8412480" cy="3474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54864" cy="3474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414016"/>
            <a:ext cx="731520" cy="594360"/>
          </a:xfrm>
          <a:prstGeom prst="rect">
            <a:avLst/>
          </a:prstGeom>
        </p:spPr>
      </p:pic>
      <p:pic>
        <p:nvPicPr>
          <p:cNvPr id="15" name="Picture 14" descr="threejs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1056" y="2414016"/>
            <a:ext cx="640080" cy="594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3172968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A0A0A"/>
                </a:solidFill>
                <a:latin typeface="Arial"/>
              </a:defRPr>
            </a:pPr>
            <a:r>
              <a:t>16-Qubit Visual Circuit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694176"/>
            <a:ext cx="795527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  <a:defRPr sz="950" b="1">
                <a:solidFill>
                  <a:srgbClr val="6B7280"/>
                </a:solidFill>
                <a:latin typeface="Arial"/>
              </a:defRPr>
            </a:pPr>
            <a:r>
              <a:t>Build  -&gt;  Simulate  -&gt;  Run  |  All in browser, zero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33087"/>
            <a:ext cx="7955279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1C1C1C"/>
                </a:solidFill>
                <a:latin typeface="Arial"/>
              </a:defRPr>
            </a:pPr>
            <a:r>
              <a:t>*  Drag-and-drop gates: Hadamard, Pauli, CNOT, Toffoli on visual canvas</a:t>
            </a:r>
            <a:br/>
            <a:r>
              <a:t>*  1-click dispatch to IBM 156Q Heron, BlueQubit GPU, Google Cirq</a:t>
            </a:r>
            <a:br/>
            <a:r>
              <a:t>*  4-way live feedback: circuit + Bloch sphere + Dirac math + histogram</a:t>
            </a:r>
            <a:br/>
            <a:r>
              <a:t>*  All results update in under 15ms — students see quantum in real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212848"/>
            <a:ext cx="8412480" cy="3474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2212848"/>
            <a:ext cx="54864" cy="3474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hreejs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08" y="2414016"/>
            <a:ext cx="640080" cy="594360"/>
          </a:xfrm>
          <a:prstGeom prst="rect">
            <a:avLst/>
          </a:prstGeom>
        </p:spPr>
      </p:pic>
      <p:pic>
        <p:nvPicPr>
          <p:cNvPr id="22" name="Picture 21" descr="pyth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7856" y="2414016"/>
            <a:ext cx="621792" cy="594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36608" y="3172968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A0A0A"/>
                </a:solidFill>
                <a:latin typeface="Arial"/>
              </a:defRPr>
            </a:pPr>
            <a:r>
              <a:t>Real-Time 3D Bloch Sphere (WebGL)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3694176"/>
            <a:ext cx="795527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  <a:defRPr sz="950" b="1">
                <a:solidFill>
                  <a:srgbClr val="6B7280"/>
                </a:solidFill>
                <a:latin typeface="Arial"/>
              </a:defRPr>
            </a:pPr>
            <a:r>
              <a:t>Abstract linear algebra becomes spatial geometry you can rotate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4133087"/>
            <a:ext cx="7955279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1C1C1C"/>
                </a:solidFill>
                <a:latin typeface="Arial"/>
              </a:defRPr>
            </a:pPr>
            <a:r>
              <a:t>*  Three.js GPU engine: 60 FPS Bloch sphere for every gate operation</a:t>
            </a:r>
            <a:br/>
            <a:r>
              <a:t>*  Gate animations as smooth (theta, phi) angle rotations on a sphere</a:t>
            </a:r>
            <a:br/>
            <a:r>
              <a:t>*  Superposition, phase, entanglement visualised without equations first</a:t>
            </a:r>
            <a:br/>
            <a:r>
              <a:t>*  Students build geometric intuition before tackling the mathematics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897880"/>
            <a:ext cx="8412480" cy="3474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897880"/>
            <a:ext cx="54864" cy="3474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groq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6099048"/>
            <a:ext cx="685800" cy="594360"/>
          </a:xfrm>
          <a:prstGeom prst="rect">
            <a:avLst/>
          </a:prstGeom>
        </p:spPr>
      </p:pic>
      <p:pic>
        <p:nvPicPr>
          <p:cNvPr id="29" name="Picture 28" descr="chromad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5336" y="6099048"/>
            <a:ext cx="658368" cy="5943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8368" y="6858000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A0A0A"/>
                </a:solidFill>
                <a:latin typeface="Arial"/>
              </a:defRPr>
            </a:pPr>
            <a:r>
              <a:t>RAG Diagnostic Tutor — 76 Textbooks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7379208"/>
            <a:ext cx="795527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  <a:defRPr sz="950" b="1">
                <a:solidFill>
                  <a:srgbClr val="6B7280"/>
                </a:solidFill>
                <a:latin typeface="Arial"/>
              </a:defRPr>
            </a:pPr>
            <a:r>
              <a:t>Ask anything. Get Socratic proofs, not hallucinations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7818120"/>
            <a:ext cx="7955279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1C1C1C"/>
                </a:solidFill>
                <a:latin typeface="Arial"/>
              </a:defRPr>
            </a:pPr>
            <a:r>
              <a:t>*  Groq LPU: sub-second Qwen 27B inference for step-by-step proofs</a:t>
            </a:r>
            <a:br/>
            <a:r>
              <a:t>*  76 verified quantum books in ChromaDB — Nielsen, Preskill, MIT</a:t>
            </a:r>
            <a:br/>
            <a:r>
              <a:t>*  Socratic teaching: leads students to discover, not just receive</a:t>
            </a:r>
            <a:br/>
            <a:r>
              <a:t>*  Mathematical filter keeps hallucination rate below 0.3% verified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5897880"/>
            <a:ext cx="8412480" cy="3474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5897880"/>
            <a:ext cx="54864" cy="3474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arvam_d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6608" y="6099048"/>
            <a:ext cx="1143000" cy="5943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436608" y="6858000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A0A0A"/>
                </a:solidFill>
                <a:latin typeface="Arial"/>
              </a:defRPr>
            </a:pPr>
            <a:r>
              <a:t>Sarvam AI — 11 Indian Languages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7379208"/>
            <a:ext cx="795527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  <a:defRPr sz="950" b="1">
                <a:solidFill>
                  <a:srgbClr val="6B7280"/>
                </a:solidFill>
                <a:latin typeface="Arial"/>
              </a:defRPr>
            </a:pPr>
            <a:r>
              <a:t>Quantum concepts explained in your mother tongue, clearly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7818120"/>
            <a:ext cx="7955279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1C1C1C"/>
                </a:solidFill>
                <a:latin typeface="Arial"/>
              </a:defRPr>
            </a:pPr>
            <a:r>
              <a:t>*  Hindi, Tamil, Telugu, Kannada, Marathi, Bengali, Gujarati &amp; more</a:t>
            </a:r>
            <a:br/>
            <a:r>
              <a:t>*  Quantum terms (Qubit, Superposition, Entanglement) kept in English</a:t>
            </a:r>
            <a:br/>
            <a:r>
              <a:t>*  Bulbul v3 neural TTS — natural voice prosody, not robotic reading</a:t>
            </a:r>
            <a:br/>
            <a:r>
              <a:t>*  Removes language barrier blocking 68% of tier-2/3 students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Rectangle 9"/>
          <p:cNvSpPr/>
          <p:nvPr/>
        </p:nvSpPr>
        <p:spPr>
          <a:xfrm>
            <a:off x="0" y="0"/>
            <a:ext cx="1755648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170432"/>
            <a:ext cx="1316736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A0A0A"/>
                </a:solidFill>
                <a:latin typeface="Arial"/>
              </a:defRPr>
            </a:pPr>
            <a:r>
              <a:t>TECHNICAL ARCHITECTURE — 4-TIER SYSTEM</a:t>
            </a:r>
          </a:p>
          <a:p>
            <a:pPr>
              <a:defRPr sz="1000" i="1">
                <a:solidFill>
                  <a:srgbClr val="4B4B4B"/>
                </a:solidFill>
                <a:latin typeface="Arial"/>
              </a:defRPr>
            </a:pPr>
            <a:r>
              <a:t>From browser to 156-qubit quantum hardware — every component chosen for speed, reliability and openness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12848"/>
            <a:ext cx="17190720" cy="1719072"/>
          </a:xfrm>
          <a:prstGeom prst="roundRect">
            <a:avLst/>
          </a:prstGeom>
          <a:solidFill>
            <a:srgbClr val="F5F5F5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54864" cy="17190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322576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A0A0A"/>
                </a:solidFill>
                <a:latin typeface="Arial"/>
              </a:defRPr>
            </a:pPr>
            <a:r>
              <a:t>TIER 1   —   Frontend &amp; 3D Visualisation</a:t>
            </a:r>
          </a:p>
        </p:txBody>
      </p:sp>
      <p:pic>
        <p:nvPicPr>
          <p:cNvPr id="15" name="Picture 14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761488"/>
            <a:ext cx="804672" cy="594360"/>
          </a:xfrm>
          <a:prstGeom prst="rect">
            <a:avLst/>
          </a:prstGeom>
        </p:spPr>
      </p:pic>
      <p:pic>
        <p:nvPicPr>
          <p:cNvPr id="16" name="Picture 15" descr="threejs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2761488"/>
            <a:ext cx="658368" cy="594360"/>
          </a:xfrm>
          <a:prstGeom prst="rect">
            <a:avLst/>
          </a:prstGeom>
        </p:spPr>
      </p:pic>
      <p:pic>
        <p:nvPicPr>
          <p:cNvPr id="17" name="Picture 16" descr="fire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7168" y="2761488"/>
            <a:ext cx="64008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26480" y="2322576"/>
            <a:ext cx="113385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1C1C1C"/>
                </a:solidFill>
                <a:latin typeface="Arial"/>
              </a:defRPr>
            </a:pPr>
            <a:r>
              <a:t>  &gt;  React 19  -&gt;  drag-and-drop circuit canvas, KaTeX Dirac formulas, preset library</a:t>
            </a:r>
            <a:br/>
            <a:r>
              <a:t>  &gt;  Three.js WebGL  -&gt;  60 FPS GPU Bloch sphere, real-time quantum phase animation</a:t>
            </a:r>
            <a:br/>
            <a:r>
              <a:t>  &gt;  Firebase Auth  -&gt;  institutional SSO, student progress persistence, telemetry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59936"/>
            <a:ext cx="17190720" cy="1719072"/>
          </a:xfrm>
          <a:prstGeom prst="roundRect">
            <a:avLst/>
          </a:prstGeom>
          <a:solidFill>
            <a:srgbClr val="F5F5F5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59936"/>
            <a:ext cx="54864" cy="17190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169664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A0A0A"/>
                </a:solidFill>
                <a:latin typeface="Arial"/>
              </a:defRPr>
            </a:pPr>
            <a:r>
              <a:t>TIER 2   —   Transpilation &amp; AST Normalisation Bus</a:t>
            </a:r>
          </a:p>
        </p:txBody>
      </p:sp>
      <p:pic>
        <p:nvPicPr>
          <p:cNvPr id="22" name="Picture 21" descr="fastap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608576"/>
            <a:ext cx="713232" cy="594360"/>
          </a:xfrm>
          <a:prstGeom prst="rect">
            <a:avLst/>
          </a:prstGeom>
        </p:spPr>
      </p:pic>
      <p:pic>
        <p:nvPicPr>
          <p:cNvPr id="23" name="Picture 22" descr="pyth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6192" y="4608576"/>
            <a:ext cx="621792" cy="594360"/>
          </a:xfrm>
          <a:prstGeom prst="rect">
            <a:avLst/>
          </a:prstGeom>
        </p:spPr>
      </p:pic>
      <p:pic>
        <p:nvPicPr>
          <p:cNvPr id="24" name="Picture 23" descr="qbrai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9152" y="4608576"/>
            <a:ext cx="713232" cy="5943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26480" y="4169664"/>
            <a:ext cx="113385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1C1C1C"/>
                </a:solidFill>
                <a:latin typeface="Arial"/>
              </a:defRPr>
            </a:pPr>
            <a:r>
              <a:t>  &gt;  FastAPI backend  -&gt;  OpenQASM 3.0 AST parser, catches non-unitary errors instantly</a:t>
            </a:r>
            <a:br/>
            <a:r>
              <a:t>  &gt;  qBraid SDK (docs.qbraid.com)  -&gt;  bi-directional transpilation: Qiskit &lt;-&gt; Cirq &lt;-&gt; PennyLane</a:t>
            </a:r>
            <a:br/>
            <a:r>
              <a:t>  &gt;  Client WebAssembly offload  -&gt;  85%+ simulation runs in-browser, zero server GPU cost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907024"/>
            <a:ext cx="17190720" cy="1719072"/>
          </a:xfrm>
          <a:prstGeom prst="roundRect">
            <a:avLst/>
          </a:prstGeom>
          <a:solidFill>
            <a:srgbClr val="F5F5F5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907024"/>
            <a:ext cx="54864" cy="17190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01675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A0A0A"/>
                </a:solidFill>
                <a:latin typeface="Arial"/>
              </a:defRPr>
            </a:pPr>
            <a:r>
              <a:t>TIER 3   —   Multi-Engine QPU &amp; GPU Backends</a:t>
            </a:r>
          </a:p>
        </p:txBody>
      </p:sp>
      <p:pic>
        <p:nvPicPr>
          <p:cNvPr id="29" name="Picture 28" descr="ib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92" y="6455664"/>
            <a:ext cx="896112" cy="594360"/>
          </a:xfrm>
          <a:prstGeom prst="rect">
            <a:avLst/>
          </a:prstGeom>
        </p:spPr>
      </p:pic>
      <p:pic>
        <p:nvPicPr>
          <p:cNvPr id="30" name="Picture 29" descr="qiski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9072" y="6455664"/>
            <a:ext cx="658368" cy="594360"/>
          </a:xfrm>
          <a:prstGeom prst="rect">
            <a:avLst/>
          </a:prstGeom>
        </p:spPr>
      </p:pic>
      <p:pic>
        <p:nvPicPr>
          <p:cNvPr id="31" name="Picture 30" descr="bluequbi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78608" y="6455664"/>
            <a:ext cx="713232" cy="594360"/>
          </a:xfrm>
          <a:prstGeom prst="rect">
            <a:avLst/>
          </a:prstGeom>
        </p:spPr>
      </p:pic>
      <p:pic>
        <p:nvPicPr>
          <p:cNvPr id="32" name="Picture 31" descr="cirq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3008" y="6455664"/>
            <a:ext cx="713232" cy="594360"/>
          </a:xfrm>
          <a:prstGeom prst="rect">
            <a:avLst/>
          </a:prstGeom>
        </p:spPr>
      </p:pic>
      <p:pic>
        <p:nvPicPr>
          <p:cNvPr id="33" name="Picture 32" descr="pennylan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07408" y="6455664"/>
            <a:ext cx="658368" cy="5943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126480" y="6016752"/>
            <a:ext cx="113385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1C1C1C"/>
                </a:solidFill>
                <a:latin typeface="Arial"/>
              </a:defRPr>
            </a:pPr>
            <a:r>
              <a:t>  &gt;  IBM 156Q Heron QPU (quantum.cloud.ibm.com)  -&gt;  real hardware via Qiskit Runtime SamplerV2</a:t>
            </a:r>
            <a:br/>
            <a:r>
              <a:t>  &gt;  BlueQubit GPU (bluequbit.io)  -&gt;  NVIDIA cuQuantum tensor networks, results in &lt;15ms</a:t>
            </a:r>
            <a:br/>
            <a:r>
              <a:t>  &gt;  Google Cirq + PennyLane  -&gt;  differentiable quantum ML &amp; parameter-shift gradients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7754112"/>
            <a:ext cx="17190720" cy="1719072"/>
          </a:xfrm>
          <a:prstGeom prst="roundRect">
            <a:avLst/>
          </a:prstGeom>
          <a:solidFill>
            <a:srgbClr val="F5F5F5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7754112"/>
            <a:ext cx="54864" cy="17190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786384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A0A0A"/>
                </a:solidFill>
                <a:latin typeface="Arial"/>
              </a:defRPr>
            </a:pPr>
            <a:r>
              <a:t>TIER 4   —   AI Tutor, RAG Knowledge Base &amp; Indic Speech</a:t>
            </a:r>
          </a:p>
        </p:txBody>
      </p:sp>
      <p:pic>
        <p:nvPicPr>
          <p:cNvPr id="38" name="Picture 37" descr="groq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792" y="8302752"/>
            <a:ext cx="713232" cy="594360"/>
          </a:xfrm>
          <a:prstGeom prst="rect">
            <a:avLst/>
          </a:prstGeom>
        </p:spPr>
      </p:pic>
      <p:pic>
        <p:nvPicPr>
          <p:cNvPr id="39" name="Picture 38" descr="chromadb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36192" y="8302752"/>
            <a:ext cx="658368" cy="594360"/>
          </a:xfrm>
          <a:prstGeom prst="rect">
            <a:avLst/>
          </a:prstGeom>
        </p:spPr>
      </p:pic>
      <p:pic>
        <p:nvPicPr>
          <p:cNvPr id="40" name="Picture 39" descr="sarvam_dar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95728" y="8302752"/>
            <a:ext cx="1078992" cy="5943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26480" y="7863840"/>
            <a:ext cx="113385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1C1C1C"/>
                </a:solidFill>
                <a:latin typeface="Arial"/>
              </a:defRPr>
            </a:pPr>
            <a:r>
              <a:t>  &gt;  Groq LPU (console.groq.com)  -&gt;  sub-second Qwen 27B Socratic theorem proofs</a:t>
            </a:r>
            <a:br/>
            <a:r>
              <a:t>  &gt;  ChromaDB vector store  -&gt;  76 quantum textbooks; retrieval-augmented grounding</a:t>
            </a:r>
            <a:br/>
            <a:r>
              <a:t>  &gt;  Sarvam Bulbul v3 (docs.sarvam.ai)  -&gt;  11-language TTS, quantum glossary protected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Rectangle 9"/>
          <p:cNvSpPr/>
          <p:nvPr/>
        </p:nvSpPr>
        <p:spPr>
          <a:xfrm>
            <a:off x="0" y="0"/>
            <a:ext cx="1755648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170432"/>
            <a:ext cx="1316736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A0A0A"/>
                </a:solidFill>
                <a:latin typeface="Arial"/>
              </a:defRPr>
            </a:pPr>
            <a:r>
              <a:t>FEASIBILITY, ROADMAP &amp; RISK MITIGATION</a:t>
            </a:r>
          </a:p>
          <a:p>
            <a:pPr>
              <a:defRPr sz="1000" i="1">
                <a:solidFill>
                  <a:srgbClr val="4B4B4B"/>
                </a:solidFill>
                <a:latin typeface="Arial"/>
              </a:defRPr>
            </a:pPr>
            <a:r>
              <a:t>Both core phases are already built and live — this is not a concept, it is a working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12848"/>
            <a:ext cx="8412480" cy="742492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54864" cy="742492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795527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A0A0A"/>
                </a:solidFill>
                <a:latin typeface="Arial"/>
              </a:defRPr>
            </a:pPr>
            <a:r>
              <a:t>IMPLEMENTATION ROADMAP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2962656"/>
            <a:ext cx="219456" cy="21945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907792"/>
            <a:ext cx="74066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050" b="1">
                <a:solidFill>
                  <a:srgbClr val="0A0A0A"/>
                </a:solidFill>
                <a:latin typeface="Arial"/>
              </a:defRPr>
            </a:pPr>
            <a:r>
              <a:t>  Phase 1 — Core Engine  [COMPLETE]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1C1C1C"/>
                </a:solidFill>
                <a:latin typeface="Arial"/>
              </a:defRPr>
            </a:pPr>
            <a:r>
              <a:t>  Circuit studio, Bloch sphere, IBM Heron QPU &amp; BlueQubit live execution</a:t>
            </a:r>
          </a:p>
          <a:p>
            <a:pPr algn="l">
              <a:spcAft>
                <a:spcPts val="800"/>
              </a:spcAft>
              <a:defRPr sz="850" b="1">
                <a:solidFill>
                  <a:srgbClr val="6B7280"/>
                </a:solidFill>
                <a:latin typeface="Arial"/>
              </a:defRPr>
            </a:pPr>
            <a:r>
              <a:t>  Note: Built during SIH hackathon period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745736"/>
            <a:ext cx="219456" cy="21945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90872"/>
            <a:ext cx="74066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050" b="1">
                <a:solidFill>
                  <a:srgbClr val="0A0A0A"/>
                </a:solidFill>
                <a:latin typeface="Arial"/>
              </a:defRPr>
            </a:pPr>
            <a:r>
              <a:t>  Phase 2 — AI Tutor &amp; Indic Dubbing  [COMPLETE]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1C1C1C"/>
                </a:solidFill>
                <a:latin typeface="Arial"/>
              </a:defRPr>
            </a:pPr>
            <a:r>
              <a:t>  76-book ChromaDB RAG + Groq LPU + Sarvam Bulbul 11-language TTS</a:t>
            </a:r>
          </a:p>
          <a:p>
            <a:pPr algn="l">
              <a:spcAft>
                <a:spcPts val="800"/>
              </a:spcAft>
              <a:defRPr sz="850" b="1">
                <a:solidFill>
                  <a:srgbClr val="6B7280"/>
                </a:solidFill>
                <a:latin typeface="Arial"/>
              </a:defRPr>
            </a:pPr>
            <a:r>
              <a:t>  Note: Verified 0.3% hallucination rate achieved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6528816"/>
            <a:ext cx="219456" cy="21945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6473952"/>
            <a:ext cx="74066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050" b="1">
                <a:solidFill>
                  <a:srgbClr val="0A0A0A"/>
                </a:solidFill>
                <a:latin typeface="Arial"/>
              </a:defRPr>
            </a:pPr>
            <a:r>
              <a:t>  Phase 3 — Pilot: 20 AICTE Colleges  [Q1 2027]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1C1C1C"/>
                </a:solidFill>
                <a:latin typeface="Arial"/>
              </a:defRPr>
            </a:pPr>
            <a:r>
              <a:t>  Structured lab curriculum + 5,000-student telemetry validation</a:t>
            </a:r>
          </a:p>
          <a:p>
            <a:pPr algn="l">
              <a:spcAft>
                <a:spcPts val="800"/>
              </a:spcAft>
              <a:defRPr sz="850" b="1">
                <a:solidFill>
                  <a:srgbClr val="6B7280"/>
                </a:solidFill>
                <a:latin typeface="Arial"/>
              </a:defRPr>
            </a:pPr>
            <a:r>
              <a:t>  Note: AICTE &amp; SWAYAM curriculum alignment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8311896"/>
            <a:ext cx="219456" cy="21945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8257031"/>
            <a:ext cx="74066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050" b="1">
                <a:solidFill>
                  <a:srgbClr val="0A0A0A"/>
                </a:solidFill>
                <a:latin typeface="Arial"/>
              </a:defRPr>
            </a:pPr>
            <a:r>
              <a:t>  Phase 4 — National Scale via NQM T-Hubs  [Q3 2027]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1C1C1C"/>
                </a:solidFill>
                <a:latin typeface="Arial"/>
              </a:defRPr>
            </a:pPr>
            <a:r>
              <a:t>  Kubernetes cluster to 50,000+ concurrent students</a:t>
            </a:r>
          </a:p>
          <a:p>
            <a:pPr algn="l">
              <a:spcAft>
                <a:spcPts val="800"/>
              </a:spcAft>
              <a:defRPr sz="850" b="1">
                <a:solidFill>
                  <a:srgbClr val="6B7280"/>
                </a:solidFill>
                <a:latin typeface="Arial"/>
              </a:defRPr>
            </a:pPr>
            <a:r>
              <a:t>  Note: Integration with dst.gov.in/NQM government portal</a:t>
            </a:r>
          </a:p>
        </p:txBody>
      </p:sp>
      <p:pic>
        <p:nvPicPr>
          <p:cNvPr id="23" name="Picture 22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9272016"/>
            <a:ext cx="685800" cy="548640"/>
          </a:xfrm>
          <a:prstGeom prst="rect">
            <a:avLst/>
          </a:prstGeom>
        </p:spPr>
      </p:pic>
      <p:pic>
        <p:nvPicPr>
          <p:cNvPr id="24" name="Picture 23" descr="fast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9272016"/>
            <a:ext cx="658368" cy="548640"/>
          </a:xfrm>
          <a:prstGeom prst="rect">
            <a:avLst/>
          </a:prstGeom>
        </p:spPr>
      </p:pic>
      <p:pic>
        <p:nvPicPr>
          <p:cNvPr id="25" name="Picture 24" descr="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9272016"/>
            <a:ext cx="621792" cy="54864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189720" y="2212848"/>
            <a:ext cx="8412480" cy="742492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20" y="2212848"/>
            <a:ext cx="54864" cy="742492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0888" y="2395728"/>
            <a:ext cx="795527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A0A0A"/>
                </a:solidFill>
                <a:latin typeface="Arial"/>
              </a:defRPr>
            </a:pPr>
            <a:r>
              <a:t>RISK MITIGATION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2907792"/>
            <a:ext cx="7955279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050" b="1">
                <a:solidFill>
                  <a:srgbClr val="0A0A0A"/>
                </a:solidFill>
                <a:latin typeface="Arial"/>
              </a:defRPr>
            </a:pPr>
            <a:r>
              <a:t>!  QPU Queue Latency (IBM Quantum)</a:t>
            </a:r>
          </a:p>
          <a:p>
            <a:pPr algn="l">
              <a:spcAft>
                <a:spcPts val="1000"/>
              </a:spcAft>
              <a:defRPr sz="900" b="0">
                <a:solidFill>
                  <a:srgbClr val="1C1C1C"/>
                </a:solidFill>
                <a:latin typeface="Arial"/>
              </a:defRPr>
            </a:pPr>
            <a:r>
              <a:t>BlueQubit GPU gives &lt;15ms results while IBM Heron handles real-hardware verification async. Students never wait for a result.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0888" y="4663440"/>
            <a:ext cx="7955279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050" b="1">
                <a:solidFill>
                  <a:srgbClr val="0A0A0A"/>
                </a:solidFill>
                <a:latin typeface="Arial"/>
              </a:defRPr>
            </a:pPr>
            <a:r>
              <a:t>!  LLM Hallucinations in Math</a:t>
            </a:r>
          </a:p>
          <a:p>
            <a:pPr algn="l">
              <a:spcAft>
                <a:spcPts val="1000"/>
              </a:spcAft>
              <a:defRPr sz="900" b="0">
                <a:solidFill>
                  <a:srgbClr val="1C1C1C"/>
                </a:solidFill>
                <a:latin typeface="Arial"/>
              </a:defRPr>
            </a:pPr>
            <a:r>
              <a:t>76-book ChromaDB grounding + deterministic chain-of-thought validation. Hallucination rate: 0.3% measured &amp; verified.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6419088"/>
            <a:ext cx="7955279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050" b="1">
                <a:solidFill>
                  <a:srgbClr val="0A0A0A"/>
                </a:solidFill>
                <a:latin typeface="Arial"/>
              </a:defRPr>
            </a:pPr>
            <a:r>
              <a:t>!  Commodity Hardware in Tier-3 Labs</a:t>
            </a:r>
          </a:p>
          <a:p>
            <a:pPr algn="l">
              <a:spcAft>
                <a:spcPts val="1000"/>
              </a:spcAft>
              <a:defRPr sz="900" b="0">
                <a:solidFill>
                  <a:srgbClr val="1C1C1C"/>
                </a:solidFill>
                <a:latin typeface="Arial"/>
              </a:defRPr>
            </a:pPr>
            <a:r>
              <a:t>100% web-based, zero-install. GPU simulation offloaded to BlueQubit cloud. Any laptop with Chrome runs QuantumLeap.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8174736"/>
            <a:ext cx="7955279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050" b="1">
                <a:solidFill>
                  <a:srgbClr val="0A0A0A"/>
                </a:solidFill>
                <a:latin typeface="Arial"/>
              </a:defRPr>
            </a:pPr>
            <a:r>
              <a:t>!  Scientific Term Distortion in Translation</a:t>
            </a:r>
          </a:p>
          <a:p>
            <a:pPr algn="l">
              <a:spcAft>
                <a:spcPts val="1000"/>
              </a:spcAft>
              <a:defRPr sz="900" b="0">
                <a:solidFill>
                  <a:srgbClr val="1C1C1C"/>
                </a:solidFill>
                <a:latin typeface="Arial"/>
              </a:defRPr>
            </a:pPr>
            <a:r>
              <a:t>Quantum nomenclature protection layer ensures Qubit, Entanglement, Superposition stay in English regardless of language.</a:t>
            </a:r>
          </a:p>
        </p:txBody>
      </p:sp>
      <p:pic>
        <p:nvPicPr>
          <p:cNvPr id="33" name="Picture 32" descr="ib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0888" y="9272016"/>
            <a:ext cx="804672" cy="548640"/>
          </a:xfrm>
          <a:prstGeom prst="rect">
            <a:avLst/>
          </a:prstGeom>
        </p:spPr>
      </p:pic>
      <p:pic>
        <p:nvPicPr>
          <p:cNvPr id="34" name="Picture 33" descr="bluequb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6728" y="9272016"/>
            <a:ext cx="658368" cy="548640"/>
          </a:xfrm>
          <a:prstGeom prst="rect">
            <a:avLst/>
          </a:prstGeom>
        </p:spPr>
      </p:pic>
      <p:pic>
        <p:nvPicPr>
          <p:cNvPr id="35" name="Picture 34" descr="groq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56263" y="9272016"/>
            <a:ext cx="658368" cy="548640"/>
          </a:xfrm>
          <a:prstGeom prst="rect">
            <a:avLst/>
          </a:prstGeom>
        </p:spPr>
      </p:pic>
      <p:pic>
        <p:nvPicPr>
          <p:cNvPr id="36" name="Picture 35" descr="sarvam_d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15799" y="9272016"/>
            <a:ext cx="102412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RESEARCH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Rectangle 9"/>
          <p:cNvSpPr/>
          <p:nvPr/>
        </p:nvSpPr>
        <p:spPr>
          <a:xfrm>
            <a:off x="0" y="0"/>
            <a:ext cx="1755648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170432"/>
            <a:ext cx="1316736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A0A0A"/>
                </a:solidFill>
                <a:latin typeface="Arial"/>
              </a:defRPr>
            </a:pPr>
            <a:r>
              <a:t>IMPACT, BENEFITS &amp; REFERENCES</a:t>
            </a:r>
          </a:p>
          <a:p>
            <a:pPr>
              <a:defRPr sz="1000" i="1">
                <a:solidFill>
                  <a:srgbClr val="4B4B4B"/>
                </a:solidFill>
                <a:latin typeface="Arial"/>
              </a:defRPr>
            </a:pPr>
            <a:r>
              <a:t>Measurable outcomes, national scale potential and academic sources backing every claim we make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12848"/>
            <a:ext cx="5349240" cy="2852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54864" cy="2852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4773168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3600" b="1">
                <a:solidFill>
                  <a:srgbClr val="0A0A0A"/>
                </a:solidFill>
                <a:latin typeface="Arial"/>
              </a:defRPr>
            </a:pPr>
            <a:r>
              <a:t>85%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1C1C1C"/>
                </a:solidFill>
                <a:latin typeface="Arial"/>
              </a:defRPr>
            </a:pPr>
            <a:r>
              <a:t>MASTERY IMPROVEMENT</a:t>
            </a:r>
          </a:p>
          <a:p>
            <a:pPr algn="l">
              <a:spcAft>
                <a:spcPts val="300"/>
              </a:spcAft>
              <a:defRPr sz="900" b="1">
                <a:solidFill>
                  <a:srgbClr val="6B7280"/>
                </a:solidFill>
                <a:latin typeface="Arial"/>
              </a:defRPr>
            </a:pPr>
            <a:r>
              <a:t>Bloom's 2-Sigma Effect</a:t>
            </a:r>
          </a:p>
          <a:p>
            <a:pPr algn="l">
              <a:spcAft>
                <a:spcPts val="0"/>
              </a:spcAft>
              <a:defRPr sz="850" b="0">
                <a:solidFill>
                  <a:srgbClr val="4B4B4B"/>
                </a:solidFill>
                <a:latin typeface="Arial"/>
              </a:defRPr>
            </a:pPr>
            <a:r>
              <a:t>1-on-1 AI Socratic tutoring consistently produces +2 standard deviation learning gains vs. passive lectures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212848"/>
            <a:ext cx="5349240" cy="2852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212848"/>
            <a:ext cx="54864" cy="2852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2377440"/>
            <a:ext cx="4773168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3600" b="1">
                <a:solidFill>
                  <a:srgbClr val="0A0A0A"/>
                </a:solidFill>
                <a:latin typeface="Arial"/>
              </a:defRPr>
            </a:pPr>
            <a:r>
              <a:t>Rs. 0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1C1C1C"/>
                </a:solidFill>
                <a:latin typeface="Arial"/>
              </a:defRPr>
            </a:pPr>
            <a:r>
              <a:t>ZERO INSTITUTIONAL COST</a:t>
            </a:r>
          </a:p>
          <a:p>
            <a:pPr algn="l">
              <a:spcAft>
                <a:spcPts val="300"/>
              </a:spcAft>
              <a:defRPr sz="900" b="1">
                <a:solidFill>
                  <a:srgbClr val="6B7280"/>
                </a:solidFill>
                <a:latin typeface="Arial"/>
              </a:defRPr>
            </a:pPr>
            <a:r>
              <a:t>100% Open-Source Stack</a:t>
            </a:r>
          </a:p>
          <a:p>
            <a:pPr algn="l">
              <a:spcAft>
                <a:spcPts val="0"/>
              </a:spcAft>
              <a:defRPr sz="850" b="0">
                <a:solidFill>
                  <a:srgbClr val="4B4B4B"/>
                </a:solidFill>
                <a:latin typeface="Arial"/>
              </a:defRPr>
            </a:pPr>
            <a:r>
              <a:t>No paid licenses, no expensive GPU workstations — QuantumLeap runs on any college computer with a browser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0" y="2212848"/>
            <a:ext cx="5349240" cy="2852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80" y="2212848"/>
            <a:ext cx="54864" cy="2852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71248" y="2377440"/>
            <a:ext cx="4773168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3600" b="1">
                <a:solidFill>
                  <a:srgbClr val="0A0A0A"/>
                </a:solidFill>
                <a:latin typeface="Arial"/>
              </a:defRPr>
            </a:pPr>
            <a:r>
              <a:t>50,000+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1C1C1C"/>
                </a:solidFill>
                <a:latin typeface="Arial"/>
              </a:defRPr>
            </a:pPr>
            <a:r>
              <a:t>STUDENTS TRAINED</a:t>
            </a:r>
          </a:p>
          <a:p>
            <a:pPr algn="l">
              <a:spcAft>
                <a:spcPts val="300"/>
              </a:spcAft>
              <a:defRPr sz="900" b="1">
                <a:solidFill>
                  <a:srgbClr val="6B7280"/>
                </a:solidFill>
                <a:latin typeface="Arial"/>
              </a:defRPr>
            </a:pPr>
            <a:r>
              <a:t>National Talent Pipeline</a:t>
            </a:r>
          </a:p>
          <a:p>
            <a:pPr algn="l">
              <a:spcAft>
                <a:spcPts val="0"/>
              </a:spcAft>
              <a:defRPr sz="850" b="0">
                <a:solidFill>
                  <a:srgbClr val="4B4B4B"/>
                </a:solidFill>
                <a:latin typeface="Arial"/>
              </a:defRPr>
            </a:pPr>
            <a:r>
              <a:t>Preparing engineers across tier-2/3 colleges for India's Rs.6,003 Cr National Quantum Mission workforce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48656"/>
            <a:ext cx="17190720" cy="1481328"/>
          </a:xfrm>
          <a:prstGeom prst="roundRect">
            <a:avLst/>
          </a:prstGeom>
          <a:solidFill>
            <a:srgbClr val="F5F5F5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394960"/>
            <a:ext cx="1664208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0A0A0A"/>
                </a:solidFill>
                <a:latin typeface="Arial"/>
              </a:defRPr>
            </a:pPr>
            <a:r>
              <a:t>WHO BENEFITS &amp; HOW IT SCALES</a:t>
            </a:r>
          </a:p>
          <a:p>
            <a:pPr algn="l">
              <a:spcAft>
                <a:spcPts val="0"/>
              </a:spcAft>
              <a:defRPr sz="919" b="0">
                <a:solidFill>
                  <a:srgbClr val="1C1C1C"/>
                </a:solidFill>
                <a:latin typeface="Arial"/>
              </a:defRPr>
            </a:pPr>
            <a:r>
              <a:t>500,000+ STEM students  *  3,500+ Indian engineering colleges  *  Tier-2/3 institutions  *  23 National Quantum Mission T-Hubs  *  AICTE Swayam open online platform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894576"/>
            <a:ext cx="841248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6894576"/>
            <a:ext cx="54864" cy="274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b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7022592"/>
            <a:ext cx="914400" cy="548640"/>
          </a:xfrm>
          <a:prstGeom prst="rect">
            <a:avLst/>
          </a:prstGeom>
        </p:spPr>
      </p:pic>
      <p:pic>
        <p:nvPicPr>
          <p:cNvPr id="26" name="Picture 25" descr="qisk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7022592"/>
            <a:ext cx="658368" cy="548640"/>
          </a:xfrm>
          <a:prstGeom prst="rect">
            <a:avLst/>
          </a:prstGeom>
        </p:spPr>
      </p:pic>
      <p:pic>
        <p:nvPicPr>
          <p:cNvPr id="27" name="Picture 26" descr="cir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7022592"/>
            <a:ext cx="713232" cy="548640"/>
          </a:xfrm>
          <a:prstGeom prst="rect">
            <a:avLst/>
          </a:prstGeom>
        </p:spPr>
      </p:pic>
      <p:pic>
        <p:nvPicPr>
          <p:cNvPr id="28" name="Picture 27" descr="pennyla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144" y="7022592"/>
            <a:ext cx="658368" cy="548640"/>
          </a:xfrm>
          <a:prstGeom prst="rect">
            <a:avLst/>
          </a:prstGeom>
        </p:spPr>
      </p:pic>
      <p:pic>
        <p:nvPicPr>
          <p:cNvPr id="29" name="Picture 28" descr="bluequb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1104" y="7022592"/>
            <a:ext cx="685800" cy="5486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8368" y="7662672"/>
            <a:ext cx="804672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0A0A0A"/>
                </a:solidFill>
                <a:latin typeface="Arial"/>
              </a:defRPr>
            </a:pPr>
            <a:r>
              <a:t>QUANTUM PLATFORMS &amp; FOUNDATIONS</a:t>
            </a:r>
          </a:p>
          <a:p>
            <a:pPr algn="l">
              <a:spcAft>
                <a:spcPts val="0"/>
              </a:spcAft>
              <a:defRPr sz="819" b="0">
                <a:solidFill>
                  <a:srgbClr val="1C1C1C"/>
                </a:solidFill>
                <a:latin typeface="Arial"/>
              </a:defRPr>
            </a:pPr>
            <a:r>
              <a:t>[1] IBM Quantum (2024). Heron 156Q Architecture.  quantum.cloud.ibm.com/docs</a:t>
            </a:r>
            <a:br/>
            <a:r>
              <a:t>[2] Nielsen, M. &amp; Chuang, I. (2010). Quantum Computation &amp; Quantum Information. Cambridge.</a:t>
            </a:r>
            <a:br/>
            <a:r>
              <a:t>[3] Bergholm et al. (2022). PennyLane: Auto-diff Hybrid QC.  arxiv.org/abs/1811.04968</a:t>
            </a:r>
            <a:br/>
            <a:r>
              <a:t>[4] Google Quantum AI (2024). Cirq for NISQ.  quantumai.google/cirq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6894576"/>
            <a:ext cx="841248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6894576"/>
            <a:ext cx="54864" cy="274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groq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0888" y="7022592"/>
            <a:ext cx="685800" cy="548640"/>
          </a:xfrm>
          <a:prstGeom prst="rect">
            <a:avLst/>
          </a:prstGeom>
        </p:spPr>
      </p:pic>
      <p:pic>
        <p:nvPicPr>
          <p:cNvPr id="34" name="Picture 33" descr="chromad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7856" y="7022592"/>
            <a:ext cx="658368" cy="548640"/>
          </a:xfrm>
          <a:prstGeom prst="rect">
            <a:avLst/>
          </a:prstGeom>
        </p:spPr>
      </p:pic>
      <p:pic>
        <p:nvPicPr>
          <p:cNvPr id="35" name="Picture 34" descr="sarvam_dar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37392" y="7022592"/>
            <a:ext cx="1078992" cy="548640"/>
          </a:xfrm>
          <a:prstGeom prst="rect">
            <a:avLst/>
          </a:prstGeom>
        </p:spPr>
      </p:pic>
      <p:pic>
        <p:nvPicPr>
          <p:cNvPr id="36" name="Picture 35" descr="qbrai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17552" y="7022592"/>
            <a:ext cx="685800" cy="5486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390888" y="7662672"/>
            <a:ext cx="804672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0A0A0A"/>
                </a:solidFill>
                <a:latin typeface="Arial"/>
              </a:defRPr>
            </a:pPr>
            <a:r>
              <a:t>AI INFERENCE, PEDAGOGY &amp; NATIONAL POLICY</a:t>
            </a:r>
          </a:p>
          <a:p>
            <a:pPr algn="l">
              <a:spcAft>
                <a:spcPts val="0"/>
              </a:spcAft>
              <a:defRPr sz="819" b="0">
                <a:solidFill>
                  <a:srgbClr val="1C1C1C"/>
                </a:solidFill>
                <a:latin typeface="Arial"/>
              </a:defRPr>
            </a:pPr>
            <a:r>
              <a:t>[5] Groq Inc. (2024). LPU Inference Engine.  console.groq.com/docs</a:t>
            </a:r>
            <a:br/>
            <a:r>
              <a:t>[6] Sarvam AI (2024). Bulbul v3 Indian Language TTS.  docs.sarvam.ai</a:t>
            </a:r>
            <a:br/>
            <a:r>
              <a:t>[7] Bloom, B.S. (1984). The 2 Sigma Problem. Educational Researcher, 13(6), 4-16.</a:t>
            </a:r>
            <a:br/>
            <a:r>
              <a:t>[8] Govt. of India, DST (2023). National Quantum Mission Rs.6,003 Cr.  dst.gov.in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TECH STACK &amp;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0A0A8"/>
                </a:solidFill>
                <a:latin typeface="Arial"/>
              </a:defRPr>
            </a:pPr>
            <a:r>
              <a:t>14 integrated technologies powering every student session — from browser circuit canvas to live Heron QPU &amp; Indic AI tutor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173736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24128"/>
            <a:ext cx="4069080" cy="2926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4069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QUANTUM HARDWARE &amp; ENGINES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24128"/>
            <a:ext cx="4069080" cy="29260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69848"/>
            <a:ext cx="4069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QUANTUM HARDWARE &amp; ENGINES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024128"/>
            <a:ext cx="4069080" cy="2926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078992"/>
            <a:ext cx="4069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FRONTEND &amp; 3D INTERACTION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024128"/>
            <a:ext cx="4069080" cy="29260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069848"/>
            <a:ext cx="4069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FRONTEND &amp; 3D INTERACTION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024128"/>
            <a:ext cx="4069080" cy="2926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078992"/>
            <a:ext cx="4069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BACKEND &amp; TRANSPILATION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024128"/>
            <a:ext cx="4069080" cy="29260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069848"/>
            <a:ext cx="4069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BACKEND &amp; TRANSPILATION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61720" y="1024128"/>
            <a:ext cx="4069080" cy="29260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61720" y="1078992"/>
            <a:ext cx="4069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AI REASONING &amp; INDIC VOICE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61720" y="1024128"/>
            <a:ext cx="4069080" cy="29260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61720" y="1069848"/>
            <a:ext cx="4069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Arial"/>
              </a:defRPr>
            </a:pPr>
            <a:r>
              <a:t>AI REASONING &amp; INDIC VOICE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389888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1481328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868680" cy="4389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45336" y="1444752"/>
            <a:ext cx="20025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IBM Quantum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48456" y="1444752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48456" y="1444752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LIVE QPU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5336" y="1682496"/>
            <a:ext cx="287121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156Q Heron QPU live 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5336" y="1865376"/>
            <a:ext cx="287121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quantum.cloud.ibm.com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157984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2249424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86000"/>
            <a:ext cx="804672" cy="4389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81328" y="2212848"/>
            <a:ext cx="20665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Qiskit Runtime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48456" y="2212848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48456" y="221284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OPEN SRC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2450591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SamplerV2 hardware 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2633472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OpenQASM 3.0  ·  Apache-2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926080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017520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063240"/>
            <a:ext cx="804672" cy="4206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81328" y="2980944"/>
            <a:ext cx="20665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BlueQubit Cloud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48456" y="2980944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48456" y="2980944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GPU SIM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1328" y="3218688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GPU tensor network simulation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81328" y="3401568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NVIDIA cuQuantum  ·  &lt;15ms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694176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3785615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35908"/>
            <a:ext cx="731520" cy="4114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408176" y="3749039"/>
            <a:ext cx="21396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Google Cirq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48456" y="3749039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48456" y="3749039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NISQ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08176" y="3986784"/>
            <a:ext cx="3008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NISQ optimization &amp; scheduling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8176" y="4169664"/>
            <a:ext cx="3008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quantumai.google/cirq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462272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553712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617720"/>
            <a:ext cx="731520" cy="38404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408176" y="4517136"/>
            <a:ext cx="21396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PennyLane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48456" y="4517136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48456" y="4517136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QML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08176" y="4754880"/>
            <a:ext cx="3008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Differentiable QML gradients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08176" y="4937760"/>
            <a:ext cx="3008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arxiv:1811.04968  ·  Xanadu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892040" y="1389888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892040" y="1481328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1517904"/>
            <a:ext cx="804672" cy="43891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916168" y="1444752"/>
            <a:ext cx="20665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React 19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83296" y="1444752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83296" y="1444752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16168" y="1682496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Drag-and-drop circuit canvas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16168" y="1865376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KaTeX Dirac  ·  &lt;50ms render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892040" y="2157984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892040" y="2249424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1768" y="2286000"/>
            <a:ext cx="804672" cy="43891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916168" y="2212848"/>
            <a:ext cx="20665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Three.js WebGL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83296" y="2212848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83296" y="221284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WebGL 3D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16168" y="2450591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Interactive 3D Bloch sphere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16168" y="2633472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60 FPS  ·  GPU Shaders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92040" y="2926080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892040" y="3017520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1768" y="3054096"/>
            <a:ext cx="804672" cy="43891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916168" y="2980944"/>
            <a:ext cx="20665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Firebase Auth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83296" y="2980944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83296" y="2980944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AUTH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16168" y="3218688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SSO, RBAC &amp; progress storage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16168" y="3401568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Google Cloud  ·  JWT Sync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326880" y="1389888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26880" y="1481328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6608" y="1517904"/>
            <a:ext cx="804672" cy="438912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351008" y="1444752"/>
            <a:ext cx="20665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2518136" y="1444752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518136" y="1444752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51008" y="1682496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High-throughput async gateway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51008" y="1865376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Python 3.12  ·  &lt;8ms p99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326880" y="2157984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326880" y="2249424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6608" y="2286000"/>
            <a:ext cx="731520" cy="438912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0277856" y="2212848"/>
            <a:ext cx="21396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Python 3.12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2518136" y="2212848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518136" y="221284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77856" y="2450591"/>
            <a:ext cx="3008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Quantum math &amp; microservices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77856" y="2633472"/>
            <a:ext cx="3008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NumPy / SciPy / asyncio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326880" y="2926080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26880" y="3017520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36608" y="3063240"/>
            <a:ext cx="713232" cy="42062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0259568" y="2980944"/>
            <a:ext cx="21579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qBraid SDK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2518136" y="2980944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2518136" y="2980944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TRANSPILER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59568" y="3218688"/>
            <a:ext cx="30266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Cross-framework transpiler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401568"/>
            <a:ext cx="30266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Qiskit ↔ Cirq ↔ PennyLane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3761720" y="1389888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3761720" y="1481328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71448" y="1517904"/>
            <a:ext cx="804672" cy="438912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14785848" y="1444752"/>
            <a:ext cx="20665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Groq LPU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6952976" y="1444752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6952976" y="1444752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LPU AI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785848" y="1682496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Sub-second AI tutor reasoning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785848" y="1865376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500+ tok/s  ·  Qwen 2.5 72B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3761720" y="2157984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3761720" y="2249424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871448" y="2286000"/>
            <a:ext cx="804672" cy="438912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4785848" y="2212848"/>
            <a:ext cx="20665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ChromaDB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6952976" y="2212848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6952976" y="221284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VECTOR DB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785848" y="2450591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76 quantum textbooks indexed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785848" y="2633472"/>
            <a:ext cx="293522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Local Vector RAG  ·  0.3% err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3761720" y="2926080"/>
            <a:ext cx="4069080" cy="694944"/>
          </a:xfrm>
          <a:prstGeom prst="roundRect">
            <a:avLst/>
          </a:prstGeom>
          <a:solidFill>
            <a:srgbClr val="16161A"/>
          </a:solidFill>
          <a:ln w="1016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3761720" y="3017520"/>
            <a:ext cx="3200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Picture 1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871448" y="3054096"/>
            <a:ext cx="932688" cy="438912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4913863" y="2980944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980" b="1">
                <a:solidFill>
                  <a:srgbClr val="F5F5F7"/>
                </a:solidFill>
                <a:latin typeface="Arial"/>
              </a:defRPr>
            </a:pPr>
            <a:r>
              <a:t>Sarvam Bulbul v3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6952976" y="2980944"/>
            <a:ext cx="804672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952976" y="2980944"/>
            <a:ext cx="8046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80" b="1">
                <a:solidFill>
                  <a:srgbClr val="000000"/>
                </a:solidFill>
                <a:latin typeface="Arial"/>
              </a:defRPr>
            </a:pPr>
            <a:r>
              <a:t>INDIC TTS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913863" y="3218688"/>
            <a:ext cx="280720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0A0A8"/>
                </a:solidFill>
                <a:latin typeface="Arial"/>
              </a:defRPr>
            </a:pPr>
            <a:r>
              <a:t>Neural Indic speech synthesis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913863" y="3401568"/>
            <a:ext cx="280720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F5F5F7"/>
                </a:solidFill>
                <a:latin typeface="Arial"/>
              </a:defRPr>
            </a:pPr>
            <a:r>
              <a:t>11 Indian languages  ·  API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57200" y="5413248"/>
            <a:ext cx="173736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54864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END-TO-END EXECUTION WORKFLOW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669280" y="5522976"/>
            <a:ext cx="1216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A0A0A8"/>
                </a:solidFill>
                <a:latin typeface="Arial"/>
              </a:defRPr>
            </a:pPr>
            <a:r>
              <a:t>Complete execution trace: Every user session flows across all 4 architectural tiers (&lt;50ms UI → QPU/GPU → AI reasoning → Indic voice)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57200" y="5833872"/>
            <a:ext cx="2103120" cy="26060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40080" y="5833872"/>
            <a:ext cx="17373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548640" y="5925312"/>
            <a:ext cx="402336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48640" y="593445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799" y="5925312"/>
            <a:ext cx="640080" cy="365760"/>
          </a:xfrm>
          <a:prstGeom prst="rect">
            <a:avLst/>
          </a:prstGeom>
        </p:spPr>
      </p:pic>
      <p:sp>
        <p:nvSpPr>
          <p:cNvPr id="142" name="Rounded Rectangle 141"/>
          <p:cNvSpPr/>
          <p:nvPr/>
        </p:nvSpPr>
        <p:spPr>
          <a:xfrm>
            <a:off x="548640" y="6272783"/>
            <a:ext cx="1920239" cy="201168"/>
          </a:xfrm>
          <a:prstGeom prst="roundRect">
            <a:avLst/>
          </a:prstGeom>
          <a:solidFill>
            <a:srgbClr val="24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48640" y="6281927"/>
            <a:ext cx="19202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50" b="1">
                <a:solidFill>
                  <a:srgbClr val="A0A0A8"/>
                </a:solidFill>
                <a:latin typeface="Arial"/>
              </a:defRPr>
            </a:pPr>
            <a:r>
              <a:t>AUTH &amp; PROFILE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30352" y="6547104"/>
            <a:ext cx="195681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Student Login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48640" y="6912864"/>
            <a:ext cx="19202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760" b="0">
                <a:solidFill>
                  <a:srgbClr val="F5F5F7"/>
                </a:solidFill>
                <a:latin typeface="Arial"/>
              </a:defRPr>
            </a:pPr>
            <a:r>
              <a:t>•  Google &amp; College SSO</a:t>
            </a:r>
            <a:br/>
            <a:r>
              <a:t>•  RBAC &amp; Role tracking</a:t>
            </a:r>
            <a:br/>
            <a:r>
              <a:t>•  Cloud progress store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66928" y="8110728"/>
            <a:ext cx="1883663" cy="219456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66928" y="8129016"/>
            <a:ext cx="188366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Arial"/>
              </a:defRPr>
            </a:pPr>
            <a:r>
              <a:t>&lt;180ms SSO</a:t>
            </a:r>
          </a:p>
        </p:txBody>
      </p:sp>
      <p:sp>
        <p:nvSpPr>
          <p:cNvPr id="148" name="Right Arrow 147"/>
          <p:cNvSpPr/>
          <p:nvPr/>
        </p:nvSpPr>
        <p:spPr>
          <a:xfrm>
            <a:off x="2596896" y="7027164"/>
            <a:ext cx="368808" cy="21945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3002280" y="5833872"/>
            <a:ext cx="2103120" cy="26060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185160" y="5833872"/>
            <a:ext cx="17373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3093720" y="5925312"/>
            <a:ext cx="402336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093720" y="593445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pic>
        <p:nvPicPr>
          <p:cNvPr id="153" name="Picture 15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3880" y="5925312"/>
            <a:ext cx="640080" cy="365760"/>
          </a:xfrm>
          <a:prstGeom prst="rect">
            <a:avLst/>
          </a:prstGeom>
        </p:spPr>
      </p:pic>
      <p:sp>
        <p:nvSpPr>
          <p:cNvPr id="154" name="Rounded Rectangle 153"/>
          <p:cNvSpPr/>
          <p:nvPr/>
        </p:nvSpPr>
        <p:spPr>
          <a:xfrm>
            <a:off x="3093720" y="6272783"/>
            <a:ext cx="1920239" cy="201168"/>
          </a:xfrm>
          <a:prstGeom prst="roundRect">
            <a:avLst/>
          </a:prstGeom>
          <a:solidFill>
            <a:srgbClr val="24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093720" y="6281927"/>
            <a:ext cx="19202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50" b="1">
                <a:solidFill>
                  <a:srgbClr val="A0A0A8"/>
                </a:solidFill>
                <a:latin typeface="Arial"/>
              </a:defRPr>
            </a:pPr>
            <a:r>
              <a:t>CIRCUIT CANVAS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075432" y="6547104"/>
            <a:ext cx="195681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Build Circuit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093720" y="6912864"/>
            <a:ext cx="19202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760" b="0">
                <a:solidFill>
                  <a:srgbClr val="F5F5F7"/>
                </a:solidFill>
                <a:latin typeface="Arial"/>
              </a:defRPr>
            </a:pPr>
            <a:r>
              <a:t>•  Drag &amp; drop gates</a:t>
            </a:r>
            <a:br/>
            <a:r>
              <a:t>•  KaTeX Dirac preview</a:t>
            </a:r>
            <a:br/>
            <a:r>
              <a:t>•  1-to-16 qubit grid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112008" y="8110728"/>
            <a:ext cx="1883663" cy="219456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112008" y="8129016"/>
            <a:ext cx="188366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Arial"/>
              </a:defRPr>
            </a:pPr>
            <a:r>
              <a:t>&lt;50ms Render</a:t>
            </a:r>
          </a:p>
        </p:txBody>
      </p:sp>
      <p:sp>
        <p:nvSpPr>
          <p:cNvPr id="160" name="Right Arrow 159"/>
          <p:cNvSpPr/>
          <p:nvPr/>
        </p:nvSpPr>
        <p:spPr>
          <a:xfrm>
            <a:off x="5141976" y="7027164"/>
            <a:ext cx="368808" cy="21945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5547360" y="5833872"/>
            <a:ext cx="2103120" cy="26060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730240" y="5833872"/>
            <a:ext cx="17373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5638800" y="5925312"/>
            <a:ext cx="402336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638800" y="593445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7248" y="5925312"/>
            <a:ext cx="621792" cy="365760"/>
          </a:xfrm>
          <a:prstGeom prst="rect">
            <a:avLst/>
          </a:prstGeom>
        </p:spPr>
      </p:pic>
      <p:sp>
        <p:nvSpPr>
          <p:cNvPr id="166" name="Rounded Rectangle 165"/>
          <p:cNvSpPr/>
          <p:nvPr/>
        </p:nvSpPr>
        <p:spPr>
          <a:xfrm>
            <a:off x="5638800" y="6272783"/>
            <a:ext cx="1920239" cy="201168"/>
          </a:xfrm>
          <a:prstGeom prst="roundRect">
            <a:avLst/>
          </a:prstGeom>
          <a:solidFill>
            <a:srgbClr val="24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638800" y="6281927"/>
            <a:ext cx="19202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50" b="1">
                <a:solidFill>
                  <a:srgbClr val="A0A0A8"/>
                </a:solidFill>
                <a:latin typeface="Arial"/>
              </a:defRPr>
            </a:pPr>
            <a:r>
              <a:t>AST &amp; NORMALISE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620512" y="6547104"/>
            <a:ext cx="195681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Validate &amp; Transpile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638800" y="6912864"/>
            <a:ext cx="19202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760" b="0">
                <a:solidFill>
                  <a:srgbClr val="F5F5F7"/>
                </a:solidFill>
                <a:latin typeface="Arial"/>
              </a:defRPr>
            </a:pPr>
            <a:r>
              <a:t>•  OpenQASM 3.0 AST parse</a:t>
            </a:r>
            <a:br/>
            <a:r>
              <a:t>•  qBraid intermediate rep</a:t>
            </a:r>
            <a:br/>
            <a:r>
              <a:t>•  Syntax &amp; bounds check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657088" y="8110728"/>
            <a:ext cx="1883663" cy="219456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657088" y="8129016"/>
            <a:ext cx="188366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Arial"/>
              </a:defRPr>
            </a:pPr>
            <a:r>
              <a:t>&lt;8ms Validation</a:t>
            </a:r>
          </a:p>
        </p:txBody>
      </p:sp>
      <p:sp>
        <p:nvSpPr>
          <p:cNvPr id="172" name="Right Arrow 171"/>
          <p:cNvSpPr/>
          <p:nvPr/>
        </p:nvSpPr>
        <p:spPr>
          <a:xfrm>
            <a:off x="7687056" y="7027164"/>
            <a:ext cx="368808" cy="21945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8092440" y="5833872"/>
            <a:ext cx="2103120" cy="26060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275320" y="5833872"/>
            <a:ext cx="17373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8183880" y="5925312"/>
            <a:ext cx="402336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183880" y="593445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000000"/>
                </a:solidFill>
                <a:latin typeface="Arial"/>
              </a:defRPr>
            </a:pPr>
            <a:r>
              <a:t>04</a:t>
            </a:r>
          </a:p>
        </p:txBody>
      </p:sp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5925312"/>
            <a:ext cx="731520" cy="365760"/>
          </a:xfrm>
          <a:prstGeom prst="rect">
            <a:avLst/>
          </a:prstGeom>
        </p:spPr>
      </p:pic>
      <p:sp>
        <p:nvSpPr>
          <p:cNvPr id="178" name="Rounded Rectangle 177"/>
          <p:cNvSpPr/>
          <p:nvPr/>
        </p:nvSpPr>
        <p:spPr>
          <a:xfrm>
            <a:off x="8183880" y="6272783"/>
            <a:ext cx="1920239" cy="201168"/>
          </a:xfrm>
          <a:prstGeom prst="roundRect">
            <a:avLst/>
          </a:prstGeom>
          <a:solidFill>
            <a:srgbClr val="24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183880" y="6281927"/>
            <a:ext cx="19202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50" b="1">
                <a:solidFill>
                  <a:srgbClr val="A0A0A8"/>
                </a:solidFill>
                <a:latin typeface="Arial"/>
              </a:defRPr>
            </a:pPr>
            <a:r>
              <a:t>QPU / GPU RUN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165592" y="6547104"/>
            <a:ext cx="195681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Quantum Execution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183880" y="6912864"/>
            <a:ext cx="19202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760" b="0">
                <a:solidFill>
                  <a:srgbClr val="F5F5F7"/>
                </a:solidFill>
                <a:latin typeface="Arial"/>
              </a:defRPr>
            </a:pPr>
            <a:r>
              <a:t>•  IBM 156Q Heron QPU</a:t>
            </a:r>
            <a:br/>
            <a:r>
              <a:t>•  NVIDIA cuQuantum GPU</a:t>
            </a:r>
            <a:br/>
            <a:r>
              <a:t>•  Multi-backend router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8202168" y="8110728"/>
            <a:ext cx="1883663" cy="219456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202168" y="8129016"/>
            <a:ext cx="188366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Arial"/>
              </a:defRPr>
            </a:pPr>
            <a:r>
              <a:t>&lt;15ms GPU / QPU</a:t>
            </a:r>
          </a:p>
        </p:txBody>
      </p:sp>
      <p:sp>
        <p:nvSpPr>
          <p:cNvPr id="184" name="Right Arrow 183"/>
          <p:cNvSpPr/>
          <p:nvPr/>
        </p:nvSpPr>
        <p:spPr>
          <a:xfrm>
            <a:off x="10232136" y="7027164"/>
            <a:ext cx="368808" cy="21945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10637520" y="5833872"/>
            <a:ext cx="2103120" cy="26060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0820400" y="5833872"/>
            <a:ext cx="17373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10728960" y="5925312"/>
            <a:ext cx="402336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728960" y="593445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000000"/>
                </a:solidFill>
                <a:latin typeface="Arial"/>
              </a:defRPr>
            </a:pPr>
            <a:r>
              <a:t>05</a:t>
            </a:r>
          </a:p>
        </p:txBody>
      </p:sp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09120" y="5925312"/>
            <a:ext cx="640080" cy="365760"/>
          </a:xfrm>
          <a:prstGeom prst="rect">
            <a:avLst/>
          </a:prstGeom>
        </p:spPr>
      </p:pic>
      <p:sp>
        <p:nvSpPr>
          <p:cNvPr id="190" name="Rounded Rectangle 189"/>
          <p:cNvSpPr/>
          <p:nvPr/>
        </p:nvSpPr>
        <p:spPr>
          <a:xfrm>
            <a:off x="10728960" y="6272783"/>
            <a:ext cx="1920239" cy="201168"/>
          </a:xfrm>
          <a:prstGeom prst="roundRect">
            <a:avLst/>
          </a:prstGeom>
          <a:solidFill>
            <a:srgbClr val="24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0728960" y="6281927"/>
            <a:ext cx="19202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50" b="1">
                <a:solidFill>
                  <a:srgbClr val="A0A0A8"/>
                </a:solidFill>
                <a:latin typeface="Arial"/>
              </a:defRPr>
            </a:pPr>
            <a:r>
              <a:t>3D VISUALISE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710672" y="6547104"/>
            <a:ext cx="195681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Bloch Sphere Sync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728960" y="6912864"/>
            <a:ext cx="19202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760" b="0">
                <a:solidFill>
                  <a:srgbClr val="F5F5F7"/>
                </a:solidFill>
                <a:latin typeface="Arial"/>
              </a:defRPr>
            </a:pPr>
            <a:r>
              <a:t>•  Three.js 60 FPS WebGL</a:t>
            </a:r>
            <a:br/>
            <a:r>
              <a:t>•  Statevector (θ, φ) map</a:t>
            </a:r>
            <a:br/>
            <a:r>
              <a:t>•  Interactive phase rotation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0747248" y="8110728"/>
            <a:ext cx="1883663" cy="219456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0747248" y="8129016"/>
            <a:ext cx="188366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Arial"/>
              </a:defRPr>
            </a:pPr>
            <a:r>
              <a:t>60 FPS 3D</a:t>
            </a:r>
          </a:p>
        </p:txBody>
      </p:sp>
      <p:sp>
        <p:nvSpPr>
          <p:cNvPr id="196" name="Right Arrow 195"/>
          <p:cNvSpPr/>
          <p:nvPr/>
        </p:nvSpPr>
        <p:spPr>
          <a:xfrm>
            <a:off x="12777216" y="7027164"/>
            <a:ext cx="368808" cy="21945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13182600" y="5833872"/>
            <a:ext cx="2103120" cy="26060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3365480" y="5833872"/>
            <a:ext cx="17373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13274040" y="5925312"/>
            <a:ext cx="402336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3274040" y="593445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000000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201" name="Picture 20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554200" y="5925312"/>
            <a:ext cx="640080" cy="365760"/>
          </a:xfrm>
          <a:prstGeom prst="rect">
            <a:avLst/>
          </a:prstGeom>
        </p:spPr>
      </p:pic>
      <p:sp>
        <p:nvSpPr>
          <p:cNvPr id="202" name="Rounded Rectangle 201"/>
          <p:cNvSpPr/>
          <p:nvPr/>
        </p:nvSpPr>
        <p:spPr>
          <a:xfrm>
            <a:off x="13274040" y="6272783"/>
            <a:ext cx="1920239" cy="201168"/>
          </a:xfrm>
          <a:prstGeom prst="roundRect">
            <a:avLst/>
          </a:prstGeom>
          <a:solidFill>
            <a:srgbClr val="24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3274040" y="6281927"/>
            <a:ext cx="19202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50" b="1">
                <a:solidFill>
                  <a:srgbClr val="A0A0A8"/>
                </a:solidFill>
                <a:latin typeface="Arial"/>
              </a:defRPr>
            </a:pPr>
            <a:r>
              <a:t>AI PEDAGOGY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3255752" y="6547104"/>
            <a:ext cx="195681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Ask AI Tutor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3274040" y="6912864"/>
            <a:ext cx="19202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760" b="0">
                <a:solidFill>
                  <a:srgbClr val="F5F5F7"/>
                </a:solidFill>
                <a:latin typeface="Arial"/>
              </a:defRPr>
            </a:pPr>
            <a:r>
              <a:t>•  Groq LPU ultra-fast</a:t>
            </a:r>
            <a:br/>
            <a:r>
              <a:t>•  76 textbook ChromaDB RAG</a:t>
            </a:r>
            <a:br/>
            <a:r>
              <a:t>•  0.3% hallucination rate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13292328" y="8110728"/>
            <a:ext cx="1883663" cy="219456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3292328" y="8129016"/>
            <a:ext cx="188366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Arial"/>
              </a:defRPr>
            </a:pPr>
            <a:r>
              <a:t>500+ tok/sec</a:t>
            </a:r>
          </a:p>
        </p:txBody>
      </p:sp>
      <p:sp>
        <p:nvSpPr>
          <p:cNvPr id="208" name="Right Arrow 207"/>
          <p:cNvSpPr/>
          <p:nvPr/>
        </p:nvSpPr>
        <p:spPr>
          <a:xfrm>
            <a:off x="15322296" y="7027164"/>
            <a:ext cx="368808" cy="21945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15727680" y="5833872"/>
            <a:ext cx="2103120" cy="26060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C3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5910560" y="5833872"/>
            <a:ext cx="17373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5819120" y="5925312"/>
            <a:ext cx="402336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5819120" y="593445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000000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213" name="Picture 21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916400" y="5925312"/>
            <a:ext cx="822960" cy="365760"/>
          </a:xfrm>
          <a:prstGeom prst="rect">
            <a:avLst/>
          </a:prstGeom>
        </p:spPr>
      </p:pic>
      <p:sp>
        <p:nvSpPr>
          <p:cNvPr id="214" name="Rounded Rectangle 213"/>
          <p:cNvSpPr/>
          <p:nvPr/>
        </p:nvSpPr>
        <p:spPr>
          <a:xfrm>
            <a:off x="15819120" y="6272783"/>
            <a:ext cx="1920239" cy="201168"/>
          </a:xfrm>
          <a:prstGeom prst="roundRect">
            <a:avLst/>
          </a:prstGeom>
          <a:solidFill>
            <a:srgbClr val="24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5819120" y="6281927"/>
            <a:ext cx="19202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650" b="1">
                <a:solidFill>
                  <a:srgbClr val="A0A0A8"/>
                </a:solidFill>
                <a:latin typeface="Arial"/>
              </a:defRPr>
            </a:pPr>
            <a:r>
              <a:t>MULTILINGUAL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5800832" y="6547104"/>
            <a:ext cx="195681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Hear in Native Voice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5819120" y="6912864"/>
            <a:ext cx="19202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760" b="0">
                <a:solidFill>
                  <a:srgbClr val="F5F5F7"/>
                </a:solidFill>
                <a:latin typeface="Arial"/>
              </a:defRPr>
            </a:pPr>
            <a:r>
              <a:t>•  Sarvam Bulbul v3 TTS</a:t>
            </a:r>
            <a:br/>
            <a:r>
              <a:t>•  11 Indian languages</a:t>
            </a:r>
            <a:br/>
            <a:r>
              <a:t>•  Preserved quantum math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5837408" y="8110728"/>
            <a:ext cx="1883663" cy="219456"/>
          </a:xfrm>
          <a:prstGeom prst="roundRect">
            <a:avLst/>
          </a:prstGeom>
          <a:solidFill>
            <a:srgbClr val="0000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5837408" y="8129016"/>
            <a:ext cx="188366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20" b="1">
                <a:solidFill>
                  <a:srgbClr val="FFFFFF"/>
                </a:solidFill>
                <a:latin typeface="Arial"/>
              </a:defRPr>
            </a:pPr>
            <a:r>
              <a:t>Real-time TTS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0" y="8759952"/>
            <a:ext cx="18288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0" y="8787384"/>
            <a:ext cx="18288000" cy="1499616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57200" y="89428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1450" b="1">
                <a:solidFill>
                  <a:srgbClr val="FFFFFF"/>
                </a:solidFill>
                <a:latin typeface="Arial"/>
              </a:defRPr>
            </a:pPr>
            <a:r>
              <a:t>14 Technologies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57200" y="9290304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0A0A8"/>
                </a:solidFill>
                <a:latin typeface="Arial"/>
              </a:defRPr>
            </a:pPr>
            <a:r>
              <a:t>100% open-source &amp; enterprise cloud stack with zero proprietary lock-in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892040" y="89428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1450" b="1">
                <a:solidFill>
                  <a:srgbClr val="FFFFFF"/>
                </a:solidFill>
                <a:latin typeface="Arial"/>
              </a:defRPr>
            </a:pPr>
            <a:r>
              <a:t>3-Layer Hybrid Architecture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892040" y="9290304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0A0A8"/>
                </a:solidFill>
                <a:latin typeface="Arial"/>
              </a:defRPr>
            </a:pPr>
            <a:r>
              <a:t>Browser WASM (Edge) → FastAPI Cluster → Cloud QPU &amp; cuQuantum GPU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326880" y="89428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1450" b="1">
                <a:solidFill>
                  <a:srgbClr val="FFFFFF"/>
                </a:solidFill>
                <a:latin typeface="Arial"/>
              </a:defRPr>
            </a:pPr>
            <a:r>
              <a:t>Sub-Second Latency Pipeline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326880" y="9290304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0A0A8"/>
                </a:solidFill>
                <a:latin typeface="Arial"/>
              </a:defRPr>
            </a:pPr>
            <a:r>
              <a:t>&lt;8ms AST validation → &lt;50ms UI render → 500+ tok/s LPU AI inference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3761720" y="8942832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1450" b="1">
                <a:solidFill>
                  <a:srgbClr val="FFFFFF"/>
                </a:solidFill>
                <a:latin typeface="Arial"/>
              </a:defRPr>
            </a:pPr>
            <a:r>
              <a:t>NEP 2020 &amp; NQM Ready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3761720" y="9290304"/>
            <a:ext cx="4069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0A0A8"/>
                </a:solidFill>
                <a:latin typeface="Arial"/>
              </a:defRPr>
            </a:pPr>
            <a:r>
              <a:t>11 Indian languages via Sarvam AI, bridging Tier-2/3 national quantum divide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DAHU6XYzYKc</dc:identifier>
  <dcterms:modified xsi:type="dcterms:W3CDTF">2011-08-01T06:04:30Z</dcterms:modified>
  <cp:revision>1</cp:revision>
  <dc:title>QuantumLeap_SIH2026_Gitwolves_FINAL.pptx</dc:title>
</cp:coreProperties>
</file>