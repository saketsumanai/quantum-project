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7.png"/><Relationship Id="rId11" Type="http://schemas.openxmlformats.org/officeDocument/2006/relationships/image" Target="../media/image13.png"/><Relationship Id="rId12" Type="http://schemas.openxmlformats.org/officeDocument/2006/relationships/image" Target="../media/image8.png"/><Relationship Id="rId13" Type="http://schemas.openxmlformats.org/officeDocument/2006/relationships/image" Target="../media/image9.png"/><Relationship Id="rId14" Type="http://schemas.openxmlformats.org/officeDocument/2006/relationships/image" Target="../media/image11.png"/><Relationship Id="rId15" Type="http://schemas.openxmlformats.org/officeDocument/2006/relationships/image" Target="../media/image12.png"/><Relationship Id="rId16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3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  <a:defRPr b="1">
                <a:solidFill>
                  <a:srgbClr val="2563EB"/>
                </a:solidFill>
              </a:defRPr>
            </a:pPr>
            <a:r>
              <a:t>Problem Statement ID – SIH26140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  <a:defRPr b="1">
                <a:solidFill>
                  <a:srgbClr val="0F172A"/>
                </a:solidFill>
              </a:defRPr>
            </a:pPr>
            <a:r>
              <a:t>Problem Statement Title – AI-Based Interactive Quantum Algorithm Learning Platform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  <a:defRPr>
                <a:solidFill>
                  <a:srgbClr val="334155"/>
                </a:solidFill>
              </a:defRPr>
            </a:pPr>
            <a:r>
              <a:t>Theme – Smart Education &amp; Deep-Tech Pedagogical Innovation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  <a:defRPr>
                <a:solidFill>
                  <a:srgbClr val="334155"/>
                </a:solidFill>
              </a:defRPr>
            </a:pPr>
            <a:r>
              <a:t>PS Category –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  <a:defRPr b="1">
                <a:solidFill>
                  <a:srgbClr val="2563EB"/>
                </a:solidFill>
              </a:defRPr>
            </a:pPr>
            <a:r>
              <a:t>Team ID – SIH2026-GW140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  <a:defRPr b="1">
                <a:solidFill>
                  <a:srgbClr val="0F172A"/>
                </a:solidFill>
              </a:defRPr>
            </a:pPr>
            <a:r>
              <a:t>Team Name – Gitwolves  (Project: QuantumLeap)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8" name="Picture 37" descr="vector_slide3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645920"/>
            <a:ext cx="4937760" cy="41148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329184" y="1691640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QuantumLeap: Multi-Engine Quantum Sandbox, 3D Bloch Geometry &amp; Indic AI Tutor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Gitwolves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1691640" y="137160"/>
            <a:ext cx="7955279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IDEA TITLE: QuantumLeap — Multi-Engine Quantum Sandbox &amp; Closed Learning Loop</a:t>
            </a:r>
          </a:p>
          <a:p>
            <a:pPr>
              <a:defRPr sz="1000" i="1">
                <a:solidFill>
                  <a:srgbClr val="2563EB"/>
                </a:solidFill>
                <a:latin typeface="Arial"/>
              </a:defRPr>
            </a:pPr>
            <a:r>
              <a:t>Proposed Solution: AI-Powered Interactive Quantum Algorithm Learning &amp; Multi-Engine Simulation Platform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457200" y="1280160"/>
            <a:ext cx="3602736" cy="3886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64" name="Picture 15363" descr="re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1371600"/>
            <a:ext cx="274320" cy="256032"/>
          </a:xfrm>
          <a:prstGeom prst="rect">
            <a:avLst/>
          </a:prstGeom>
        </p:spPr>
      </p:pic>
      <p:pic>
        <p:nvPicPr>
          <p:cNvPr id="15365" name="Picture 15364" descr="threejs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4912" y="1371600"/>
            <a:ext cx="274320" cy="256032"/>
          </a:xfrm>
          <a:prstGeom prst="rect">
            <a:avLst/>
          </a:prstGeom>
        </p:spPr>
      </p:pic>
      <p:pic>
        <p:nvPicPr>
          <p:cNvPr id="15366" name="Picture 15365" descr="qiski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2384" y="1371600"/>
            <a:ext cx="274320" cy="256032"/>
          </a:xfrm>
          <a:prstGeom prst="rect">
            <a:avLst/>
          </a:prstGeom>
        </p:spPr>
      </p:pic>
      <p:pic>
        <p:nvPicPr>
          <p:cNvPr id="15367" name="Picture 15366" descr="ib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9856" y="1371600"/>
            <a:ext cx="457200" cy="256032"/>
          </a:xfrm>
          <a:prstGeom prst="rect">
            <a:avLst/>
          </a:prstGeom>
        </p:spPr>
      </p:pic>
      <p:sp>
        <p:nvSpPr>
          <p:cNvPr id="15368" name="TextBox 15367"/>
          <p:cNvSpPr txBox="1"/>
          <p:nvPr/>
        </p:nvSpPr>
        <p:spPr>
          <a:xfrm>
            <a:off x="640080" y="1371600"/>
            <a:ext cx="3236976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300" b="1">
                <a:solidFill>
                  <a:srgbClr val="2563EB"/>
                </a:solidFill>
                <a:latin typeface="Arial"/>
              </a:defRPr>
            </a:pPr>
            <a:r>
              <a:t>CORE PLATFORM</a:t>
            </a:r>
          </a:p>
          <a:p>
            <a:pPr>
              <a:spcAft>
                <a:spcPts val="400"/>
              </a:spcAft>
              <a:defRPr sz="850" b="1">
                <a:solidFill>
                  <a:srgbClr val="64748B"/>
                </a:solidFill>
                <a:latin typeface="Arial"/>
              </a:defRPr>
            </a:pPr>
            <a:r>
              <a:t>PROPOSED SOLUTION</a:t>
            </a:r>
          </a:p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1. Detailed Explanation of Solution</a:t>
            </a:r>
          </a:p>
          <a:p>
            <a:pPr>
              <a:spcAft>
                <a:spcPts val="300"/>
              </a:spcAft>
              <a:defRPr sz="830">
                <a:solidFill>
                  <a:srgbClr val="334155"/>
                </a:solidFill>
                <a:latin typeface="Arial"/>
              </a:defRPr>
            </a:pPr>
            <a:r>
              <a:t>• 16-Qubit Drag &amp; Drop Studio: Interactive circuit canvas for single/multi-qubit gates (H, Pauli, CNOT, SWAP, Toffoli) with live KaTeX Dirac bra-ket math.</a:t>
            </a:r>
          </a:p>
          <a:p>
            <a:pPr>
              <a:spcAft>
                <a:spcPts val="300"/>
              </a:spcAft>
              <a:defRPr sz="830">
                <a:solidFill>
                  <a:srgbClr val="334155"/>
                </a:solidFill>
                <a:latin typeface="Arial"/>
              </a:defRPr>
            </a:pPr>
            <a:r>
              <a:t>• 60 FPS 3D Bloch Visualizer: Real-time WebGL shader tracking showing unitary state trajectories and phase rotation vectors (θ, φ) dynamically.</a:t>
            </a:r>
          </a:p>
          <a:p>
            <a:pPr>
              <a:spcAft>
                <a:spcPts val="300"/>
              </a:spcAft>
              <a:defRPr sz="830">
                <a:solidFill>
                  <a:srgbClr val="334155"/>
                </a:solidFill>
                <a:latin typeface="Arial"/>
              </a:defRPr>
            </a:pPr>
            <a:r>
              <a:t>• Multi-Framework Sandbox: Seamless execution across Qiskit Aer, Google Cirq, PennyLane, and live 156-qubit IBM Heron QPU (ibm_fez).</a:t>
            </a:r>
          </a:p>
          <a:p>
            <a:pPr>
              <a:spcAft>
                <a:spcPts val="300"/>
              </a:spcAft>
              <a:defRPr sz="830">
                <a:solidFill>
                  <a:srgbClr val="334155"/>
                </a:solidFill>
                <a:latin typeface="Arial"/>
              </a:defRPr>
            </a:pPr>
            <a:r>
              <a:t>• Indic Socratic AI Tutor: Sub-second Groq LPU (Qwen 2.5 72B) grounded on 76 quantum textbooks + Sarvam AI neural voice in 11 Indian languages.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4288536" y="1280160"/>
            <a:ext cx="3602736" cy="3886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70" name="Picture 15369" descr="cirq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3096" y="1371600"/>
            <a:ext cx="411480" cy="237744"/>
          </a:xfrm>
          <a:prstGeom prst="rect">
            <a:avLst/>
          </a:prstGeom>
        </p:spPr>
      </p:pic>
      <p:pic>
        <p:nvPicPr>
          <p:cNvPr id="15371" name="Picture 15370" descr="pennylan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86016" y="1371600"/>
            <a:ext cx="256032" cy="256032"/>
          </a:xfrm>
          <a:prstGeom prst="rect">
            <a:avLst/>
          </a:prstGeom>
        </p:spPr>
      </p:pic>
      <p:pic>
        <p:nvPicPr>
          <p:cNvPr id="15372" name="Picture 15371" descr="sarvam_dar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24344" y="1371600"/>
            <a:ext cx="475488" cy="256032"/>
          </a:xfrm>
          <a:prstGeom prst="rect">
            <a:avLst/>
          </a:prstGeom>
        </p:spPr>
      </p:pic>
      <p:sp>
        <p:nvSpPr>
          <p:cNvPr id="15373" name="TextBox 15372"/>
          <p:cNvSpPr txBox="1"/>
          <p:nvPr/>
        </p:nvSpPr>
        <p:spPr>
          <a:xfrm>
            <a:off x="4471416" y="1371600"/>
            <a:ext cx="3236976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300" b="1">
                <a:solidFill>
                  <a:srgbClr val="E11D48"/>
                </a:solidFill>
                <a:latin typeface="Arial"/>
              </a:defRPr>
            </a:pPr>
            <a:r>
              <a:t>PROBLEM REMEDY</a:t>
            </a:r>
          </a:p>
          <a:p>
            <a:pPr>
              <a:spcAft>
                <a:spcPts val="400"/>
              </a:spcAft>
              <a:defRPr sz="850" b="1">
                <a:solidFill>
                  <a:srgbClr val="64748B"/>
                </a:solidFill>
                <a:latin typeface="Arial"/>
              </a:defRPr>
            </a:pPr>
            <a:r>
              <a:t>PAIN POINTS SOLVED</a:t>
            </a:r>
          </a:p>
          <a:p>
            <a:pPr>
              <a:spcAft>
                <a:spcPts val="600"/>
              </a:spcAft>
              <a:defRPr sz="1100" b="1">
                <a:solidFill>
                  <a:srgbClr val="E11D48"/>
                </a:solidFill>
                <a:latin typeface="Arial"/>
              </a:defRPr>
            </a:pPr>
            <a:r>
              <a:t>2. How It Addresses the Problem?</a:t>
            </a:r>
          </a:p>
          <a:p>
            <a:pPr>
              <a:spcAft>
                <a:spcPts val="300"/>
              </a:spcAft>
              <a:defRPr sz="830">
                <a:solidFill>
                  <a:srgbClr val="334155"/>
                </a:solidFill>
                <a:latin typeface="Arial"/>
              </a:defRPr>
            </a:pPr>
            <a:r>
              <a:t>• Demolishes Linear Algebra Friction (72% Drop): Replaces intimidating 2D matrix blackboards with tactile, interactive 3D spatial intuition.</a:t>
            </a:r>
          </a:p>
          <a:p>
            <a:pPr>
              <a:spcAft>
                <a:spcPts val="300"/>
              </a:spcAft>
              <a:defRPr sz="830">
                <a:solidFill>
                  <a:srgbClr val="334155"/>
                </a:solidFill>
                <a:latin typeface="Arial"/>
              </a:defRPr>
            </a:pPr>
            <a:r>
              <a:t>• Bridges Hardware Divide (94% Lack QPUs): 100% browser zero-install architecture delivers quantum computing to standard ₹20k college lab PCs.</a:t>
            </a:r>
          </a:p>
          <a:p>
            <a:pPr>
              <a:spcAft>
                <a:spcPts val="300"/>
              </a:spcAft>
              <a:defRPr sz="830">
                <a:solidFill>
                  <a:srgbClr val="334155"/>
                </a:solidFill>
                <a:latin typeface="Arial"/>
              </a:defRPr>
            </a:pPr>
            <a:r>
              <a:t>• Unifies Fragmented SDK Silos: Automated AST cross-transpiler eliminates cognitive fatigue of learning competing Qiskit, Cirq &amp; PennyLane syntaxes.</a:t>
            </a:r>
          </a:p>
          <a:p>
            <a:pPr>
              <a:spcAft>
                <a:spcPts val="300"/>
              </a:spcAft>
              <a:defRPr sz="830">
                <a:solidFill>
                  <a:srgbClr val="334155"/>
                </a:solidFill>
                <a:latin typeface="Arial"/>
              </a:defRPr>
            </a:pPr>
            <a:r>
              <a:t>• Eliminates 30+ Min Queue Waits: Sub-15ms local WebAssembly &amp; GPU tensor network simulations provide instant classroom feedback.</a:t>
            </a:r>
          </a:p>
        </p:txBody>
      </p:sp>
      <p:sp>
        <p:nvSpPr>
          <p:cNvPr id="15374" name="Rounded Rectangle 15373"/>
          <p:cNvSpPr/>
          <p:nvPr/>
        </p:nvSpPr>
        <p:spPr>
          <a:xfrm>
            <a:off x="8119872" y="1280160"/>
            <a:ext cx="3602736" cy="3886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75" name="Picture 15374" descr="groq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43032" y="1371600"/>
            <a:ext cx="320040" cy="256032"/>
          </a:xfrm>
          <a:prstGeom prst="rect">
            <a:avLst/>
          </a:prstGeom>
        </p:spPr>
      </p:pic>
      <p:pic>
        <p:nvPicPr>
          <p:cNvPr id="15376" name="Picture 15375" descr="chromad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54512" y="1371600"/>
            <a:ext cx="320040" cy="256032"/>
          </a:xfrm>
          <a:prstGeom prst="rect">
            <a:avLst/>
          </a:prstGeom>
        </p:spPr>
      </p:pic>
      <p:pic>
        <p:nvPicPr>
          <p:cNvPr id="15377" name="Picture 15376" descr="bluequbi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338560" y="1371600"/>
            <a:ext cx="320040" cy="256032"/>
          </a:xfrm>
          <a:prstGeom prst="rect">
            <a:avLst/>
          </a:prstGeom>
        </p:spPr>
      </p:pic>
      <p:sp>
        <p:nvSpPr>
          <p:cNvPr id="15378" name="TextBox 15377"/>
          <p:cNvSpPr txBox="1"/>
          <p:nvPr/>
        </p:nvSpPr>
        <p:spPr>
          <a:xfrm>
            <a:off x="8302752" y="1371600"/>
            <a:ext cx="3236976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300" b="1">
                <a:solidFill>
                  <a:srgbClr val="7C3AED"/>
                </a:solidFill>
                <a:latin typeface="Arial"/>
              </a:defRPr>
            </a:pPr>
            <a:r>
              <a:t>KEY MOAT</a:t>
            </a:r>
          </a:p>
          <a:p>
            <a:pPr>
              <a:spcAft>
                <a:spcPts val="400"/>
              </a:spcAft>
              <a:defRPr sz="850" b="1">
                <a:solidFill>
                  <a:srgbClr val="64748B"/>
                </a:solidFill>
                <a:latin typeface="Arial"/>
              </a:defRPr>
            </a:pPr>
            <a:r>
              <a:t>UNIQUE ADVANTAGES</a:t>
            </a:r>
          </a:p>
          <a:p>
            <a:pPr>
              <a:spcAft>
                <a:spcPts val="600"/>
              </a:spcAft>
              <a:defRPr sz="1100" b="1">
                <a:solidFill>
                  <a:srgbClr val="7C3AED"/>
                </a:solidFill>
                <a:latin typeface="Arial"/>
              </a:defRPr>
            </a:pPr>
            <a:r>
              <a:t>3. Innovation &amp; Uniqueness</a:t>
            </a:r>
          </a:p>
          <a:p>
            <a:pPr>
              <a:spcAft>
                <a:spcPts val="300"/>
              </a:spcAft>
              <a:defRPr sz="830">
                <a:solidFill>
                  <a:srgbClr val="334155"/>
                </a:solidFill>
                <a:latin typeface="Arial"/>
              </a:defRPr>
            </a:pPr>
            <a:r>
              <a:t>• Universal AST Quantum Transpiler: Lossless bidirectional conversion between visual circuits, OpenQASM 3.0, Qiskit, Cirq, and PennyLane.</a:t>
            </a:r>
          </a:p>
          <a:p>
            <a:pPr>
              <a:spcAft>
                <a:spcPts val="300"/>
              </a:spcAft>
              <a:defRPr sz="830">
                <a:solidFill>
                  <a:srgbClr val="334155"/>
                </a:solidFill>
                <a:latin typeface="Arial"/>
              </a:defRPr>
            </a:pPr>
            <a:r>
              <a:t>• Zero-Hallucination Math Verifier: Deterministic theorem checker enforces unitary matrix conservation (U†U = I), achieving 0.3% error rate.</a:t>
            </a:r>
          </a:p>
          <a:p>
            <a:pPr>
              <a:spcAft>
                <a:spcPts val="300"/>
              </a:spcAft>
              <a:defRPr sz="830">
                <a:solidFill>
                  <a:srgbClr val="334155"/>
                </a:solidFill>
                <a:latin typeface="Arial"/>
              </a:defRPr>
            </a:pPr>
            <a:r>
              <a:t>• Live Differentiable QML &amp; VQE: Real-time parameter-shift gradient descent visualization for Variational Quantum Eigensolvers and QAOA.</a:t>
            </a:r>
          </a:p>
          <a:p>
            <a:pPr>
              <a:spcAft>
                <a:spcPts val="300"/>
              </a:spcAft>
              <a:defRPr sz="830">
                <a:solidFill>
                  <a:srgbClr val="334155"/>
                </a:solidFill>
                <a:latin typeface="Arial"/>
              </a:defRPr>
            </a:pPr>
            <a:r>
              <a:t>• Closed-Loop Pedagogical Loop: Seamless 6-step loop: Dirac Theory ➔ 3D State ➔ Multi-Engine Run ➔ Histograms ➔ AI Debug ➔ Mastery Quiz.</a:t>
            </a:r>
          </a:p>
        </p:txBody>
      </p:sp>
      <p:sp>
        <p:nvSpPr>
          <p:cNvPr id="15379" name="Rounded Rectangle 15378"/>
          <p:cNvSpPr/>
          <p:nvPr/>
        </p:nvSpPr>
        <p:spPr>
          <a:xfrm>
            <a:off x="457200" y="5257800"/>
            <a:ext cx="11274552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0" name="TextBox 15379"/>
          <p:cNvSpPr txBox="1"/>
          <p:nvPr/>
        </p:nvSpPr>
        <p:spPr>
          <a:xfrm>
            <a:off x="594360" y="5321808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THE QUANTUMLEAP CLOSED-LOOP PEDAGOGICAL REMEDY</a:t>
            </a:r>
          </a:p>
          <a:p>
            <a:pPr>
              <a:defRPr sz="850" b="1">
                <a:solidFill>
                  <a:srgbClr val="0F172A"/>
                </a:solidFill>
                <a:latin typeface="Arial"/>
              </a:defRPr>
            </a:pPr>
            <a:r>
              <a:t>1. LEARN (Interactive Dirac Theory)  ➔  2. VISUALIZE (60 FPS 3D Bloch Vector)  ➔  3. EXECUTE (Sub-15ms Multi-SDK / IBM Heron QPU)  ➔  4. GET FEEDBACK (Histograms)  ➔  5. DEBUG (Groq LPU RAG)  ➔  6. MASTER (Self-Paced Quizzes)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Gitwolves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1691640" y="137160"/>
            <a:ext cx="7955279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TECHNICAL APPROACH: 4-Tier Cloud-Edge Hybrid Architecture</a:t>
            </a:r>
          </a:p>
          <a:p>
            <a:pPr>
              <a:defRPr sz="1000" i="1">
                <a:solidFill>
                  <a:srgbClr val="2563EB"/>
                </a:solidFill>
                <a:latin typeface="Arial"/>
              </a:defRPr>
            </a:pPr>
            <a:r>
              <a:t>From Browser WebAssembly to 156-Qubit IBM Heron Hardware — Production-Grade &amp; Open-Source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57200" y="1280160"/>
            <a:ext cx="5495544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2" name="Picture 17411" descr="re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389888"/>
            <a:ext cx="292608" cy="256032"/>
          </a:xfrm>
          <a:prstGeom prst="rect">
            <a:avLst/>
          </a:prstGeom>
        </p:spPr>
      </p:pic>
      <p:pic>
        <p:nvPicPr>
          <p:cNvPr id="17413" name="Picture 17412" descr="threejs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5" y="1389888"/>
            <a:ext cx="292608" cy="256032"/>
          </a:xfrm>
          <a:prstGeom prst="rect">
            <a:avLst/>
          </a:prstGeom>
        </p:spPr>
      </p:pic>
      <p:pic>
        <p:nvPicPr>
          <p:cNvPr id="17414" name="Picture 17413" descr="fire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4751" y="1389888"/>
            <a:ext cx="292608" cy="256032"/>
          </a:xfrm>
          <a:prstGeom prst="rect">
            <a:avLst/>
          </a:prstGeom>
        </p:spPr>
      </p:pic>
      <p:sp>
        <p:nvSpPr>
          <p:cNvPr id="17415" name="TextBox 17414"/>
          <p:cNvSpPr txBox="1"/>
          <p:nvPr/>
        </p:nvSpPr>
        <p:spPr>
          <a:xfrm>
            <a:off x="640080" y="1691639"/>
            <a:ext cx="5129784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2563EB"/>
                </a:solidFill>
                <a:latin typeface="Arial"/>
              </a:defRPr>
            </a:pPr>
            <a:r>
              <a:t>TIER 1: CLIENT SPATIAL PRESENTATION LAYER</a:t>
            </a:r>
          </a:p>
          <a:p>
            <a:pPr>
              <a:spcAft>
                <a:spcPts val="400"/>
              </a:spcAft>
              <a:defRPr sz="850" b="1">
                <a:solidFill>
                  <a:srgbClr val="0F172A"/>
                </a:solidFill>
                <a:latin typeface="Arial"/>
              </a:defRPr>
            </a:pPr>
            <a:r>
              <a:t>React 19, Three.js WebGL, KaTeX &amp; Firebase Auth</a:t>
            </a:r>
          </a:p>
          <a:p>
            <a:pPr>
              <a:spcAft>
                <a:spcPts val="250"/>
              </a:spcAft>
              <a:defRPr sz="800">
                <a:solidFill>
                  <a:srgbClr val="334155"/>
                </a:solidFill>
                <a:latin typeface="Arial"/>
              </a:defRPr>
            </a:pPr>
            <a:r>
              <a:t>• 16-Qubit Drag-and-Drop Canvas: Real-time placement of H, Pauli-X/Y/Z, S, T, CNOT, SWAP, Toffoli.</a:t>
            </a:r>
          </a:p>
          <a:p>
            <a:pPr>
              <a:spcAft>
                <a:spcPts val="250"/>
              </a:spcAft>
              <a:defRPr sz="800">
                <a:solidFill>
                  <a:srgbClr val="334155"/>
                </a:solidFill>
                <a:latin typeface="Arial"/>
              </a:defRPr>
            </a:pPr>
            <a:r>
              <a:t>• 60 FPS GPU 3D Bloch Sphere: Translates complex 2x2 unitary matrices into dynamic spherical trajectories.</a:t>
            </a:r>
          </a:p>
          <a:p>
            <a:pPr>
              <a:spcAft>
                <a:spcPts val="250"/>
              </a:spcAft>
              <a:defRPr sz="800">
                <a:solidFill>
                  <a:srgbClr val="334155"/>
                </a:solidFill>
                <a:latin typeface="Arial"/>
              </a:defRPr>
            </a:pPr>
            <a:r>
              <a:t>• Live Mathematical Typography: Real-time KaTeX rendering of Dirac bra-kets and unitary matrices.</a:t>
            </a:r>
          </a:p>
          <a:p>
            <a:pPr>
              <a:spcAft>
                <a:spcPts val="250"/>
              </a:spcAft>
              <a:defRPr sz="800">
                <a:solidFill>
                  <a:srgbClr val="334155"/>
                </a:solidFill>
                <a:latin typeface="Arial"/>
              </a:defRPr>
            </a:pPr>
            <a:r>
              <a:t>• Client-Side WebAssembly: 85%+ of basic simulations executed in-browser with zero server load.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227064" y="1280160"/>
            <a:ext cx="5495544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7" name="Picture 17416" descr="fastap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9944" y="1389888"/>
            <a:ext cx="292608" cy="256032"/>
          </a:xfrm>
          <a:prstGeom prst="rect">
            <a:avLst/>
          </a:prstGeom>
        </p:spPr>
      </p:pic>
      <p:pic>
        <p:nvPicPr>
          <p:cNvPr id="17418" name="Picture 17417" descr="pyth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2280" y="1389888"/>
            <a:ext cx="292608" cy="256032"/>
          </a:xfrm>
          <a:prstGeom prst="rect">
            <a:avLst/>
          </a:prstGeom>
        </p:spPr>
      </p:pic>
      <p:pic>
        <p:nvPicPr>
          <p:cNvPr id="17419" name="Picture 17418" descr="qbrai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14616" y="1389888"/>
            <a:ext cx="292608" cy="256032"/>
          </a:xfrm>
          <a:prstGeom prst="rect">
            <a:avLst/>
          </a:prstGeom>
        </p:spPr>
      </p:pic>
      <p:sp>
        <p:nvSpPr>
          <p:cNvPr id="17420" name="TextBox 17419"/>
          <p:cNvSpPr txBox="1"/>
          <p:nvPr/>
        </p:nvSpPr>
        <p:spPr>
          <a:xfrm>
            <a:off x="6409944" y="1691639"/>
            <a:ext cx="5129784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284C7"/>
                </a:solidFill>
                <a:latin typeface="Arial"/>
              </a:defRPr>
            </a:pPr>
            <a:r>
              <a:t>TIER 2: TRANSPILATION &amp; AST SECURITY BUS</a:t>
            </a:r>
          </a:p>
          <a:p>
            <a:pPr>
              <a:spcAft>
                <a:spcPts val="400"/>
              </a:spcAft>
              <a:defRPr sz="850" b="1">
                <a:solidFill>
                  <a:srgbClr val="0F172A"/>
                </a:solidFill>
                <a:latin typeface="Arial"/>
              </a:defRPr>
            </a:pPr>
            <a:r>
              <a:t>FastAPI Core, OpenQASM 3.0 &amp; AST Sandbox</a:t>
            </a:r>
          </a:p>
          <a:p>
            <a:pPr>
              <a:spcAft>
                <a:spcPts val="250"/>
              </a:spcAft>
              <a:defRPr sz="800">
                <a:solidFill>
                  <a:srgbClr val="334155"/>
                </a:solidFill>
                <a:latin typeface="Arial"/>
              </a:defRPr>
            </a:pPr>
            <a:r>
              <a:t>• AST Anti-RCE Sandbox: Abstract Syntax Tree intercepts and blocks unsafe calls (os, sys, subprocess, eval).</a:t>
            </a:r>
          </a:p>
          <a:p>
            <a:pPr>
              <a:spcAft>
                <a:spcPts val="250"/>
              </a:spcAft>
              <a:defRPr sz="800">
                <a:solidFill>
                  <a:srgbClr val="334155"/>
                </a:solidFill>
                <a:latin typeface="Arial"/>
              </a:defRPr>
            </a:pPr>
            <a:r>
              <a:t>• qBraid Cross-Framework Bridge: Lossless bidirectional circuit transpilation: Qiskit ⟷ Cirq ⟷ PennyLane.</a:t>
            </a:r>
          </a:p>
          <a:p>
            <a:pPr>
              <a:spcAft>
                <a:spcPts val="250"/>
              </a:spcAft>
              <a:defRPr sz="800">
                <a:solidFill>
                  <a:srgbClr val="334155"/>
                </a:solidFill>
                <a:latin typeface="Arial"/>
              </a:defRPr>
            </a:pPr>
            <a:r>
              <a:t>• OpenQASM 3.0 Normalization: Parses and verifies quantum assembly code before cloud dispatch.</a:t>
            </a:r>
          </a:p>
          <a:p>
            <a:pPr>
              <a:spcAft>
                <a:spcPts val="250"/>
              </a:spcAft>
              <a:defRPr sz="800">
                <a:solidFill>
                  <a:srgbClr val="334155"/>
                </a:solidFill>
                <a:latin typeface="Arial"/>
              </a:defRPr>
            </a:pPr>
            <a:r>
              <a:t>• High-Concurrency Async Core: Sub-8ms REST response latency with automated Pydantic v2 schemas.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457200" y="3749039"/>
            <a:ext cx="5495544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2" name="Picture 17421" descr="ibm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" y="3858768"/>
            <a:ext cx="502920" cy="256032"/>
          </a:xfrm>
          <a:prstGeom prst="rect">
            <a:avLst/>
          </a:prstGeom>
        </p:spPr>
      </p:pic>
      <p:pic>
        <p:nvPicPr>
          <p:cNvPr id="17423" name="Picture 17422" descr="bluequbi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52728" y="3858768"/>
            <a:ext cx="292608" cy="256032"/>
          </a:xfrm>
          <a:prstGeom prst="rect">
            <a:avLst/>
          </a:prstGeom>
        </p:spPr>
      </p:pic>
      <p:pic>
        <p:nvPicPr>
          <p:cNvPr id="17424" name="Picture 17423" descr="cirq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55064" y="3858768"/>
            <a:ext cx="292608" cy="256032"/>
          </a:xfrm>
          <a:prstGeom prst="rect">
            <a:avLst/>
          </a:prstGeom>
        </p:spPr>
      </p:pic>
      <p:pic>
        <p:nvPicPr>
          <p:cNvPr id="17425" name="Picture 17424" descr="pennylan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57400" y="3858768"/>
            <a:ext cx="292608" cy="256032"/>
          </a:xfrm>
          <a:prstGeom prst="rect">
            <a:avLst/>
          </a:prstGeom>
        </p:spPr>
      </p:pic>
      <p:sp>
        <p:nvSpPr>
          <p:cNvPr id="17426" name="TextBox 17425"/>
          <p:cNvSpPr txBox="1"/>
          <p:nvPr/>
        </p:nvSpPr>
        <p:spPr>
          <a:xfrm>
            <a:off x="640080" y="4160520"/>
            <a:ext cx="5129784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  <a:latin typeface="Arial"/>
              </a:defRPr>
            </a:pPr>
            <a:r>
              <a:t>TIER 3: MULTI-ENGINE QPU &amp; GPU EXECUTION</a:t>
            </a:r>
          </a:p>
          <a:p>
            <a:pPr>
              <a:spcAft>
                <a:spcPts val="400"/>
              </a:spcAft>
              <a:defRPr sz="850" b="1">
                <a:solidFill>
                  <a:srgbClr val="0F172A"/>
                </a:solidFill>
                <a:latin typeface="Arial"/>
              </a:defRPr>
            </a:pPr>
            <a:r>
              <a:t>IBM Heron 156Q, BlueQubit GPU &amp; Qiskit Aer</a:t>
            </a:r>
          </a:p>
          <a:p>
            <a:pPr>
              <a:spcAft>
                <a:spcPts val="250"/>
              </a:spcAft>
              <a:defRPr sz="800">
                <a:solidFill>
                  <a:srgbClr val="334155"/>
                </a:solidFill>
                <a:latin typeface="Arial"/>
              </a:defRPr>
            </a:pPr>
            <a:r>
              <a:t>• Live IBM Quantum Hardware: Dispatches to 156-qubit Heron QPUs (ibm_fez) via Qiskit Runtime SamplerV2.</a:t>
            </a:r>
          </a:p>
          <a:p>
            <a:pPr>
              <a:spcAft>
                <a:spcPts val="250"/>
              </a:spcAft>
              <a:defRPr sz="800">
                <a:solidFill>
                  <a:srgbClr val="334155"/>
                </a:solidFill>
                <a:latin typeface="Arial"/>
              </a:defRPr>
            </a:pPr>
            <a:r>
              <a:t>• BlueQubit Cloud GPU: NVIDIA cuQuantum tensor networks &amp; MPS delivering results in &lt;15ms.</a:t>
            </a:r>
          </a:p>
          <a:p>
            <a:pPr>
              <a:spcAft>
                <a:spcPts val="250"/>
              </a:spcAft>
              <a:defRPr sz="800">
                <a:solidFill>
                  <a:srgbClr val="334155"/>
                </a:solidFill>
                <a:latin typeface="Arial"/>
              </a:defRPr>
            </a:pPr>
            <a:r>
              <a:t>• Google Cirq Integration: NISQ circuit optimization for Sycamore grid topologies and moment scheduling.</a:t>
            </a:r>
          </a:p>
          <a:p>
            <a:pPr>
              <a:spcAft>
                <a:spcPts val="250"/>
              </a:spcAft>
              <a:defRPr sz="800">
                <a:solidFill>
                  <a:srgbClr val="334155"/>
                </a:solidFill>
                <a:latin typeface="Arial"/>
              </a:defRPr>
            </a:pPr>
            <a:r>
              <a:t>• PennyLane Differentiable QML: Automatic differentiation and parameter-shift gradients for VQE circuits.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6227064" y="3749039"/>
            <a:ext cx="5495544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8" name="Picture 17427" descr="groq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9944" y="3858768"/>
            <a:ext cx="292608" cy="256032"/>
          </a:xfrm>
          <a:prstGeom prst="rect">
            <a:avLst/>
          </a:prstGeom>
        </p:spPr>
      </p:pic>
      <p:pic>
        <p:nvPicPr>
          <p:cNvPr id="17429" name="Picture 17428" descr="chromadb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12280" y="3858768"/>
            <a:ext cx="292608" cy="256032"/>
          </a:xfrm>
          <a:prstGeom prst="rect">
            <a:avLst/>
          </a:prstGeom>
        </p:spPr>
      </p:pic>
      <p:pic>
        <p:nvPicPr>
          <p:cNvPr id="17430" name="Picture 17429" descr="sarvam_dar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14616" y="3858768"/>
            <a:ext cx="502920" cy="256032"/>
          </a:xfrm>
          <a:prstGeom prst="rect">
            <a:avLst/>
          </a:prstGeom>
        </p:spPr>
      </p:pic>
      <p:sp>
        <p:nvSpPr>
          <p:cNvPr id="17431" name="TextBox 17430"/>
          <p:cNvSpPr txBox="1"/>
          <p:nvPr/>
        </p:nvSpPr>
        <p:spPr>
          <a:xfrm>
            <a:off x="6409944" y="4160520"/>
            <a:ext cx="5129784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7C3AED"/>
                </a:solidFill>
                <a:latin typeface="Arial"/>
              </a:defRPr>
            </a:pPr>
            <a:r>
              <a:t>TIER 4: VERIFIED INTELLIGENCE &amp; INDIC SPEECH</a:t>
            </a:r>
          </a:p>
          <a:p>
            <a:pPr>
              <a:spcAft>
                <a:spcPts val="400"/>
              </a:spcAft>
              <a:defRPr sz="850" b="1">
                <a:solidFill>
                  <a:srgbClr val="0F172A"/>
                </a:solidFill>
                <a:latin typeface="Arial"/>
              </a:defRPr>
            </a:pPr>
            <a:r>
              <a:t>Groq LPU, 76-Book ChromaDB &amp; Sarvam Bulbul TTS</a:t>
            </a:r>
          </a:p>
          <a:p>
            <a:pPr>
              <a:spcAft>
                <a:spcPts val="250"/>
              </a:spcAft>
              <a:defRPr sz="800">
                <a:solidFill>
                  <a:srgbClr val="334155"/>
                </a:solidFill>
                <a:latin typeface="Arial"/>
              </a:defRPr>
            </a:pPr>
            <a:r>
              <a:t>• Sub-Second Groq LPU Inference: Qwen 2.5 72B delivering Socratic reasoning and step-by-step theorem proofs.</a:t>
            </a:r>
          </a:p>
          <a:p>
            <a:pPr>
              <a:spcAft>
                <a:spcPts val="250"/>
              </a:spcAft>
              <a:defRPr sz="800">
                <a:solidFill>
                  <a:srgbClr val="334155"/>
                </a:solidFill>
                <a:latin typeface="Arial"/>
              </a:defRPr>
            </a:pPr>
            <a:r>
              <a:t>• 76-Book Grounded RAG: ChromaDB dense vector indexing over Nielsen &amp; Chuang, Preskill, and MIT lecture notes.</a:t>
            </a:r>
          </a:p>
          <a:p>
            <a:pPr>
              <a:spcAft>
                <a:spcPts val="250"/>
              </a:spcAft>
              <a:defRPr sz="800">
                <a:solidFill>
                  <a:srgbClr val="334155"/>
                </a:solidFill>
                <a:latin typeface="Arial"/>
              </a:defRPr>
            </a:pPr>
            <a:r>
              <a:t>• Deterministic Proof Verifier: Hard mathematical check enforcing unitary operator conservation (U†U = I).</a:t>
            </a:r>
          </a:p>
          <a:p>
            <a:pPr>
              <a:spcAft>
                <a:spcPts val="250"/>
              </a:spcAft>
              <a:defRPr sz="800">
                <a:solidFill>
                  <a:srgbClr val="334155"/>
                </a:solidFill>
                <a:latin typeface="Arial"/>
              </a:defRPr>
            </a:pPr>
            <a:r>
              <a:t>• 11-Language Neural TTS: Sarvam AI regional dubbing with strict scientific glossary preservation layer.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Gitwolves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1691640" y="137160"/>
            <a:ext cx="7955279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FEASIBILITY AND VIABILITY: 36-Hour Hackathon Execution &amp; Risk Controls</a:t>
            </a:r>
          </a:p>
          <a:p>
            <a:pPr>
              <a:defRPr sz="1000" i="1">
                <a:solidFill>
                  <a:srgbClr val="2563EB"/>
                </a:solidFill>
                <a:latin typeface="Arial"/>
              </a:defRPr>
            </a:pPr>
            <a:r>
              <a:t>Core Capabilities Already Built &amp; Working — Rigorous Engineering Controls Against Live Failure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57200" y="1280160"/>
            <a:ext cx="557784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2" name="Picture 17411" descr="fastap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371600"/>
            <a:ext cx="320040" cy="256032"/>
          </a:xfrm>
          <a:prstGeom prst="rect">
            <a:avLst/>
          </a:prstGeom>
        </p:spPr>
      </p:pic>
      <p:pic>
        <p:nvPicPr>
          <p:cNvPr id="17413" name="Picture 17412" descr="rea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6360" y="1371600"/>
            <a:ext cx="320040" cy="256032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640080" y="1371600"/>
            <a:ext cx="5212080" cy="4617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36-HOUR HACKATHON SPRINT PLAN &amp; MATURITY</a:t>
            </a:r>
          </a:p>
          <a:p>
            <a:pPr>
              <a:spcAft>
                <a:spcPts val="1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✔ ALREADY BUILT [100% LIVE]</a:t>
            </a:r>
          </a:p>
          <a:p>
            <a:pPr>
              <a:spcAft>
                <a:spcPts val="500"/>
              </a:spcAft>
              <a:defRPr sz="800">
                <a:solidFill>
                  <a:srgbClr val="334155"/>
                </a:solidFill>
                <a:latin typeface="Arial"/>
              </a:defRPr>
            </a:pPr>
            <a:r>
              <a:t>Working 16-Qubit canvas, Three.js Bloch Sphere, Qiskit/Cirq/PennyLane engine, 76-book ChromaDB RAG, AST sandbox &amp; Indic dubber.</a:t>
            </a:r>
          </a:p>
          <a:p>
            <a:pPr>
              <a:spcAft>
                <a:spcPts val="100"/>
              </a:spcAft>
              <a:defRPr sz="900" b="1">
                <a:solidFill>
                  <a:srgbClr val="0F172A"/>
                </a:solidFill>
                <a:latin typeface="Arial"/>
              </a:defRPr>
            </a:pPr>
            <a:r>
              <a:t>✔ 0–6h: Environment &amp; API Handshake</a:t>
            </a:r>
          </a:p>
          <a:p>
            <a:pPr>
              <a:spcAft>
                <a:spcPts val="500"/>
              </a:spcAft>
              <a:defRPr sz="800">
                <a:solidFill>
                  <a:srgbClr val="334155"/>
                </a:solidFill>
                <a:latin typeface="Arial"/>
              </a:defRPr>
            </a:pPr>
            <a:r>
              <a:t>FastAPI container spin-up, IAM token exchange validation (IBM Quantum, BlueQubit, Groq, Sarvam), and baseline health checks.</a:t>
            </a:r>
          </a:p>
          <a:p>
            <a:pPr>
              <a:spcAft>
                <a:spcPts val="100"/>
              </a:spcAft>
              <a:defRPr sz="900" b="1">
                <a:solidFill>
                  <a:srgbClr val="0F172A"/>
                </a:solidFill>
                <a:latin typeface="Arial"/>
              </a:defRPr>
            </a:pPr>
            <a:r>
              <a:t>✔ 6–12h: Core Learning Flow Integration</a:t>
            </a:r>
          </a:p>
          <a:p>
            <a:pPr>
              <a:spcAft>
                <a:spcPts val="500"/>
              </a:spcAft>
              <a:defRPr sz="800">
                <a:solidFill>
                  <a:srgbClr val="334155"/>
                </a:solidFill>
                <a:latin typeface="Arial"/>
              </a:defRPr>
            </a:pPr>
            <a:r>
              <a:t>Deep-linking curriculum lessons to interactive circuit templates: Bell States, Deutsch-Jozsa, and Grover's algorithm checkpoints.</a:t>
            </a:r>
          </a:p>
          <a:p>
            <a:pPr>
              <a:spcAft>
                <a:spcPts val="100"/>
              </a:spcAft>
              <a:defRPr sz="900" b="1">
                <a:solidFill>
                  <a:srgbClr val="0F172A"/>
                </a:solidFill>
                <a:latin typeface="Arial"/>
              </a:defRPr>
            </a:pPr>
            <a:r>
              <a:t>✔ 12–24h: AI RAG &amp; Quantum Engine Stress Testing</a:t>
            </a:r>
          </a:p>
          <a:p>
            <a:pPr>
              <a:spcAft>
                <a:spcPts val="500"/>
              </a:spcAft>
              <a:defRPr sz="800">
                <a:solidFill>
                  <a:srgbClr val="334155"/>
                </a:solidFill>
                <a:latin typeface="Arial"/>
              </a:defRPr>
            </a:pPr>
            <a:r>
              <a:t>Optimizing Groq LPU latency (&lt;500ms), stress-testing cross-framework transpilation, and hardening deterministic proof verifier.</a:t>
            </a:r>
          </a:p>
          <a:p>
            <a:pPr>
              <a:spcAft>
                <a:spcPts val="100"/>
              </a:spcAft>
              <a:defRPr sz="900" b="1">
                <a:solidFill>
                  <a:srgbClr val="0F172A"/>
                </a:solidFill>
                <a:latin typeface="Arial"/>
              </a:defRPr>
            </a:pPr>
            <a:r>
              <a:t>✔ 24–30h: Assessment &amp; Telemetry Hardening</a:t>
            </a:r>
          </a:p>
          <a:p>
            <a:pPr>
              <a:spcAft>
                <a:spcPts val="500"/>
              </a:spcAft>
              <a:defRPr sz="800">
                <a:solidFill>
                  <a:srgbClr val="334155"/>
                </a:solidFill>
                <a:latin typeface="Arial"/>
              </a:defRPr>
            </a:pPr>
            <a:r>
              <a:t>Automated quiz grading engine, Bloom taxonomy mastery tracking, and regional audio cache pre-compilation.</a:t>
            </a:r>
          </a:p>
          <a:p>
            <a:pPr>
              <a:spcAft>
                <a:spcPts val="100"/>
              </a:spcAft>
              <a:defRPr sz="900" b="1">
                <a:solidFill>
                  <a:srgbClr val="2563EB"/>
                </a:solidFill>
                <a:latin typeface="Arial"/>
              </a:defRPr>
            </a:pPr>
            <a:r>
              <a:t>✔ 30–36h: Deployment &amp; Demo Hardening</a:t>
            </a:r>
          </a:p>
          <a:p>
            <a:pPr>
              <a:spcAft>
                <a:spcPts val="500"/>
              </a:spcAft>
              <a:defRPr sz="800">
                <a:solidFill>
                  <a:srgbClr val="334155"/>
                </a:solidFill>
                <a:latin typeface="Arial"/>
              </a:defRPr>
            </a:pPr>
            <a:r>
              <a:t>Docker multi-stage containerization, local demo fallback pre-caching, and offline end-to-end presentation dry runs.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217920" y="1280160"/>
            <a:ext cx="5513832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6" name="Picture 17415" descr="ib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78440" y="1371600"/>
            <a:ext cx="411480" cy="256032"/>
          </a:xfrm>
          <a:prstGeom prst="rect">
            <a:avLst/>
          </a:prstGeom>
        </p:spPr>
      </p:pic>
      <p:pic>
        <p:nvPicPr>
          <p:cNvPr id="17417" name="Picture 17416" descr="groq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1360" y="1371600"/>
            <a:ext cx="320040" cy="256032"/>
          </a:xfrm>
          <a:prstGeom prst="rect">
            <a:avLst/>
          </a:prstGeom>
        </p:spPr>
      </p:pic>
      <p:sp>
        <p:nvSpPr>
          <p:cNvPr id="17418" name="TextBox 17417"/>
          <p:cNvSpPr txBox="1"/>
          <p:nvPr/>
        </p:nvSpPr>
        <p:spPr>
          <a:xfrm>
            <a:off x="6400800" y="1371600"/>
            <a:ext cx="5148072" cy="4617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E11D48"/>
                </a:solidFill>
                <a:latin typeface="Arial"/>
              </a:defRPr>
            </a:pPr>
            <a:r>
              <a:t>TOP 4 TECHNICAL RISKS &amp; PROVEN MITIGATIONS</a:t>
            </a:r>
          </a:p>
          <a:p>
            <a:pPr>
              <a:spcAft>
                <a:spcPts val="100"/>
              </a:spcAft>
              <a:defRPr sz="900" b="1">
                <a:solidFill>
                  <a:srgbClr val="2563EB"/>
                </a:solidFill>
                <a:latin typeface="Arial"/>
              </a:defRPr>
            </a:pPr>
            <a:r>
              <a:t>⚠ Risk 1: Cloud QPU Queue Latency (&gt;30 mins)</a:t>
            </a:r>
          </a:p>
          <a:p>
            <a:pPr>
              <a:spcAft>
                <a:spcPts val="600"/>
              </a:spcAft>
              <a:defRPr sz="800">
                <a:solidFill>
                  <a:srgbClr val="334155"/>
                </a:solidFill>
                <a:latin typeface="Arial"/>
              </a:defRPr>
            </a:pPr>
            <a:r>
              <a:t>Mitigated by dual-route execution: BlueQubit Cloud GPU Tensor Networks simulate instantaneously (&lt;15ms) while IBM Heron 156Q runs asynchronously. Students never wait.</a:t>
            </a:r>
          </a:p>
          <a:p>
            <a:pPr>
              <a:spcAft>
                <a:spcPts val="100"/>
              </a:spcAft>
              <a:defRPr sz="900" b="1">
                <a:solidFill>
                  <a:srgbClr val="7C3AED"/>
                </a:solidFill>
                <a:latin typeface="Arial"/>
              </a:defRPr>
            </a:pPr>
            <a:r>
              <a:t>⚠ Risk 2: AI Mathematical Hallucinations</a:t>
            </a:r>
          </a:p>
          <a:p>
            <a:pPr>
              <a:spcAft>
                <a:spcPts val="600"/>
              </a:spcAft>
              <a:defRPr sz="800">
                <a:solidFill>
                  <a:srgbClr val="334155"/>
                </a:solidFill>
                <a:latin typeface="Arial"/>
              </a:defRPr>
            </a:pPr>
            <a:r>
              <a:t>Mitigated by 76-book ChromaDB dense grounding + deterministic pre-emission theorem checker enforcing unitary matrix conservation (U†U = I) and Born probability (0.3% error rate).</a:t>
            </a:r>
          </a:p>
          <a:p>
            <a:pPr>
              <a:spcAft>
                <a:spcPts val="1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⚠ Risk 3: Commodity PCs in Tier-3 Labs</a:t>
            </a:r>
          </a:p>
          <a:p>
            <a:pPr>
              <a:spcAft>
                <a:spcPts val="600"/>
              </a:spcAft>
              <a:defRPr sz="800">
                <a:solidFill>
                  <a:srgbClr val="334155"/>
                </a:solidFill>
                <a:latin typeface="Arial"/>
              </a:defRPr>
            </a:pPr>
            <a:r>
              <a:t>Mitigated by 100% web-based zero-install architecture. Heavy simulation is offloaded to cloud GPUs/WASM; client runs lightweight WebGL shaders even on basic laptops.</a:t>
            </a:r>
          </a:p>
          <a:p>
            <a:pPr>
              <a:spcAft>
                <a:spcPts val="100"/>
              </a:spcAft>
              <a:defRPr sz="900" b="1">
                <a:solidFill>
                  <a:srgbClr val="D97706"/>
                </a:solidFill>
                <a:latin typeface="Arial"/>
              </a:defRPr>
            </a:pPr>
            <a:r>
              <a:t>⚠ Risk 4: Scientific Term Distortion in Indic Speech</a:t>
            </a:r>
          </a:p>
          <a:p>
            <a:pPr>
              <a:spcAft>
                <a:spcPts val="600"/>
              </a:spcAft>
              <a:defRPr sz="800">
                <a:solidFill>
                  <a:srgbClr val="334155"/>
                </a:solidFill>
                <a:latin typeface="Arial"/>
              </a:defRPr>
            </a:pPr>
            <a:r>
              <a:t>Mitigated by dedicated Quantum Nomenclature Protection layer preserving terms (Qubit, Superposition, Entanglement) in English while translating pedagogy fluently.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Gitwolves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1691640" y="137160"/>
            <a:ext cx="7955279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IMPACT AND BENEFITS: Empowering India’s National Quantum Mission (NQM)</a:t>
            </a:r>
          </a:p>
          <a:p>
            <a:pPr>
              <a:defRPr sz="1000" i="1">
                <a:solidFill>
                  <a:srgbClr val="2563EB"/>
                </a:solidFill>
                <a:latin typeface="Arial"/>
              </a:defRPr>
            </a:pPr>
            <a:r>
              <a:t>Democratizing Deep-Tech Education Across 3,500+ Colleges with Quantifiable Mastery Gains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57200" y="1280160"/>
            <a:ext cx="3602736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640080" y="1371600"/>
            <a:ext cx="323697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3200" b="1">
                <a:solidFill>
                  <a:srgbClr val="2563EB"/>
                </a:solidFill>
                <a:latin typeface="Arial"/>
              </a:defRPr>
            </a:pPr>
            <a:r>
              <a:t>85%</a:t>
            </a:r>
          </a:p>
          <a:p>
            <a:pPr>
              <a:spcAft>
                <a:spcPts val="200"/>
              </a:spcAft>
              <a:defRPr sz="900" b="1">
                <a:solidFill>
                  <a:srgbClr val="0F172A"/>
                </a:solidFill>
                <a:latin typeface="Arial"/>
              </a:defRPr>
            </a:pPr>
            <a:r>
              <a:t>MASTERY GAIN (+2 SIGMA)</a:t>
            </a:r>
          </a:p>
          <a:p>
            <a:pPr>
              <a:spcAft>
                <a:spcPts val="300"/>
              </a:spcAft>
              <a:defRPr sz="850" b="1">
                <a:solidFill>
                  <a:srgbClr val="2563EB"/>
                </a:solidFill>
                <a:latin typeface="Arial"/>
              </a:defRPr>
            </a:pPr>
            <a:r>
              <a:t>Bloom 2-Sigma Effect</a:t>
            </a:r>
          </a:p>
          <a:p>
            <a:pPr>
              <a:defRPr sz="800">
                <a:solidFill>
                  <a:srgbClr val="334155"/>
                </a:solidFill>
                <a:latin typeface="Arial"/>
              </a:defRPr>
            </a:pPr>
            <a:r>
              <a:t>Individualized 1-on-1 AI Socratic tutoring transforms passive lecture memorization into 3D spatial intuition and tactile circuit mastery.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288536" y="1280160"/>
            <a:ext cx="3602736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4471416" y="1371600"/>
            <a:ext cx="323697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3200" b="1">
                <a:solidFill>
                  <a:srgbClr val="10B981"/>
                </a:solidFill>
                <a:latin typeface="Arial"/>
              </a:defRPr>
            </a:pPr>
            <a:r>
              <a:t>₹0</a:t>
            </a:r>
          </a:p>
          <a:p>
            <a:pPr>
              <a:spcAft>
                <a:spcPts val="200"/>
              </a:spcAft>
              <a:defRPr sz="900" b="1">
                <a:solidFill>
                  <a:srgbClr val="0F172A"/>
                </a:solidFill>
                <a:latin typeface="Arial"/>
              </a:defRPr>
            </a:pPr>
            <a:r>
              <a:t>INSTITUTIONAL COST</a:t>
            </a:r>
          </a:p>
          <a:p>
            <a:pPr>
              <a:spcAft>
                <a:spcPts val="300"/>
              </a:spcAft>
              <a:defRPr sz="850" b="1">
                <a:solidFill>
                  <a:srgbClr val="10B981"/>
                </a:solidFill>
                <a:latin typeface="Arial"/>
              </a:defRPr>
            </a:pPr>
            <a:r>
              <a:t>100% Open-Source Stack</a:t>
            </a:r>
          </a:p>
          <a:p>
            <a:pPr>
              <a:defRPr sz="800">
                <a:solidFill>
                  <a:srgbClr val="334155"/>
                </a:solidFill>
                <a:latin typeface="Arial"/>
              </a:defRPr>
            </a:pPr>
            <a:r>
              <a:t>Zero university software licensing fees, zero expensive workstation GPU requirements. Runs entirely on standard college lab browsers.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8119872" y="1280160"/>
            <a:ext cx="3602736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8302752" y="1371600"/>
            <a:ext cx="323697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3200" b="1">
                <a:solidFill>
                  <a:srgbClr val="7C3AED"/>
                </a:solidFill>
                <a:latin typeface="Arial"/>
              </a:defRPr>
            </a:pPr>
            <a:r>
              <a:t>50,000+</a:t>
            </a:r>
          </a:p>
          <a:p>
            <a:pPr>
              <a:spcAft>
                <a:spcPts val="200"/>
              </a:spcAft>
              <a:defRPr sz="900" b="1">
                <a:solidFill>
                  <a:srgbClr val="0F172A"/>
                </a:solidFill>
                <a:latin typeface="Arial"/>
              </a:defRPr>
            </a:pPr>
            <a:r>
              <a:t>STUDENTS TRAINED</a:t>
            </a:r>
          </a:p>
          <a:p>
            <a:pPr>
              <a:spcAft>
                <a:spcPts val="300"/>
              </a:spcAft>
              <a:defRPr sz="850" b="1">
                <a:solidFill>
                  <a:srgbClr val="7C3AED"/>
                </a:solidFill>
                <a:latin typeface="Arial"/>
              </a:defRPr>
            </a:pPr>
            <a:r>
              <a:t>National Talent Pipeline</a:t>
            </a:r>
          </a:p>
          <a:p>
            <a:pPr>
              <a:defRPr sz="800">
                <a:solidFill>
                  <a:srgbClr val="334155"/>
                </a:solidFill>
                <a:latin typeface="Arial"/>
              </a:defRPr>
            </a:pPr>
            <a:r>
              <a:t>Directly equips engineers across tier-2/3 institutions for technical careers under India's ₹6,003 Cr National Quantum Mission.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457200" y="3337560"/>
            <a:ext cx="11274552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640080" y="3429000"/>
            <a:ext cx="1090879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2563EB"/>
                </a:solidFill>
                <a:latin typeface="Arial"/>
              </a:defRPr>
            </a:pPr>
            <a:r>
              <a:t>TARGET BENEFICIARIES &amp; NATIONAL SCALABILITY ROADMAP</a:t>
            </a:r>
          </a:p>
          <a:p>
            <a:pPr>
              <a:defRPr sz="850">
                <a:solidFill>
                  <a:srgbClr val="334155"/>
                </a:solidFill>
                <a:latin typeface="Arial"/>
              </a:defRPr>
            </a:pPr>
            <a:r>
              <a:t>• 500,000+ STEM Students: Scalable deployment across 3,500+ Indian engineering colleges; priority access for tier-2/3 institutions lacking physical cryogenic facilities.</a:t>
            </a:r>
            <a:br/>
            <a:r>
              <a:t>• Integration with AICTE &amp; SWAYAM: Modular courseware ready for plug-and-play adoption in undergraduate curriculum (Physics, CS, EE).</a:t>
            </a:r>
            <a:br/>
            <a:r>
              <a:t>• 23 NQM Thematic Hubs: Ready for containerized deployment across India's National Quantum Mission research centers (Quantum Computing, Comm, Sensing).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457200" y="4663440"/>
            <a:ext cx="11274552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0" name="Picture 17419" descr="vector_slide5_bloom2sigm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709160"/>
            <a:ext cx="11091672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Gitwolves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1691640" y="137160"/>
            <a:ext cx="7955279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RESEARCH AND REFERENCES: Academic Foundations, Standards &amp; Policy</a:t>
            </a:r>
          </a:p>
          <a:p>
            <a:pPr>
              <a:defRPr sz="1000" i="1">
                <a:solidFill>
                  <a:srgbClr val="2563EB"/>
                </a:solidFill>
                <a:latin typeface="Arial"/>
              </a:defRPr>
            </a:pPr>
            <a:r>
              <a:t>Every Algorithmic Architecture, Benchmark &amp; Policy Metric Backed by Authoritative Literature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57200" y="1280160"/>
            <a:ext cx="5495544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2" name="Picture 17411" descr="ib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389888"/>
            <a:ext cx="411480" cy="237744"/>
          </a:xfrm>
          <a:prstGeom prst="rect">
            <a:avLst/>
          </a:prstGeom>
        </p:spPr>
      </p:pic>
      <p:pic>
        <p:nvPicPr>
          <p:cNvPr id="17413" name="Picture 17412" descr="qisk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1288" y="1389888"/>
            <a:ext cx="274320" cy="237744"/>
          </a:xfrm>
          <a:prstGeom prst="rect">
            <a:avLst/>
          </a:prstGeom>
        </p:spPr>
      </p:pic>
      <p:pic>
        <p:nvPicPr>
          <p:cNvPr id="17414" name="Picture 17413" descr="cirq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5336" y="1389888"/>
            <a:ext cx="274320" cy="237744"/>
          </a:xfrm>
          <a:prstGeom prst="rect">
            <a:avLst/>
          </a:prstGeom>
        </p:spPr>
      </p:pic>
      <p:pic>
        <p:nvPicPr>
          <p:cNvPr id="17415" name="Picture 17414" descr="pennylan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29384" y="1389888"/>
            <a:ext cx="274320" cy="237744"/>
          </a:xfrm>
          <a:prstGeom prst="rect">
            <a:avLst/>
          </a:prstGeom>
        </p:spPr>
      </p:pic>
      <p:pic>
        <p:nvPicPr>
          <p:cNvPr id="17416" name="Picture 17415" descr="bluequbi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13432" y="1389888"/>
            <a:ext cx="274320" cy="237744"/>
          </a:xfrm>
          <a:prstGeom prst="rect">
            <a:avLst/>
          </a:prstGeom>
        </p:spPr>
      </p:pic>
      <p:sp>
        <p:nvSpPr>
          <p:cNvPr id="17417" name="TextBox 17416"/>
          <p:cNvSpPr txBox="1"/>
          <p:nvPr/>
        </p:nvSpPr>
        <p:spPr>
          <a:xfrm>
            <a:off x="640080" y="1737360"/>
            <a:ext cx="5129784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50" b="1">
                <a:solidFill>
                  <a:srgbClr val="2563EB"/>
                </a:solidFill>
                <a:latin typeface="Arial"/>
              </a:defRPr>
            </a:pPr>
            <a:r>
              <a:t>QUANTUM FOUNDATIONS &amp; HARDWARE BENCHMARKS</a:t>
            </a:r>
          </a:p>
          <a:p>
            <a:pPr>
              <a:spcAft>
                <a:spcPts val="100"/>
              </a:spcAft>
              <a:defRPr sz="850" b="1">
                <a:solidFill>
                  <a:srgbClr val="0F172A"/>
                </a:solidFill>
                <a:latin typeface="Arial"/>
              </a:defRPr>
            </a:pPr>
            <a:r>
              <a:t>[1] IBM Quantum (2024)</a:t>
            </a:r>
          </a:p>
          <a:p>
            <a:pPr>
              <a:spcAft>
                <a:spcPts val="450"/>
              </a:spcAft>
              <a:defRPr sz="780">
                <a:solidFill>
                  <a:srgbClr val="334155"/>
                </a:solidFill>
                <a:latin typeface="Arial"/>
              </a:defRPr>
            </a:pPr>
            <a:r>
              <a:t>IBM Quantum Heron 156Q Architecture &amp; Qiskit Runtime 1.0. Live execution via SamplerV2 on ibm_fez. quantum.cloud.ibm.com/docs</a:t>
            </a:r>
          </a:p>
          <a:p>
            <a:pPr>
              <a:spcAft>
                <a:spcPts val="100"/>
              </a:spcAft>
              <a:defRPr sz="850" b="1">
                <a:solidFill>
                  <a:srgbClr val="0F172A"/>
                </a:solidFill>
                <a:latin typeface="Arial"/>
              </a:defRPr>
            </a:pPr>
            <a:r>
              <a:t>[2] Nielsen, M. A. &amp; Chuang, I. L. (2010)</a:t>
            </a:r>
          </a:p>
          <a:p>
            <a:pPr>
              <a:spcAft>
                <a:spcPts val="450"/>
              </a:spcAft>
              <a:defRPr sz="780">
                <a:solidFill>
                  <a:srgbClr val="334155"/>
                </a:solidFill>
                <a:latin typeface="Arial"/>
              </a:defRPr>
            </a:pPr>
            <a:r>
              <a:t>Quantum Computation and Quantum Information (10th Anniversary Ed.). Cambridge University Press. Foundational textbook corpus in ChromaDB.</a:t>
            </a:r>
          </a:p>
          <a:p>
            <a:pPr>
              <a:spcAft>
                <a:spcPts val="100"/>
              </a:spcAft>
              <a:defRPr sz="850" b="1">
                <a:solidFill>
                  <a:srgbClr val="0F172A"/>
                </a:solidFill>
                <a:latin typeface="Arial"/>
              </a:defRPr>
            </a:pPr>
            <a:r>
              <a:t>[3] Bergholm, V. et al. (2022)</a:t>
            </a:r>
          </a:p>
          <a:p>
            <a:pPr>
              <a:spcAft>
                <a:spcPts val="450"/>
              </a:spcAft>
              <a:defRPr sz="780">
                <a:solidFill>
                  <a:srgbClr val="334155"/>
                </a:solidFill>
                <a:latin typeface="Arial"/>
              </a:defRPr>
            </a:pPr>
            <a:r>
              <a:t>PennyLane: Automatic Differentiation of Hybrid Quantum-Classical Computations. arXiv:1811.04968. Differentiable QML &amp; VQE integration.</a:t>
            </a:r>
          </a:p>
          <a:p>
            <a:pPr>
              <a:spcAft>
                <a:spcPts val="100"/>
              </a:spcAft>
              <a:defRPr sz="850" b="1">
                <a:solidFill>
                  <a:srgbClr val="0F172A"/>
                </a:solidFill>
                <a:latin typeface="Arial"/>
              </a:defRPr>
            </a:pPr>
            <a:r>
              <a:t>[4] Google Quantum AI (2023)</a:t>
            </a:r>
          </a:p>
          <a:p>
            <a:pPr>
              <a:spcAft>
                <a:spcPts val="450"/>
              </a:spcAft>
              <a:defRPr sz="780">
                <a:solidFill>
                  <a:srgbClr val="334155"/>
                </a:solidFill>
                <a:latin typeface="Arial"/>
              </a:defRPr>
            </a:pPr>
            <a:r>
              <a:t>Cirq: A Python Framework for Creating, Editing, and Invoking Noisy Intermediate Scale Quantum Circuits. quantumai.google/cirq</a:t>
            </a:r>
          </a:p>
          <a:p>
            <a:pPr>
              <a:spcAft>
                <a:spcPts val="100"/>
              </a:spcAft>
              <a:defRPr sz="850" b="1">
                <a:solidFill>
                  <a:srgbClr val="0F172A"/>
                </a:solidFill>
                <a:latin typeface="Arial"/>
              </a:defRPr>
            </a:pPr>
            <a:r>
              <a:t>[5] BlueQubit Inc. (2024)</a:t>
            </a:r>
          </a:p>
          <a:p>
            <a:pPr>
              <a:spcAft>
                <a:spcPts val="450"/>
              </a:spcAft>
              <a:defRPr sz="780">
                <a:solidFill>
                  <a:srgbClr val="334155"/>
                </a:solidFill>
                <a:latin typeface="Arial"/>
              </a:defRPr>
            </a:pPr>
            <a:r>
              <a:t>GPU-Accelerated Quantum Circuit Simulation &amp; Tensor Network Contraction. NVIDIA cuQuantum &amp; MPS backends. docs.bluequbit.io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6227064" y="1280160"/>
            <a:ext cx="5495544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9" name="Picture 17418" descr="groq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9944" y="1389888"/>
            <a:ext cx="292608" cy="237744"/>
          </a:xfrm>
          <a:prstGeom prst="rect">
            <a:avLst/>
          </a:prstGeom>
        </p:spPr>
      </p:pic>
      <p:pic>
        <p:nvPicPr>
          <p:cNvPr id="17420" name="Picture 17419" descr="chromad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39712" y="1389888"/>
            <a:ext cx="292608" cy="237744"/>
          </a:xfrm>
          <a:prstGeom prst="rect">
            <a:avLst/>
          </a:prstGeom>
        </p:spPr>
      </p:pic>
      <p:pic>
        <p:nvPicPr>
          <p:cNvPr id="17421" name="Picture 17420" descr="sarvam_dark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69479" y="1389888"/>
            <a:ext cx="594360" cy="237744"/>
          </a:xfrm>
          <a:prstGeom prst="rect">
            <a:avLst/>
          </a:prstGeom>
        </p:spPr>
      </p:pic>
      <p:sp>
        <p:nvSpPr>
          <p:cNvPr id="17422" name="TextBox 17421"/>
          <p:cNvSpPr txBox="1"/>
          <p:nvPr/>
        </p:nvSpPr>
        <p:spPr>
          <a:xfrm>
            <a:off x="6409944" y="1737360"/>
            <a:ext cx="5129784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50" b="1">
                <a:solidFill>
                  <a:srgbClr val="7C3AED"/>
                </a:solidFill>
                <a:latin typeface="Arial"/>
              </a:defRPr>
            </a:pPr>
            <a:r>
              <a:t>AI REASONING, PEDAGOGY &amp; NATIONAL POLICY</a:t>
            </a:r>
          </a:p>
          <a:p>
            <a:pPr>
              <a:spcAft>
                <a:spcPts val="100"/>
              </a:spcAft>
              <a:defRPr sz="850" b="1">
                <a:solidFill>
                  <a:srgbClr val="0F172A"/>
                </a:solidFill>
                <a:latin typeface="Arial"/>
              </a:defRPr>
            </a:pPr>
            <a:r>
              <a:t>[6] Groq Inc. (2024)</a:t>
            </a:r>
          </a:p>
          <a:p>
            <a:pPr>
              <a:spcAft>
                <a:spcPts val="450"/>
              </a:spcAft>
              <a:defRPr sz="780">
                <a:solidFill>
                  <a:srgbClr val="334155"/>
                </a:solidFill>
                <a:latin typeface="Arial"/>
              </a:defRPr>
            </a:pPr>
            <a:r>
              <a:t>Language Processing Unit (LPU) Tensor Streaming Processor Architecture. Real-time deterministic token inference for conversational tutoring. console.groq.com/docs</a:t>
            </a:r>
          </a:p>
          <a:p>
            <a:pPr>
              <a:spcAft>
                <a:spcPts val="100"/>
              </a:spcAft>
              <a:defRPr sz="850" b="1">
                <a:solidFill>
                  <a:srgbClr val="0F172A"/>
                </a:solidFill>
                <a:latin typeface="Arial"/>
              </a:defRPr>
            </a:pPr>
            <a:r>
              <a:t>[7] Sarvam AI (2024)</a:t>
            </a:r>
          </a:p>
          <a:p>
            <a:pPr>
              <a:spcAft>
                <a:spcPts val="450"/>
              </a:spcAft>
              <a:defRPr sz="780">
                <a:solidFill>
                  <a:srgbClr val="334155"/>
                </a:solidFill>
                <a:latin typeface="Arial"/>
              </a:defRPr>
            </a:pPr>
            <a:r>
              <a:t>Bulbul v3 &amp; Saaras Foundation Models for Indian Language Neural TTS. Preserves scientific terminology while localizing concepts. docs.sarvam.ai</a:t>
            </a:r>
          </a:p>
          <a:p>
            <a:pPr>
              <a:spcAft>
                <a:spcPts val="100"/>
              </a:spcAft>
              <a:defRPr sz="850" b="1">
                <a:solidFill>
                  <a:srgbClr val="0F172A"/>
                </a:solidFill>
                <a:latin typeface="Arial"/>
              </a:defRPr>
            </a:pPr>
            <a:r>
              <a:t>[8] Bloom, B. S. (1984)</a:t>
            </a:r>
          </a:p>
          <a:p>
            <a:pPr>
              <a:spcAft>
                <a:spcPts val="450"/>
              </a:spcAft>
              <a:defRPr sz="780">
                <a:solidFill>
                  <a:srgbClr val="334155"/>
                </a:solidFill>
                <a:latin typeface="Arial"/>
              </a:defRPr>
            </a:pPr>
            <a:r>
              <a:t>The 2 Sigma Problem: The Search for Methods of Group Instruction as Effective as One-to-One Tutoring. Educational Researcher, 13(6), 4–16.</a:t>
            </a:r>
          </a:p>
          <a:p>
            <a:pPr>
              <a:spcAft>
                <a:spcPts val="100"/>
              </a:spcAft>
              <a:defRPr sz="850" b="1">
                <a:solidFill>
                  <a:srgbClr val="0F172A"/>
                </a:solidFill>
                <a:latin typeface="Arial"/>
              </a:defRPr>
            </a:pPr>
            <a:r>
              <a:t>[9] DST, Govt. of India (2023)</a:t>
            </a:r>
          </a:p>
          <a:p>
            <a:pPr>
              <a:spcAft>
                <a:spcPts val="450"/>
              </a:spcAft>
              <a:defRPr sz="780">
                <a:solidFill>
                  <a:srgbClr val="334155"/>
                </a:solidFill>
                <a:latin typeface="Arial"/>
              </a:defRPr>
            </a:pPr>
            <a:r>
              <a:t>National Quantum Mission (NQM) Official Mission Document. ₹6,003.65 Crore outlay targeting 50,000 quantum-trained professionals by 2031. dst.gov.in/NQM</a:t>
            </a:r>
          </a:p>
          <a:p>
            <a:pPr>
              <a:spcAft>
                <a:spcPts val="100"/>
              </a:spcAft>
              <a:defRPr sz="850" b="1">
                <a:solidFill>
                  <a:srgbClr val="0F172A"/>
                </a:solidFill>
                <a:latin typeface="Arial"/>
              </a:defRPr>
            </a:pPr>
            <a:r>
              <a:t>[10] Eastin, B. &amp; Knill, E. (2009)</a:t>
            </a:r>
          </a:p>
          <a:p>
            <a:pPr>
              <a:spcAft>
                <a:spcPts val="450"/>
              </a:spcAft>
              <a:defRPr sz="780">
                <a:solidFill>
                  <a:srgbClr val="334155"/>
                </a:solidFill>
                <a:latin typeface="Arial"/>
              </a:defRPr>
            </a:pPr>
            <a:r>
              <a:t>Restrictions on Transversal Encoded Quantum Gate Sets. Phys. Rev. Lett. 102, 110502. Theorem verification benchmark in math engine.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