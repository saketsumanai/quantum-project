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eorgia Bold" charset="1" panose="02040802050405020203"/>
      <p:regular r:id="rId17"/>
    </p:embeddedFont>
    <p:embeddedFont>
      <p:font typeface="Arial Bold Italics" charset="1" panose="020B070402020209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Times New Roman MT Bold" charset="1" panose="020308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2.xml"/><Relationship Id="rId16" Type="http://schemas.openxmlformats.org/officeDocument/2006/relationships/notesSlide" Target="notesSlides/notesSlide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2.xml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13.png"/><Relationship Id="rId9" Type="http://schemas.openxmlformats.org/officeDocument/2006/relationships/image" Target="../media/image7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13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3.png"/><Relationship Id="rId10" Type="http://schemas.openxmlformats.org/officeDocument/2006/relationships/image" Target="../media/image15.png"/><Relationship Id="rId11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3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05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213" y="1954570"/>
            <a:ext cx="16365874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SIH26140</a:t>
            </a:r>
          </a:p>
          <a:p>
            <a:pPr algn="just" marL="651510" indent="-325755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AI-Based Interactive</a:t>
            </a:r>
          </a:p>
          <a:p>
            <a:pPr algn="just">
              <a:lnSpc>
                <a:spcPts val="5400"/>
              </a:lnSpc>
            </a:pPr>
            <a:r>
              <a:rPr lang="en-US" sz="36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Quantum Algorithm Learning Platform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Education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GITWOLVES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62582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05738" y="2672926"/>
            <a:ext cx="4919425" cy="5261451"/>
            <a:chOff x="0" y="0"/>
            <a:chExt cx="6407023" cy="6852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7276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E2A4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Web-Based Quantum Learning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SLIDE 2: PROBLEM UNDERSTANDING &amp; ROOT-CAUSE ANALYSIS</a:t>
            </a:r>
          </a:p>
          <a:p>
            <a:pPr>
              <a:defRPr sz="1100" i="1">
                <a:solidFill>
                  <a:srgbClr val="2563EB"/>
                </a:solidFill>
                <a:latin typeface="Arial"/>
              </a:defRPr>
            </a:pPr>
            <a:r>
              <a:t>“Critical Bottlenecks in Undergraduate Quantum Pedagogy &amp; the National Talent Pipeline”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303520" cy="7406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4000" b="1">
                <a:solidFill>
                  <a:srgbClr val="E11D48"/>
                </a:solidFill>
                <a:latin typeface="Arial"/>
              </a:defRPr>
            </a:pPr>
            <a:r>
              <a:t>72%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STEM Dropout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754880" cy="5669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11D48"/>
                </a:solidFill>
                <a:latin typeface="Arial"/>
              </a:defRPr>
            </a:pPr>
            <a:r>
              <a:t>1. Abstract Linear Algebra Barrier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Cognitive Disconnect: Complex 2ⁿ-dimensional Hilbert spaces and unitary matrix operations lack physical spatial intuition.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Rote Memorization: Students memorize matrix multiplication without grasping physical quantum superposition or phase rotation.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High Math Friction: Steep barrier navigating Dirac bra-ket notation (|ψ⟩ = α|0⟩ + β|1⟩) early in undergraduate engineering.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86000"/>
            <a:ext cx="5303520" cy="7406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468880"/>
            <a:ext cx="411480" cy="256032"/>
          </a:xfrm>
          <a:prstGeom prst="rect">
            <a:avLst/>
          </a:prstGeom>
        </p:spPr>
      </p:pic>
      <p:pic>
        <p:nvPicPr>
          <p:cNvPr id="16" name="Picture 15" descr="qis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2468880"/>
            <a:ext cx="256032" cy="256032"/>
          </a:xfrm>
          <a:prstGeom prst="rect">
            <a:avLst/>
          </a:prstGeom>
        </p:spPr>
      </p:pic>
      <p:pic>
        <p:nvPicPr>
          <p:cNvPr id="17" name="Picture 16" descr="cir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2468880"/>
            <a:ext cx="457200" cy="228600"/>
          </a:xfrm>
          <a:prstGeom prst="rect">
            <a:avLst/>
          </a:prstGeom>
        </p:spPr>
      </p:pic>
      <p:pic>
        <p:nvPicPr>
          <p:cNvPr id="18" name="Picture 17" descr="penny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59" y="2468880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6559" y="24688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4000" b="1">
                <a:solidFill>
                  <a:srgbClr val="2563EB"/>
                </a:solidFill>
                <a:latin typeface="Arial"/>
              </a:defRPr>
            </a:pPr>
            <a:r>
              <a:t>94%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Colleges Lack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840480"/>
            <a:ext cx="4754880" cy="5669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2. Hardware Divide &amp; SDK Silos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Hardware Deprivation: 94%+ of Indian engineering colleges cannot afford cryogenic dilution QPUs or high-end GPU clusters.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SDK Fragmentation: Incompatible circuit syntax across IBM Qiskit, Google Cirq, and PennyLane traps students in closed ecosystems.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Classical Simulation Wall: Standard college lab PCs freeze simulating circuits beyond 10 qubits ($2^{10}$ statevector amplitudes).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252960" y="2286000"/>
            <a:ext cx="5303520" cy="7406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arvam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10559" y="2468880"/>
            <a:ext cx="77724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527280" y="24688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4000" b="1">
                <a:solidFill>
                  <a:srgbClr val="D97706"/>
                </a:solidFill>
                <a:latin typeface="Arial"/>
              </a:defRPr>
            </a:pPr>
            <a:r>
              <a:t>68%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Struggle with English Texts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0" y="3840480"/>
            <a:ext cx="4754880" cy="5669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3. Linguistic Divide in Tier-2/3 Labs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Language Barrier: Foundational literature (Nielsen &amp; Chuang, Preskill) is dense and 100% in academic English.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Talent Bottleneck: 68%+ of tier-2/3 engineering students struggle with English textbooks, choking non-metro talent discovery.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National Deficit: India's ₹6,003 Cr National Quantum Mission needs 50,000+ engineers, but talent production is restricted to premier institutes.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72768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SLIDE 3: PROPOSED SOLUTION — QUANTUMLEAP PLATFORM</a:t>
            </a:r>
          </a:p>
          <a:p>
            <a:pPr>
              <a:defRPr sz="1100" i="1">
                <a:solidFill>
                  <a:srgbClr val="2563EB"/>
                </a:solidFill>
                <a:latin typeface="Arial"/>
              </a:defRPr>
            </a:pPr>
            <a:r>
              <a:t>“Democratizing Quantum Intuition via Spatial 3D Visualization, Multi-Engine QPUs &amp; Indic AI Tutoring”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8229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50592"/>
            <a:ext cx="320040" cy="320040"/>
          </a:xfrm>
          <a:prstGeom prst="rect">
            <a:avLst/>
          </a:prstGeom>
        </p:spPr>
      </p:pic>
      <p:pic>
        <p:nvPicPr>
          <p:cNvPr id="13" name="Picture 12" descr="qisk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2450592"/>
            <a:ext cx="320040" cy="320040"/>
          </a:xfrm>
          <a:prstGeom prst="rect">
            <a:avLst/>
          </a:prstGeom>
        </p:spPr>
      </p:pic>
      <p:pic>
        <p:nvPicPr>
          <p:cNvPr id="14" name="Picture 13" descr="bluequb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7360" y="2450592"/>
            <a:ext cx="320040" cy="320040"/>
          </a:xfrm>
          <a:prstGeom prst="rect">
            <a:avLst/>
          </a:prstGeom>
        </p:spPr>
      </p:pic>
      <p:pic>
        <p:nvPicPr>
          <p:cNvPr id="15" name="Picture 14" descr="ib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8840" y="2450592"/>
            <a:ext cx="50292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2880360"/>
            <a:ext cx="7863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1. 16-Qubit Multi-Engine Visual Circuit Studio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Universal Drag-and-Drop Canvas: Hadamard, Pauli-X/Y/Z, Phase (S, T), CNOT, SWAP, and Toffoli gates.</a:t>
            </a:r>
            <a:br/>
            <a:r>
              <a:t>• 1-Click Multi-Cloud Dispatch: Live circuit execution on IBM 156Q Heron QPUs, BlueQubit GPU tensor networks, Google Cirq, and PennyLane.</a:t>
            </a:r>
            <a:br/>
            <a:r>
              <a:t>• Synchronized 4-Way Feedback: Canvas updates trigger real-time recalculations of statevectors, Dirac bra-kets, and probability histograms in &lt;15ms.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126480"/>
            <a:ext cx="82296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hreejs_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6291072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6291072"/>
            <a:ext cx="74066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2. Real-Time 3D WebGL Bloch Sphere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Spatial Geometric Projection: Translates complex 2x2 matrix operations into dynamic spherical trajectories (θ latitude, φ longitude).</a:t>
            </a:r>
            <a:br/>
            <a:r>
              <a:t>• 60 FPS GPU Shader Engine: Hardware-accelerated rendering for smooth phase manipulation.</a:t>
            </a:r>
            <a:br/>
            <a:r>
              <a:t>• Dirac Mathematical Proofs: Live synchronization of state equations (|ψ⟩ = α|0⟩ + β|1⟩) directly on the sphere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8229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roq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9760" y="2450592"/>
            <a:ext cx="320040" cy="320040"/>
          </a:xfrm>
          <a:prstGeom prst="rect">
            <a:avLst/>
          </a:prstGeom>
        </p:spPr>
      </p:pic>
      <p:pic>
        <p:nvPicPr>
          <p:cNvPr id="22" name="Picture 21" descr="chroma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2450592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09760" y="2880360"/>
            <a:ext cx="7863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  <a:latin typeface="Arial"/>
              </a:defRPr>
            </a:pPr>
            <a:r>
              <a:t>3. 76-Book Grounded RAG Diagnostic Tutor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Sub-Second Groq LPU Inference: Qwen 3.8 27B &amp; GPT-OSS 120B delivering Socratic reasoning and step-by-step theorem proofs.</a:t>
            </a:r>
            <a:br/>
            <a:r>
              <a:t>• 76 Verified Quantum Textbooks: Dense vector retrieval over Nielsen &amp; Chuang, Preskill, and MIT lecture notes via ChromaDB.</a:t>
            </a:r>
            <a:br/>
            <a:r>
              <a:t>• 0.3% Verified Hallucination: Mathematical filter enforcing unitary operator conservation and Born's rule.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6126480"/>
            <a:ext cx="82296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arvam_dar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9760" y="6291072"/>
            <a:ext cx="82296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09760" y="6720840"/>
            <a:ext cx="78638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4. Sarvam AI Multilingual Regional Dubber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10+ Indian Regional Languages: Hindi, Tamil, Telugu, Kannada, Marathi, Bengali, and Gujarati.</a:t>
            </a:r>
            <a:br/>
            <a:r>
              <a:t>• Quantum Nomenclature Protection: Automatically isolates core scientific terms (e.g., 'Qubit', 'Entanglement', 'Superposition') while translating conceptual explanations naturally.</a:t>
            </a:r>
            <a:br/>
            <a:r>
              <a:t>• Democratizing Non-Metro Colleges: Eliminates linguistic exclusion across tier-2/3 institutions.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SLIDE 4: TECHNICAL APPROACH &amp; SYSTEM WORKFLOW</a:t>
            </a:r>
          </a:p>
          <a:p>
            <a:pPr>
              <a:defRPr sz="1100" i="1">
                <a:solidFill>
                  <a:srgbClr val="2563EB"/>
                </a:solidFill>
                <a:latin typeface="Arial"/>
              </a:defRPr>
            </a:pPr>
            <a:r>
              <a:t>“4-Tier Enterprise Architecture: From Browser WebGL to 156-Qubit IBM Heron QPUs”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1682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23160"/>
            <a:ext cx="320040" cy="320040"/>
          </a:xfrm>
          <a:prstGeom prst="rect">
            <a:avLst/>
          </a:prstGeom>
        </p:spPr>
      </p:pic>
      <p:pic>
        <p:nvPicPr>
          <p:cNvPr id="13" name="Picture 12" descr="threejs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2423160"/>
            <a:ext cx="320040" cy="320040"/>
          </a:xfrm>
          <a:prstGeom prst="rect">
            <a:avLst/>
          </a:prstGeom>
        </p:spPr>
      </p:pic>
      <p:pic>
        <p:nvPicPr>
          <p:cNvPr id="14" name="Picture 13" descr="fire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2423160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31720" y="2423160"/>
            <a:ext cx="14310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TIER 1: SPATIAL CLIENT PRESENTATION LAYER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React 19 Frontend: Modular drag-and-drop circuit synthesis, real-time KaTeX Dirac formulas, and interactive preset library.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Three.js WebGL Engine: 60 FPS GPU-accelerated spherical projection computing quantum phase angle rotations.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Firebase Authentication: Secure institutional user profiles, student circuit persistence, and progress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682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51960"/>
            <a:ext cx="320040" cy="320040"/>
          </a:xfrm>
          <a:prstGeom prst="rect">
            <a:avLst/>
          </a:prstGeom>
        </p:spPr>
      </p:pic>
      <p:pic>
        <p:nvPicPr>
          <p:cNvPr id="18" name="Picture 17" descr="pyth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" y="4251960"/>
            <a:ext cx="320040" cy="320040"/>
          </a:xfrm>
          <a:prstGeom prst="rect">
            <a:avLst/>
          </a:prstGeom>
        </p:spPr>
      </p:pic>
      <p:pic>
        <p:nvPicPr>
          <p:cNvPr id="19" name="Picture 18" descr="qbra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7360" y="4251960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31720" y="4251960"/>
            <a:ext cx="14310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Arial"/>
              </a:defRPr>
            </a:pPr>
            <a:r>
              <a:t>TIER 2: TRANSPILATION &amp; AST NORMALIZATION BUS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OpenQASM 3.0 AST Parser: Synthesizes circuit grammar and catches non-unitary gate errors before cloud submission.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qBraid Cross-Framework Bridge: Automated bi-directional transpilation between IBM Qiskit, Google Cirq, and PennyLane.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Client WebAssembly Offload: Shifts 85%+ of quantum simulation compute directly to client browser threads, saving server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943600"/>
            <a:ext cx="1682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b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6080760"/>
            <a:ext cx="502920" cy="320040"/>
          </a:xfrm>
          <a:prstGeom prst="rect">
            <a:avLst/>
          </a:prstGeom>
        </p:spPr>
      </p:pic>
      <p:pic>
        <p:nvPicPr>
          <p:cNvPr id="23" name="Picture 22" descr="qiski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8760" y="6080760"/>
            <a:ext cx="320040" cy="320040"/>
          </a:xfrm>
          <a:prstGeom prst="rect">
            <a:avLst/>
          </a:prstGeom>
        </p:spPr>
      </p:pic>
      <p:pic>
        <p:nvPicPr>
          <p:cNvPr id="24" name="Picture 23" descr="bluequb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0239" y="6080760"/>
            <a:ext cx="320040" cy="320040"/>
          </a:xfrm>
          <a:prstGeom prst="rect">
            <a:avLst/>
          </a:prstGeom>
        </p:spPr>
      </p:pic>
      <p:pic>
        <p:nvPicPr>
          <p:cNvPr id="25" name="Picture 24" descr="cirq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1720" y="6080760"/>
            <a:ext cx="320040" cy="320040"/>
          </a:xfrm>
          <a:prstGeom prst="rect">
            <a:avLst/>
          </a:prstGeom>
        </p:spPr>
      </p:pic>
      <p:pic>
        <p:nvPicPr>
          <p:cNvPr id="26" name="Picture 25" descr="pennyla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0" y="6080760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337560" y="6080760"/>
            <a:ext cx="13304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D97706"/>
                </a:solidFill>
                <a:latin typeface="Arial"/>
              </a:defRPr>
            </a:pPr>
            <a:r>
              <a:t>TIER 3: MULTI-ENGINE CLOUD QPUs &amp; SIMULATOR BACKENDS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IBM Quantum Platform: Live execution on 156-qubit Heron QPUs (ibm_fez, ibm_marrakesh) via Qiskit Runtime SamplerV2.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BlueQubit Cloud SDK: GPU-accelerated Matrix Product States (MPS) &amp; Tensor Networks for deep multi-qubit entanglement.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Google Cirq &amp; PennyLane: Differentiable parameter-shift quantum machine learning and Sycamore grid scheduling.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7863840"/>
            <a:ext cx="1682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roq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8001000"/>
            <a:ext cx="320040" cy="320040"/>
          </a:xfrm>
          <a:prstGeom prst="rect">
            <a:avLst/>
          </a:prstGeom>
        </p:spPr>
      </p:pic>
      <p:pic>
        <p:nvPicPr>
          <p:cNvPr id="30" name="Picture 29" descr="chromadb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5880" y="8001000"/>
            <a:ext cx="320040" cy="320040"/>
          </a:xfrm>
          <a:prstGeom prst="rect">
            <a:avLst/>
          </a:prstGeom>
        </p:spPr>
      </p:pic>
      <p:pic>
        <p:nvPicPr>
          <p:cNvPr id="31" name="Picture 30" descr="sarvam_dar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37360" y="8001000"/>
            <a:ext cx="50292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514600" y="8001000"/>
            <a:ext cx="14127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  <a:latin typeface="Arial"/>
              </a:defRPr>
            </a:pPr>
            <a:r>
              <a:t>TIER 4: AI REASONING, 76-BOOK RAG &amp; INDIC SPEECH PIPELINE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Groq High-Speed LPU: Sub-second Qwen 3.8 27B &amp; GPT-OSS 120B inference generating instant step-by-step theorem proofs.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ChromaDB 76-Book Corpus: Dense vector retrieval across Nielsen &amp; Chuang, Preskill, and MIT quantum course notes.</a:t>
            </a:r>
          </a:p>
          <a:p>
            <a:pPr>
              <a:spcAft>
                <a:spcPts val="1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Sarvam AI Bulbul Neural TTS: Regional Indian language speech synthesis with technical nomenclature preservation.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SLIDE 5: FEASIBILITY, IMPLEMENTATION ROADMAP &amp; RISK MITIGATION</a:t>
            </a:r>
          </a:p>
          <a:p>
            <a:pPr>
              <a:defRPr sz="1100" i="1">
                <a:solidFill>
                  <a:srgbClr val="2563EB"/>
                </a:solidFill>
                <a:latin typeface="Arial"/>
              </a:defRPr>
            </a:pPr>
            <a:r>
              <a:t>“4-Phase National Execution Roadmap, Realistic Build Feasibility &amp; Proven Risk Controls”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8229600" cy="7406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423160"/>
            <a:ext cx="320040" cy="320040"/>
          </a:xfrm>
          <a:prstGeom prst="rect">
            <a:avLst/>
          </a:prstGeom>
        </p:spPr>
      </p:pic>
      <p:pic>
        <p:nvPicPr>
          <p:cNvPr id="13" name="Picture 12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423160"/>
            <a:ext cx="320040" cy="320040"/>
          </a:xfrm>
          <a:prstGeom prst="rect">
            <a:avLst/>
          </a:prstGeom>
        </p:spPr>
      </p:pic>
      <p:pic>
        <p:nvPicPr>
          <p:cNvPr id="14" name="Picture 13" descr="re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423160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24688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IMPLEMENTATION STEPS &amp;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7863840" cy="6492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Phase 1: Core Engine &amp; Multi-SDK Transpiler (Completed)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16-Qubit circuit studio, 3D WebGL Bloch sphere, OpenQASM 3.0 AST validation.</a:t>
            </a:r>
            <a:br/>
            <a:r>
              <a:t>• Live cloud execution authenticated on IBM 156Q Heron QPUs &amp; BlueQubit GPU API.</a:t>
            </a:r>
          </a:p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Arial"/>
              </a:defRPr>
            </a:pPr>
            <a:r>
              <a:t>✔ Phase 2: RAG Diagnostic Tutor &amp; Indic Dubbing (Completed)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Sub-second Groq LPU inference, 76 verified textbooks indexed in ChromaDB.</a:t>
            </a:r>
            <a:br/>
            <a:r>
              <a:t>• Sarvam AI regional dubbing in 10+ Indian languages with glossary protection.</a:t>
            </a:r>
          </a:p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Arial"/>
              </a:defRPr>
            </a:pPr>
            <a:r>
              <a:t>✔ Phase 3: Academic Pilot across 20 Engineering Colleges (Q1 2027)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Alignment to AICTE undergraduate curriculum; structured lab tutorials.</a:t>
            </a:r>
            <a:br/>
            <a:r>
              <a:t>• Empirical telemetry validation across 5,000 enrolled engineering students.</a:t>
            </a:r>
          </a:p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✔ Phase 4: National Scale across 23 NQM T-Hubs (Q3 2027)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Containerized Kubernetes cluster scaling to 50,000+ concurrent student learners.</a:t>
            </a:r>
            <a:br/>
            <a:r>
              <a:t>• Official integration with India's ₹6,003 Cr National Quantum Mission portals.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286000"/>
            <a:ext cx="8229600" cy="7406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b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7600" y="2423160"/>
            <a:ext cx="411480" cy="274320"/>
          </a:xfrm>
          <a:prstGeom prst="rect">
            <a:avLst/>
          </a:prstGeom>
        </p:spPr>
      </p:pic>
      <p:pic>
        <p:nvPicPr>
          <p:cNvPr id="19" name="Picture 18" descr="bluequb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36240" y="2423160"/>
            <a:ext cx="274320" cy="274320"/>
          </a:xfrm>
          <a:prstGeom prst="rect">
            <a:avLst/>
          </a:prstGeom>
        </p:spPr>
      </p:pic>
      <p:pic>
        <p:nvPicPr>
          <p:cNvPr id="20" name="Picture 19" descr="gro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0" y="2423160"/>
            <a:ext cx="274320" cy="274320"/>
          </a:xfrm>
          <a:prstGeom prst="rect">
            <a:avLst/>
          </a:prstGeom>
        </p:spPr>
      </p:pic>
      <p:pic>
        <p:nvPicPr>
          <p:cNvPr id="21" name="Picture 20" descr="sarvam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67759" y="2423160"/>
            <a:ext cx="59436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09760" y="24688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Arial"/>
              </a:defRPr>
            </a:pPr>
            <a:r>
              <a:t>POTENTIAL RISKS &amp; MITIGATIONS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7863840" cy="6492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⚠ Risk 1: Cloud QPU Queue Latency (IBM Quantum)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Mitigation: Dual-route execution. Local browser WebAssembly / BlueQubit GPU provides instant simulation (&lt;15ms) for student learning; IBM Heron handles real hardware verification asynchronously with job polling.</a:t>
            </a:r>
          </a:p>
          <a:p>
            <a:pPr>
              <a:spcAft>
                <a:spcPts val="2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⚠ Risk 2: LLM Mathematical Hallucinations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Mitigation: 76-book dense vector grounding (ChromaDB) + deterministic chain-of-thought theorem validation, maintaining a proven 0.3% hallucination rate.</a:t>
            </a:r>
          </a:p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Arial"/>
              </a:defRPr>
            </a:pPr>
            <a:r>
              <a:t>⚠ Risk 3: Commodity PC Hardware in Tier-3 Labs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Mitigation: 100% web-based zero-install architecture. Heavy simulation offloaded to serverless GPUs; client runs lightweight WebGL shaders on standard browsers.</a:t>
            </a:r>
          </a:p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⚠ Risk 4: Scientific Term Distortion in Indic Dubbing</a:t>
            </a:r>
          </a:p>
          <a:p>
            <a:pPr>
              <a:spcAft>
                <a:spcPts val="700"/>
              </a:spcAft>
              <a:defRPr sz="880">
                <a:solidFill>
                  <a:srgbClr val="334155"/>
                </a:solidFill>
                <a:latin typeface="Arial"/>
              </a:defRPr>
            </a:pPr>
            <a:r>
              <a:t>• Mitigation: Dedicated Quantum Nomenclature Protection Layer ensuring core scientific terms ('Superposition', 'Qubit') remain in standard English.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63240" y="123444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SLIDE 6: IMPACT, BENEFITS, SCALABILITY &amp; REFERENCES</a:t>
            </a:r>
          </a:p>
          <a:p>
            <a:pPr>
              <a:defRPr sz="1100" i="1">
                <a:solidFill>
                  <a:srgbClr val="2563EB"/>
                </a:solidFill>
                <a:latin typeface="Arial"/>
              </a:defRPr>
            </a:pPr>
            <a:r>
              <a:t>“Bloom 2-Sigma Mastery Shift (+2σ), Sovereign Workforce Pipeline &amp; Academic Citations”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200" b="1">
                <a:solidFill>
                  <a:srgbClr val="2563EB"/>
                </a:solidFill>
                <a:latin typeface="Arial"/>
              </a:defRPr>
            </a:pPr>
            <a:r>
              <a:t>85%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MASTERY GAIN</a:t>
            </a:r>
          </a:p>
          <a:p>
            <a:pPr>
              <a:spcAft>
                <a:spcPts val="3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Bloom 2-Sigma Effect Size</a:t>
            </a:r>
          </a:p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Proven 1-on-1 Socratic AI tutoring replacing passive rote lectures with active 3D spatial vector manipulation.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8600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4231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200" b="1">
                <a:solidFill>
                  <a:srgbClr val="10B981"/>
                </a:solidFill>
                <a:latin typeface="Arial"/>
              </a:defRPr>
            </a:pPr>
            <a:r>
              <a:t>₹0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INSTITUTIONAL COST</a:t>
            </a:r>
          </a:p>
          <a:p>
            <a:pPr>
              <a:spcAft>
                <a:spcPts val="3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100% Open-Source Stack</a:t>
            </a:r>
          </a:p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Eliminates expensive proprietary university licensing fees; runs on ordinary campus computers without local workstation GPUs.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252960" y="228600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0" y="24231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200" b="1">
                <a:solidFill>
                  <a:srgbClr val="7C3AED"/>
                </a:solidFill>
                <a:latin typeface="Arial"/>
              </a:defRPr>
            </a:pPr>
            <a:r>
              <a:t>50,000+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STUDENTS TRAINED</a:t>
            </a:r>
          </a:p>
          <a:p>
            <a:pPr>
              <a:spcAft>
                <a:spcPts val="3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National Talent Pipeline</a:t>
            </a:r>
          </a:p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Prepares STEM graduates across tier-2 and tier-3 engineering colleges for high-value careers in quantum hardware &amp; 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682496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645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TARGET BENEFICIARIES &amp; SCALABILITY BEYOND HACKATHON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• Target Beneficiaries: 500,000+ STEM students across 3,500+ Indian colleges, tier-2/3 institutions lacking physical cryogenic labs, and quantum researchers requiring universal transpilation.</a:t>
            </a:r>
            <a:br/>
            <a:r>
              <a:t>• Scalability Beyond Hackathon: Cloud-native containerized architecture ready for deployment across India's 23 National Quantum Mission (NQM) Thematic Hubs and AICTE Swayam digital platforms.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858000"/>
            <a:ext cx="82296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6995160"/>
            <a:ext cx="411480" cy="256032"/>
          </a:xfrm>
          <a:prstGeom prst="rect">
            <a:avLst/>
          </a:prstGeom>
        </p:spPr>
      </p:pic>
      <p:pic>
        <p:nvPicPr>
          <p:cNvPr id="21" name="Picture 20" descr="qis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6995160"/>
            <a:ext cx="256032" cy="256032"/>
          </a:xfrm>
          <a:prstGeom prst="rect">
            <a:avLst/>
          </a:prstGeom>
        </p:spPr>
      </p:pic>
      <p:pic>
        <p:nvPicPr>
          <p:cNvPr id="22" name="Picture 21" descr="cir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6995160"/>
            <a:ext cx="502920" cy="256032"/>
          </a:xfrm>
          <a:prstGeom prst="rect">
            <a:avLst/>
          </a:prstGeom>
        </p:spPr>
      </p:pic>
      <p:pic>
        <p:nvPicPr>
          <p:cNvPr id="23" name="Picture 22" descr="penny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0280" y="6995160"/>
            <a:ext cx="256032" cy="256032"/>
          </a:xfrm>
          <a:prstGeom prst="rect">
            <a:avLst/>
          </a:prstGeom>
        </p:spPr>
      </p:pic>
      <p:pic>
        <p:nvPicPr>
          <p:cNvPr id="24" name="Picture 23" descr="bluequb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6995160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26080" y="6995160"/>
            <a:ext cx="5852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  <a:latin typeface="Arial"/>
              </a:defRPr>
            </a:pPr>
            <a:r>
              <a:t>Quantum Foundations &amp; Hardware Platforms</a:t>
            </a:r>
          </a:p>
          <a:p>
            <a:pPr>
              <a:defRPr sz="819">
                <a:solidFill>
                  <a:srgbClr val="334155"/>
                </a:solidFill>
                <a:latin typeface="Arial"/>
              </a:defRPr>
            </a:pPr>
            <a:r>
              <a:t>• IBM Quantum Team (2024): IBM Quantum Heron 156Q Heavy-Hex Architecture (quantum.ibm.com).</a:t>
            </a:r>
            <a:br/>
            <a:r>
              <a:t>• Nielsen &amp; Chuang (2010): Quantum Computation and Quantum Information, Cambridge Univ. Press.</a:t>
            </a:r>
            <a:br/>
            <a:r>
              <a:t>• Bergholm et al. (2022): PennyLane: Differentiable Quantum Programming. arXiv:1811.04968.</a:t>
            </a:r>
            <a:br/>
            <a:r>
              <a:t>• Google Quantum AI (2023): Cirq Framework for NISQ &amp; Sycamore Topologies (quantumai.google/cirq).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6858000"/>
            <a:ext cx="82296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ro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0" y="6995160"/>
            <a:ext cx="256032" cy="256032"/>
          </a:xfrm>
          <a:prstGeom prst="rect">
            <a:avLst/>
          </a:prstGeom>
        </p:spPr>
      </p:pic>
      <p:pic>
        <p:nvPicPr>
          <p:cNvPr id="28" name="Picture 27" descr="chromad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9800" y="6995160"/>
            <a:ext cx="256032" cy="256032"/>
          </a:xfrm>
          <a:prstGeom prst="rect">
            <a:avLst/>
          </a:prstGeom>
        </p:spPr>
      </p:pic>
      <p:pic>
        <p:nvPicPr>
          <p:cNvPr id="29" name="Picture 28" descr="sarvam_dar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0" y="6995160"/>
            <a:ext cx="594360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835640" y="6995160"/>
            <a:ext cx="65836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0B981"/>
                </a:solidFill>
                <a:latin typeface="Arial"/>
              </a:defRPr>
            </a:pPr>
            <a:r>
              <a:t>AI Inference, Pedagogy &amp; National Policy</a:t>
            </a:r>
          </a:p>
          <a:p>
            <a:pPr>
              <a:defRPr sz="819">
                <a:solidFill>
                  <a:srgbClr val="334155"/>
                </a:solidFill>
                <a:latin typeface="Arial"/>
              </a:defRPr>
            </a:pPr>
            <a:r>
              <a:t>• Groq Inc. (2024): LPU Inference Engine Architecture for Real-Time LLM Serving (groq.com).</a:t>
            </a:r>
            <a:br/>
            <a:r>
              <a:t>• Sarvam AI (2024): Bulbul &amp; Saaras Foundation Models for Indian Language Synthesis (sarvam.ai).</a:t>
            </a:r>
            <a:br/>
            <a:r>
              <a:t>• Bloom, Benjamin S. (1984): The 2 Sigma Problem: Search for Methods Effective as 1-on-1 Tutoring.</a:t>
            </a:r>
            <a:br/>
            <a:r>
              <a:t>• DST Govt of India (2023-2026): National Quantum Mission (NQM ₹6,003 Cr) HRD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DAHU6XYzYKc</dc:identifier>
  <dcterms:modified xsi:type="dcterms:W3CDTF">2011-08-01T06:04:30Z</dcterms:modified>
  <cp:revision>1</cp:revision>
  <dc:title>QuantumLeap_SIH2026_Gitwolves_FINAL.pptx</dc:title>
</cp:coreProperties>
</file>